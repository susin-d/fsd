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120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557FF"/>
                </a:solidFill>
                <a:latin typeface="Aptos"/>
              </a:defRPr>
            </a:pPr>
            <a:r>
              <a:t>LOCAL SERVICES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57784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5600" b="1">
                <a:solidFill>
                  <a:srgbClr val="15191D"/>
                </a:solidFill>
                <a:latin typeface="Aptos Display"/>
              </a:defRPr>
            </a:pPr>
            <a:r>
              <a:t>Nearby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0"/>
            <a:ext cx="50292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500" b="0">
                <a:solidFill>
                  <a:srgbClr val="15191D"/>
                </a:solidFill>
                <a:latin typeface="Aptos"/>
              </a:defRPr>
            </a:pPr>
            <a:r>
              <a:t>Find trusted services</a:t>
            </a:r>
          </a:p>
          <a:p>
            <a:pPr algn="l">
              <a:spcAft>
                <a:spcPts val="500"/>
              </a:spcAft>
              <a:defRPr sz="2500" b="0">
                <a:solidFill>
                  <a:srgbClr val="15191D"/>
                </a:solidFill>
                <a:latin typeface="Aptos"/>
              </a:defRPr>
            </a:pPr>
            <a:r>
              <a:t>right where you live.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3977639"/>
            <a:ext cx="4462272" cy="0"/>
          </a:xfrm>
          <a:prstGeom prst="line">
            <a:avLst/>
          </a:prstGeom>
          <a:ln w="12700">
            <a:solidFill>
              <a:srgbClr val="15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4224528"/>
            <a:ext cx="50292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Project overview  /  System design  / 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236208"/>
            <a:ext cx="4572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5191D"/>
                </a:solidFill>
                <a:latin typeface="Aptos"/>
              </a:defRPr>
            </a:pPr>
            <a:r>
              <a:t>WEB PLATFORM  • 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685800"/>
            <a:ext cx="3840480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2011680"/>
            <a:ext cx="2926080" cy="1280160"/>
          </a:xfrm>
          <a:prstGeom prst="roundRect">
            <a:avLst>
              <a:gd name="adj" fmla="val 16000"/>
            </a:avLst>
          </a:prstGeom>
          <a:solidFill>
            <a:srgbClr val="1557FF"/>
          </a:solidFill>
          <a:ln w="1270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2148840"/>
            <a:ext cx="164592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3749039"/>
            <a:ext cx="3931920" cy="1051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5074920"/>
            <a:ext cx="2011680" cy="960120"/>
          </a:xfrm>
          <a:prstGeom prst="roundRect">
            <a:avLst>
              <a:gd name="adj" fmla="val 16000"/>
            </a:avLst>
          </a:prstGeom>
          <a:solidFill>
            <a:srgbClr val="FBE9DF"/>
          </a:solidFill>
          <a:ln w="12700">
            <a:solidFill>
              <a:srgbClr val="FB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5074920"/>
            <a:ext cx="2423160" cy="960120"/>
          </a:xfrm>
          <a:prstGeom prst="roundRect">
            <a:avLst>
              <a:gd name="adj" fmla="val 16000"/>
            </a:avLst>
          </a:prstGeom>
          <a:solidFill>
            <a:srgbClr val="E3F1E7"/>
          </a:solidFill>
          <a:ln w="12700">
            <a:solidFill>
              <a:srgbClr val="E3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20" y="1005840"/>
            <a:ext cx="438912" cy="438912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960120"/>
            <a:ext cx="26517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5191D"/>
                </a:solidFill>
                <a:latin typeface="Aptos"/>
              </a:defRPr>
            </a:pPr>
            <a:r>
              <a:t>Services nearby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28600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PINCODE  560001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651760"/>
            <a:ext cx="23317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Exact-area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423160"/>
            <a:ext cx="13258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Book a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4023360"/>
            <a:ext cx="33832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A clear path from search to service</a:t>
            </a:r>
          </a:p>
        </p:txBody>
      </p:sp>
      <p:sp>
        <p:nvSpPr>
          <p:cNvPr id="22" name="Oval 21"/>
          <p:cNvSpPr/>
          <p:nvPr/>
        </p:nvSpPr>
        <p:spPr>
          <a:xfrm>
            <a:off x="7269480" y="5358384"/>
            <a:ext cx="256032" cy="256032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5321808"/>
            <a:ext cx="111556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5191D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24" name="Oval 23"/>
          <p:cNvSpPr/>
          <p:nvPr/>
        </p:nvSpPr>
        <p:spPr>
          <a:xfrm>
            <a:off x="8842248" y="5358384"/>
            <a:ext cx="256032" cy="256032"/>
          </a:xfrm>
          <a:prstGeom prst="ellipse">
            <a:avLst/>
          </a:prstGeom>
          <a:solidFill>
            <a:srgbClr val="E9784E"/>
          </a:solidFill>
          <a:ln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5321808"/>
            <a:ext cx="111556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5191D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26" name="Oval 25"/>
          <p:cNvSpPr/>
          <p:nvPr/>
        </p:nvSpPr>
        <p:spPr>
          <a:xfrm>
            <a:off x="10415016" y="5358384"/>
            <a:ext cx="256032" cy="256032"/>
          </a:xfrm>
          <a:prstGeom prst="ellipse">
            <a:avLst/>
          </a:prstGeom>
          <a:solidFill>
            <a:srgbClr val="2B7852"/>
          </a:solidFill>
          <a:ln>
            <a:solidFill>
              <a:srgbClr val="2B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44200" y="5321808"/>
            <a:ext cx="111556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5191D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6263640"/>
            <a:ext cx="44805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CUSTOMER  /  PROVIDER  / 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01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Local service discovery is fragmented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9377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5191D"/>
                </a:solidFill>
                <a:latin typeface="Aptos"/>
              </a:defRPr>
            </a:pPr>
            <a:r>
              <a:t>Customers and providers lack one reliable workflow.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53288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4645152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191D"/>
                </a:solidFill>
                <a:latin typeface="Aptos"/>
              </a:defRPr>
            </a:pPr>
            <a:r>
              <a:t>Customers search across disconnected listings and chats.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282696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172968"/>
            <a:ext cx="4645152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191D"/>
                </a:solidFill>
                <a:latin typeface="Aptos"/>
              </a:defRPr>
            </a:pPr>
            <a:r>
              <a:t>Service coverage and availability are hard to confirm.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032504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22776"/>
            <a:ext cx="4645152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191D"/>
                </a:solidFill>
                <a:latin typeface="Aptos"/>
              </a:defRPr>
            </a:pPr>
            <a:r>
              <a:t>Booking, payment, and issue resolution happen in separate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691640"/>
            <a:ext cx="5440680" cy="4206240"/>
          </a:xfrm>
          <a:prstGeom prst="roundRect">
            <a:avLst>
              <a:gd name="adj" fmla="val 16000"/>
            </a:avLst>
          </a:prstGeom>
          <a:solidFill>
            <a:srgbClr val="2B343E"/>
          </a:solidFill>
          <a:ln w="12700">
            <a:solidFill>
              <a:srgbClr val="2B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93392"/>
            <a:ext cx="4389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DA35"/>
                </a:solidFill>
                <a:latin typeface="Aptos"/>
              </a:defRPr>
            </a:pPr>
            <a:r>
              <a:t>THE USER JOURNEY TODAY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2596896"/>
            <a:ext cx="274320" cy="274320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2560320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60320"/>
            <a:ext cx="2560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Find a local listing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2889503"/>
            <a:ext cx="0" cy="34747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92240" y="3310128"/>
            <a:ext cx="274320" cy="274320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3273552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73552"/>
            <a:ext cx="2560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Check area and timing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29400" y="3602736"/>
            <a:ext cx="0" cy="34747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92240" y="4023359"/>
            <a:ext cx="274320" cy="274320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3986783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Coordinate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86783"/>
            <a:ext cx="2560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Arrange the booking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4315968"/>
            <a:ext cx="0" cy="34747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92240" y="4736592"/>
            <a:ext cx="274320" cy="274320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4700016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700016"/>
            <a:ext cx="2560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Handle payment or 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513832"/>
            <a:ext cx="4526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DA35"/>
                </a:solidFill>
                <a:latin typeface="Aptos"/>
              </a:defRPr>
            </a:pPr>
            <a:r>
              <a:t>Nearby brings these steps into one marketplace.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02  /  EXISTING VS 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A structured marketplace replaces fragmented coordination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4846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625F54"/>
                </a:solidFill>
                <a:latin typeface="Aptos"/>
              </a:defRPr>
            </a:pPr>
            <a:r>
              <a:t>EXISTING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27632"/>
            <a:ext cx="4846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557FF"/>
                </a:solidFill>
                <a:latin typeface="Aptos"/>
              </a:defRPr>
            </a:pPr>
            <a:r>
              <a:t>PROPOSED WITH NEARBY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664208"/>
            <a:ext cx="0" cy="4325112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2960" y="2258568"/>
            <a:ext cx="82296" cy="82296"/>
          </a:xfrm>
          <a:prstGeom prst="ellipse">
            <a:avLst/>
          </a:prstGeom>
          <a:solidFill>
            <a:srgbClr val="E9784E"/>
          </a:solidFill>
          <a:ln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55371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25F54"/>
                </a:solidFill>
                <a:latin typeface="Aptos"/>
              </a:defRPr>
            </a:pPr>
            <a:r>
              <a:t>Listings scattered across channels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898648"/>
            <a:ext cx="82296" cy="82296"/>
          </a:xfrm>
          <a:prstGeom prst="ellipse">
            <a:avLst/>
          </a:prstGeom>
          <a:solidFill>
            <a:srgbClr val="E9784E"/>
          </a:solidFill>
          <a:ln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455371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25F54"/>
                </a:solidFill>
                <a:latin typeface="Aptos"/>
              </a:defRPr>
            </a:pPr>
            <a:r>
              <a:t>Area and slot checks by manual messages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538728"/>
            <a:ext cx="82296" cy="82296"/>
          </a:xfrm>
          <a:prstGeom prst="ellipse">
            <a:avLst/>
          </a:prstGeom>
          <a:solidFill>
            <a:srgbClr val="E9784E"/>
          </a:solidFill>
          <a:ln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455371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25F54"/>
                </a:solidFill>
                <a:latin typeface="Aptos"/>
              </a:defRPr>
            </a:pPr>
            <a:r>
              <a:t>Booking status unclear to both sides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78807"/>
            <a:ext cx="82296" cy="82296"/>
          </a:xfrm>
          <a:prstGeom prst="ellipse">
            <a:avLst/>
          </a:prstGeom>
          <a:solidFill>
            <a:srgbClr val="E9784E"/>
          </a:solidFill>
          <a:ln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79"/>
            <a:ext cx="455371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25F54"/>
                </a:solidFill>
                <a:latin typeface="Aptos"/>
              </a:defRPr>
            </a:pPr>
            <a:r>
              <a:t>Payment handled outside service flow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818888"/>
            <a:ext cx="82296" cy="82296"/>
          </a:xfrm>
          <a:prstGeom prst="ellipse">
            <a:avLst/>
          </a:prstGeom>
          <a:solidFill>
            <a:srgbClr val="E9784E"/>
          </a:solidFill>
          <a:ln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455371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25F54"/>
                </a:solidFill>
                <a:latin typeface="Aptos"/>
              </a:defRPr>
            </a:pPr>
            <a:r>
              <a:t>No shared dispute or review record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25856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148840"/>
            <a:ext cx="459943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191D"/>
                </a:solidFill>
                <a:latin typeface="Aptos"/>
              </a:defRPr>
            </a:pPr>
            <a:r>
              <a:t>Exact six-digit pincode discovery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89864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788920"/>
            <a:ext cx="459943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191D"/>
                </a:solidFill>
                <a:latin typeface="Aptos"/>
              </a:defRPr>
            </a:pPr>
            <a:r>
              <a:t>Provider availability and booking states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53872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429000"/>
            <a:ext cx="459943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191D"/>
                </a:solidFill>
                <a:latin typeface="Aptos"/>
              </a:defRPr>
            </a:pPr>
            <a:r>
              <a:t>Customer and provider workspaces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178807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069079"/>
            <a:ext cx="459943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191D"/>
                </a:solidFill>
                <a:latin typeface="Aptos"/>
              </a:defRPr>
            </a:pPr>
            <a:r>
              <a:t>Checkout after provider acceptance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81888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709160"/>
            <a:ext cx="459943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5191D"/>
                </a:solidFill>
                <a:latin typeface="Aptos"/>
              </a:defRPr>
            </a:pPr>
            <a:r>
              <a:t>Booking-linked chat, reviews, and disputes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650992"/>
            <a:ext cx="1920240" cy="292608"/>
          </a:xfrm>
          <a:prstGeom prst="roundRect">
            <a:avLst>
              <a:gd name="adj" fmla="val 16000"/>
            </a:avLst>
          </a:prstGeom>
          <a:solidFill>
            <a:srgbClr val="E3F1E7"/>
          </a:solidFill>
          <a:ln w="12700">
            <a:solidFill>
              <a:srgbClr val="E3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5664707"/>
            <a:ext cx="1810512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B7852"/>
                </a:solidFill>
                <a:latin typeface="Aptos"/>
              </a:defRPr>
            </a:pPr>
            <a:r>
              <a:t>ONE BOOKING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03  / 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Requirements cover marketplace behavior and service quality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5120640" cy="434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64208"/>
            <a:ext cx="64008" cy="4343400"/>
          </a:xfrm>
          <a:prstGeom prst="roundRect">
            <a:avLst>
              <a:gd name="adj" fmla="val 16000"/>
            </a:avLst>
          </a:prstGeom>
          <a:solidFill>
            <a:srgbClr val="1557FF"/>
          </a:solidFill>
          <a:ln w="1270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28800"/>
            <a:ext cx="47548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86000"/>
            <a:ext cx="4754879" cy="3630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• Register and sign in as customer or provider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• Create and manage provider profiles and services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• Search by category and exact pincode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• Publish availability and request bookings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• Accept, reject, pay, cancel, and complete bookings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• Message booking participants and submit reviews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• Administer verification, disputes, settings, and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64208"/>
            <a:ext cx="5120640" cy="434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664208"/>
            <a:ext cx="64008" cy="4343400"/>
          </a:xfrm>
          <a:prstGeom prst="roundRect">
            <a:avLst>
              <a:gd name="adj" fmla="val 16000"/>
            </a:avLst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828800"/>
            <a:ext cx="47548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286000"/>
            <a:ext cx="4754879" cy="3630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SECURITY  /  JWT auth, password hashing, role checks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VALIDATION  /  schema validation, rate limits, CORS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RELIABILITY  /  database-first startup, health checks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PRIVACY  /  KYC documents remain with vendor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USABILITY  /  responsive English-language web app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625F54"/>
                </a:solidFill>
                <a:latin typeface="Aptos"/>
              </a:defRPr>
            </a:pPr>
            <a:r>
              <a:t>OPERATIONS  /  audit records for payment/admin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04  /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Three tiers separate user experience, rules, and records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2834640" cy="1874519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524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38528"/>
            <a:ext cx="267004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PRESENTATION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04288"/>
            <a:ext cx="2615184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React + Vite</a:t>
            </a:r>
          </a:p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React Router</a:t>
            </a:r>
          </a:p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Customer, provider, admin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28800"/>
            <a:ext cx="2834640" cy="1874519"/>
          </a:xfrm>
          <a:prstGeom prst="roundRect">
            <a:avLst>
              <a:gd name="adj" fmla="val 16000"/>
            </a:avLst>
          </a:prstGeom>
          <a:solidFill>
            <a:srgbClr val="FBE9DF"/>
          </a:solidFill>
          <a:ln w="15240"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938528"/>
            <a:ext cx="267004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APPLICATION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04288"/>
            <a:ext cx="2615184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Express API /api/v1</a:t>
            </a:r>
          </a:p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JWT + role middleware</a:t>
            </a:r>
          </a:p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Socket.IO + lifecycle worker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828800"/>
            <a:ext cx="2834640" cy="1874519"/>
          </a:xfrm>
          <a:prstGeom prst="roundRect">
            <a:avLst>
              <a:gd name="adj" fmla="val 16000"/>
            </a:avLst>
          </a:prstGeom>
          <a:solidFill>
            <a:srgbClr val="E3F1E7"/>
          </a:solidFill>
          <a:ln w="15240">
            <a:solidFill>
              <a:srgbClr val="2B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6" y="1938528"/>
            <a:ext cx="267004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DATA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7" y="2304288"/>
            <a:ext cx="2615184" cy="1344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MongoDB + Mongoose</a:t>
            </a:r>
          </a:p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Users, services, bookings</a:t>
            </a:r>
          </a:p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Payments, messages, audit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11880" y="2761488"/>
            <a:ext cx="1005840" cy="0"/>
          </a:xfrm>
          <a:prstGeom prst="line">
            <a:avLst/>
          </a:prstGeom>
          <a:ln w="2540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2761488"/>
            <a:ext cx="1005841" cy="0"/>
          </a:xfrm>
          <a:prstGeom prst="line">
            <a:avLst/>
          </a:prstGeom>
          <a:ln w="25400">
            <a:solidFill>
              <a:srgbClr val="E97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39312" y="2423160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HTTPS /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423160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343400"/>
            <a:ext cx="2834640" cy="1051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4453128"/>
            <a:ext cx="267004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EXTERNAL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818888"/>
            <a:ext cx="2615184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Razorpay  /  Email  /  KYC vendor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3703320"/>
            <a:ext cx="0" cy="576072"/>
          </a:xfrm>
          <a:prstGeom prst="line">
            <a:avLst/>
          </a:prstGeom>
          <a:ln w="20320">
            <a:solidFill>
              <a:srgbClr val="E97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806440"/>
            <a:ext cx="10607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Checkout, live KYC, email delivery, and production readiness require configured external accounts.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05  /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The stack uses established web and data tools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429000" cy="1600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901952"/>
            <a:ext cx="1261872" cy="29260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15668"/>
            <a:ext cx="1152143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40864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6148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Vite, React Router, Tailwind CSS v4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37360"/>
            <a:ext cx="3429000" cy="1600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1901952"/>
            <a:ext cx="1261872" cy="29260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1915668"/>
            <a:ext cx="1152143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340864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Node.js + Express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76148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CommonJS modules, REST endpoints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3429000" cy="1600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1901952"/>
            <a:ext cx="1261872" cy="29260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4504" y="1915668"/>
            <a:ext cx="1152143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REALTIME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340864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Socket.IO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276148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Booking participant chat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49039"/>
            <a:ext cx="3429000" cy="1600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3913631"/>
            <a:ext cx="1261872" cy="29260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3927347"/>
            <a:ext cx="1152143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52544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MongoDB + Mongoose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77316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Document models and indexes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749039"/>
            <a:ext cx="3429000" cy="1600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54880" y="3913631"/>
            <a:ext cx="1261872" cy="29260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9744" y="3927347"/>
            <a:ext cx="1152143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4352544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JWT, bcryptjs, Zod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477316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Helmet, CORS allowlist, rate limits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3749039"/>
            <a:ext cx="3429000" cy="1600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49640" y="3913631"/>
            <a:ext cx="1261872" cy="29260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04504" y="3927347"/>
            <a:ext cx="1152143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INTEGRATIONS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352544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Razorpay, Nodemailer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77316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Checkout/Route and email, when configured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06  /  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Three actors use separate but connected capabilities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600200"/>
            <a:ext cx="7406640" cy="4526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737360"/>
            <a:ext cx="228600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NEARBY MARKETPLACE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011680"/>
            <a:ext cx="320040" cy="320040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1051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657600"/>
            <a:ext cx="320040" cy="320040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041648"/>
            <a:ext cx="1051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PROVIDER</a:t>
            </a:r>
          </a:p>
        </p:txBody>
      </p:sp>
      <p:sp>
        <p:nvSpPr>
          <p:cNvPr id="14" name="Oval 13"/>
          <p:cNvSpPr/>
          <p:nvPr/>
        </p:nvSpPr>
        <p:spPr>
          <a:xfrm>
            <a:off x="10369296" y="2880360"/>
            <a:ext cx="320040" cy="320040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3264408"/>
            <a:ext cx="1051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214884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25856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Search by pincode</a:t>
            </a:r>
          </a:p>
        </p:txBody>
      </p:sp>
      <p:sp>
        <p:nvSpPr>
          <p:cNvPr id="18" name="Oval 17"/>
          <p:cNvSpPr/>
          <p:nvPr/>
        </p:nvSpPr>
        <p:spPr>
          <a:xfrm>
            <a:off x="5257800" y="214884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225856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Request booking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0" y="214884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225856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Pay and review</a:t>
            </a:r>
          </a:p>
        </p:txBody>
      </p:sp>
      <p:sp>
        <p:nvSpPr>
          <p:cNvPr id="22" name="Oval 21"/>
          <p:cNvSpPr/>
          <p:nvPr/>
        </p:nvSpPr>
        <p:spPr>
          <a:xfrm>
            <a:off x="2743200" y="324612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16352" y="335584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Manage services</a:t>
            </a:r>
          </a:p>
        </p:txBody>
      </p:sp>
      <p:sp>
        <p:nvSpPr>
          <p:cNvPr id="24" name="Oval 23"/>
          <p:cNvSpPr/>
          <p:nvPr/>
        </p:nvSpPr>
        <p:spPr>
          <a:xfrm>
            <a:off x="5257800" y="324612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335584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Set availability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324612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335584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Accept booking</a:t>
            </a:r>
          </a:p>
        </p:txBody>
      </p:sp>
      <p:sp>
        <p:nvSpPr>
          <p:cNvPr id="28" name="Oval 27"/>
          <p:cNvSpPr/>
          <p:nvPr/>
        </p:nvSpPr>
        <p:spPr>
          <a:xfrm>
            <a:off x="2743200" y="438912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449884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Booking chat</a:t>
            </a:r>
          </a:p>
        </p:txBody>
      </p:sp>
      <p:sp>
        <p:nvSpPr>
          <p:cNvPr id="30" name="Oval 29"/>
          <p:cNvSpPr/>
          <p:nvPr/>
        </p:nvSpPr>
        <p:spPr>
          <a:xfrm>
            <a:off x="5257800" y="438912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0952" y="449884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Raise dispute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4389120"/>
            <a:ext cx="1828800" cy="566928"/>
          </a:xfrm>
          <a:prstGeom prst="ellipse">
            <a:avLst/>
          </a:prstGeom>
          <a:solidFill>
            <a:srgbClr val="DCE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4498848"/>
            <a:ext cx="16824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Review providers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00784" y="2331720"/>
            <a:ext cx="1042416" cy="91440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00784" y="2377440"/>
            <a:ext cx="3557016" cy="45720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00784" y="2423160"/>
            <a:ext cx="6071616" cy="0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700784" y="3520440"/>
            <a:ext cx="1042416" cy="228599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00784" y="3520440"/>
            <a:ext cx="3557016" cy="228599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00784" y="3520440"/>
            <a:ext cx="6071616" cy="228599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700784" y="3749039"/>
            <a:ext cx="1042416" cy="914401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700784" y="3749039"/>
            <a:ext cx="3557016" cy="914401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700784" y="3749039"/>
            <a:ext cx="6071616" cy="914401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01200" y="3200400"/>
            <a:ext cx="457200" cy="320040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086600" y="3200400"/>
            <a:ext cx="2971800" cy="1463040"/>
          </a:xfrm>
          <a:prstGeom prst="line">
            <a:avLst/>
          </a:prstGeom>
          <a:ln w="1143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43200" y="5760720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Admin also reviews providers, resolves disputes, updates policy, and checks audit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07  /  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Core records connect accounts, services, and bookings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148840" cy="1234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148840" cy="347472"/>
          </a:xfrm>
          <a:prstGeom prst="roundRect">
            <a:avLst>
              <a:gd name="adj" fmla="val 16000"/>
            </a:avLst>
          </a:prstGeom>
          <a:solidFill>
            <a:srgbClr val="1557FF"/>
          </a:solidFill>
          <a:ln w="1270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15667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1929384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name · email ·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27632"/>
            <a:ext cx="2331720" cy="1234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1627632"/>
            <a:ext cx="2331720" cy="347472"/>
          </a:xfrm>
          <a:prstGeom prst="roundRect">
            <a:avLst>
              <a:gd name="adj" fmla="val 16000"/>
            </a:avLst>
          </a:prstGeom>
          <a:solidFill>
            <a:srgbClr val="2B343E"/>
          </a:solidFill>
          <a:ln w="12700">
            <a:solidFill>
              <a:srgbClr val="2B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668780"/>
            <a:ext cx="214883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ProviderProfile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084832"/>
            <a:ext cx="2112263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user · status · areas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27632"/>
            <a:ext cx="2148840" cy="1234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1627632"/>
            <a:ext cx="2148840" cy="347472"/>
          </a:xfrm>
          <a:prstGeom prst="roundRect">
            <a:avLst>
              <a:gd name="adj" fmla="val 16000"/>
            </a:avLst>
          </a:prstGeom>
          <a:solidFill>
            <a:srgbClr val="2B343E"/>
          </a:solidFill>
          <a:ln w="12700">
            <a:solidFill>
              <a:srgbClr val="2B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68780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2084832"/>
            <a:ext cx="1929384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provider · pincode · 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94760"/>
            <a:ext cx="2423160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80" y="3794760"/>
            <a:ext cx="2423160" cy="347472"/>
          </a:xfrm>
          <a:prstGeom prst="roundRect">
            <a:avLst>
              <a:gd name="adj" fmla="val 16000"/>
            </a:avLst>
          </a:prstGeom>
          <a:solidFill>
            <a:srgbClr val="1557FF"/>
          </a:solidFill>
          <a:ln w="1270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35908"/>
            <a:ext cx="224027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4251960"/>
            <a:ext cx="2203704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customer · provider · service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slot · status · pricePaise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251960"/>
            <a:ext cx="224028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251960"/>
            <a:ext cx="2240280" cy="347472"/>
          </a:xfrm>
          <a:prstGeom prst="roundRect">
            <a:avLst>
              <a:gd name="adj" fmla="val 16000"/>
            </a:avLst>
          </a:prstGeom>
          <a:solidFill>
            <a:srgbClr val="2B343E"/>
          </a:solidFill>
          <a:ln w="12700">
            <a:solidFill>
              <a:srgbClr val="2B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93108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709160"/>
            <a:ext cx="2020824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provider · date · windows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3794760"/>
            <a:ext cx="2148840" cy="1234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3794760"/>
            <a:ext cx="2148840" cy="347472"/>
          </a:xfrm>
          <a:prstGeom prst="roundRect">
            <a:avLst>
              <a:gd name="adj" fmla="val 16000"/>
            </a:avLst>
          </a:prstGeom>
          <a:solidFill>
            <a:srgbClr val="2B343E"/>
          </a:solidFill>
          <a:ln w="12700">
            <a:solidFill>
              <a:srgbClr val="2B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3835908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7" y="4251960"/>
            <a:ext cx="1929384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booking · state · amount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3977639"/>
            <a:ext cx="1783080" cy="1234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12680" y="3977639"/>
            <a:ext cx="1783080" cy="347472"/>
          </a:xfrm>
          <a:prstGeom prst="roundRect">
            <a:avLst>
              <a:gd name="adj" fmla="val 16000"/>
            </a:avLst>
          </a:prstGeom>
          <a:solidFill>
            <a:srgbClr val="2B343E"/>
          </a:solidFill>
          <a:ln w="12700">
            <a:solidFill>
              <a:srgbClr val="2B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4018787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Message / Review / Dispute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7" y="4434840"/>
            <a:ext cx="1563624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booking · actor · content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880360" y="2240280"/>
            <a:ext cx="777240" cy="228600"/>
          </a:xfrm>
          <a:prstGeom prst="line">
            <a:avLst/>
          </a:prstGeom>
          <a:ln w="17145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884932" y="2189988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1557FF"/>
                </a:solidFill>
                <a:latin typeface="Aptos"/>
              </a:defRPr>
            </a:pPr>
            <a:r>
              <a:t>1 : 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89320" y="2194560"/>
            <a:ext cx="1325880" cy="0"/>
          </a:xfrm>
          <a:prstGeom prst="line">
            <a:avLst/>
          </a:prstGeom>
          <a:ln w="17145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68212" y="2029967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1557FF"/>
                </a:solidFill>
                <a:latin typeface="Aptos"/>
              </a:defRPr>
            </a:pPr>
            <a:r>
              <a:t>1 : many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00600" y="2880360"/>
            <a:ext cx="502920" cy="868679"/>
          </a:xfrm>
          <a:prstGeom prst="line">
            <a:avLst/>
          </a:prstGeom>
          <a:ln w="17145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68012" y="3150108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1557FF"/>
                </a:solidFill>
                <a:latin typeface="Aptos"/>
              </a:defRPr>
            </a:pPr>
            <a:r>
              <a:t>1 : many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217920" y="2880360"/>
            <a:ext cx="1828800" cy="914400"/>
          </a:xfrm>
          <a:prstGeom prst="line">
            <a:avLst/>
          </a:prstGeom>
          <a:ln w="17145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748272" y="3172968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1557FF"/>
                </a:solidFill>
                <a:latin typeface="Aptos"/>
              </a:defRPr>
            </a:pPr>
            <a:r>
              <a:t>1 : many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3017520" y="4480560"/>
            <a:ext cx="1234440" cy="182880"/>
          </a:xfrm>
          <a:prstGeom prst="line">
            <a:avLst/>
          </a:prstGeom>
          <a:ln w="17145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50692" y="4407408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1557FF"/>
                </a:solidFill>
                <a:latin typeface="Aptos"/>
              </a:defRPr>
            </a:pPr>
            <a:r>
              <a:t>1 : many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66560" y="4434840"/>
            <a:ext cx="822960" cy="0"/>
          </a:xfrm>
          <a:prstGeom prst="line">
            <a:avLst/>
          </a:prstGeom>
          <a:ln w="17145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93992" y="4270248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1557FF"/>
                </a:solidFill>
                <a:latin typeface="Aptos"/>
              </a:defRPr>
            </a:pPr>
            <a:r>
              <a:t>1 : 1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6720840" y="4572000"/>
            <a:ext cx="3246120" cy="411480"/>
          </a:xfrm>
          <a:prstGeom prst="line">
            <a:avLst/>
          </a:prstGeom>
          <a:ln w="17145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959852" y="4613148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1557FF"/>
                </a:solidFill>
                <a:latin typeface="Aptos"/>
              </a:defRPr>
            </a:pPr>
            <a:r>
              <a:t>1 : many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89788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25F54"/>
                </a:solidFill>
                <a:latin typeface="Aptos"/>
              </a:defRPr>
            </a:pPr>
            <a:r>
              <a:t>Simplified logical model. Payment, review, dispute, and message records reference their related booking.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08  /  MODULE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Modules group the marketplace around its service lifecycle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Identity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130552"/>
            <a:ext cx="2468880" cy="0"/>
          </a:xfrm>
          <a:prstGeom prst="line">
            <a:avLst/>
          </a:prstGeom>
          <a:ln w="2540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13432"/>
            <a:ext cx="249631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Registration, login, JWT, role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691640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130552"/>
            <a:ext cx="2468880" cy="0"/>
          </a:xfrm>
          <a:prstGeom prst="line">
            <a:avLst/>
          </a:prstGeom>
          <a:ln w="25400">
            <a:solidFill>
              <a:srgbClr val="E97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11880" y="2313432"/>
            <a:ext cx="249631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Profile, service area, verification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Catalog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2240" y="2130552"/>
            <a:ext cx="2468880" cy="0"/>
          </a:xfrm>
          <a:prstGeom prst="line">
            <a:avLst/>
          </a:prstGeom>
          <a:ln w="25400">
            <a:solidFill>
              <a:srgbClr val="2B7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92240" y="2313432"/>
            <a:ext cx="249631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Listings, exact-pincode search, fixed INR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691640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Availability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130552"/>
            <a:ext cx="2468880" cy="0"/>
          </a:xfrm>
          <a:prstGeom prst="line">
            <a:avLst/>
          </a:prstGeom>
          <a:ln w="25400">
            <a:solidFill>
              <a:srgbClr val="FFD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72600" y="2313432"/>
            <a:ext cx="249631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Date-scoped windows and conflict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Bookings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187952"/>
            <a:ext cx="2468880" cy="0"/>
          </a:xfrm>
          <a:prstGeom prst="line">
            <a:avLst/>
          </a:prstGeom>
          <a:ln w="2540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370831"/>
            <a:ext cx="249631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Request, accept, reject, hold, cancel,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749039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Payments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11880" y="4187952"/>
            <a:ext cx="2468880" cy="0"/>
          </a:xfrm>
          <a:prstGeom prst="line">
            <a:avLst/>
          </a:prstGeom>
          <a:ln w="25400">
            <a:solidFill>
              <a:srgbClr val="E97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11880" y="4370831"/>
            <a:ext cx="249631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Checkout, webhook events, refunds, transfers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49039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Engagement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92240" y="4187952"/>
            <a:ext cx="2468880" cy="0"/>
          </a:xfrm>
          <a:prstGeom prst="line">
            <a:avLst/>
          </a:prstGeom>
          <a:ln w="25400">
            <a:solidFill>
              <a:srgbClr val="2B7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92240" y="4370831"/>
            <a:ext cx="249631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Booking chat, reviews, email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749039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191D"/>
                </a:solidFill>
                <a:latin typeface="Aptos"/>
              </a:defRPr>
            </a:pPr>
            <a:r>
              <a:t>Operations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72600" y="4187952"/>
            <a:ext cx="2468880" cy="0"/>
          </a:xfrm>
          <a:prstGeom prst="line">
            <a:avLst/>
          </a:prstGeom>
          <a:ln w="25400">
            <a:solidFill>
              <a:srgbClr val="FFD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372600" y="4370831"/>
            <a:ext cx="249631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5F54"/>
                </a:solidFill>
                <a:latin typeface="Aptos"/>
              </a:defRPr>
            </a:pPr>
            <a:r>
              <a:t>Disputes, settings, admin actions,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09  /  ROLE-BASED WORKSPACES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Each role enters a workspace suited to its responsibilities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56432" cy="4160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56432" cy="594360"/>
          </a:xfrm>
          <a:prstGeom prst="roundRect">
            <a:avLst>
              <a:gd name="adj" fmla="val 16000"/>
            </a:avLst>
          </a:prstGeom>
          <a:solidFill>
            <a:srgbClr val="1557FF"/>
          </a:solidFill>
          <a:ln w="1270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5191D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880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Search services by category and exact pincode.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" y="4114800"/>
            <a:ext cx="2926080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" y="4361688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5191D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73168"/>
            <a:ext cx="2880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Request service, pay after acceptance, message, review, or dispute.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737360"/>
            <a:ext cx="3456432" cy="4160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1737360"/>
            <a:ext cx="3456432" cy="594360"/>
          </a:xfrm>
          <a:prstGeom prst="roundRect">
            <a:avLst>
              <a:gd name="adj" fmla="val 16000"/>
            </a:avLst>
          </a:prstGeom>
          <a:solidFill>
            <a:srgbClr val="E9784E"/>
          </a:solidFill>
          <a:ln w="12700"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901952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97480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5191D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08960"/>
            <a:ext cx="2880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Maintain profile, service areas, listings, availability.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54880" y="4114800"/>
            <a:ext cx="2926080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54880" y="4361688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5191D"/>
                </a:solidFill>
                <a:latin typeface="Aptos"/>
              </a:defRPr>
            </a:pPr>
            <a:r>
              <a:t>Fulfil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773168"/>
            <a:ext cx="2880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Respond to requests, coordinate bookings, track completion.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1737360"/>
            <a:ext cx="3456432" cy="4160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1737360"/>
            <a:ext cx="3456432" cy="594360"/>
          </a:xfrm>
          <a:prstGeom prst="roundRect">
            <a:avLst>
              <a:gd name="adj" fmla="val 16000"/>
            </a:avLst>
          </a:prstGeom>
          <a:solidFill>
            <a:srgbClr val="2B7852"/>
          </a:solidFill>
          <a:ln w="12700">
            <a:solidFill>
              <a:srgbClr val="2B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901952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697480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5191D"/>
                </a:solidFill>
                <a:latin typeface="Aptos"/>
              </a:defRPr>
            </a:pPr>
            <a:r>
              <a:t>Oversee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108960"/>
            <a:ext cx="2880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Review provider status and manage marketplace settings.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49640" y="4114800"/>
            <a:ext cx="2926080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49640" y="4361688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5191D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773168"/>
            <a:ext cx="2880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Work dispute queue, payment/payout operations, and audit.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10  /  FRONTEND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The frontend guides users through discovery and booking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47091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5191D"/>
                </a:solidFill>
                <a:latin typeface="Aptos"/>
              </a:defRPr>
            </a:pPr>
            <a:r>
              <a:t>React app with role-aware routing and a shared session context.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267004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45994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Home and service search pages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282696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72968"/>
            <a:ext cx="45994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Service details and booking entry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895344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85615"/>
            <a:ext cx="45994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Login and customer/provider signup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4507992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98264"/>
            <a:ext cx="45994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Protected customer, provider, and admin paths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5120640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010912"/>
            <a:ext cx="45994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Responsive layouts with warm yellow and blue branding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4663440" cy="4114800"/>
          </a:xfrm>
          <a:prstGeom prst="roundRect">
            <a:avLst>
              <a:gd name="adj" fmla="val 16000"/>
            </a:avLst>
          </a:prstGeom>
          <a:solidFill>
            <a:srgbClr val="F5F3EC"/>
          </a:solidFill>
          <a:ln w="12700">
            <a:solidFill>
              <a:srgbClr val="F5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029968"/>
            <a:ext cx="3931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SCREEN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560320"/>
            <a:ext cx="150876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6" y="2670048"/>
            <a:ext cx="134416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3035808"/>
            <a:ext cx="12893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560320"/>
            <a:ext cx="1600200" cy="914400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524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7696" y="2670048"/>
            <a:ext cx="143560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3035808"/>
            <a:ext cx="13807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Details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4069080"/>
            <a:ext cx="1645920" cy="914400"/>
          </a:xfrm>
          <a:prstGeom prst="roundRect">
            <a:avLst>
              <a:gd name="adj" fmla="val 16000"/>
            </a:avLst>
          </a:prstGeom>
          <a:solidFill>
            <a:srgbClr val="E3F1E7"/>
          </a:solidFill>
          <a:ln w="15240">
            <a:solidFill>
              <a:srgbClr val="2B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4178808"/>
            <a:ext cx="148132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Workspace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4544568"/>
            <a:ext cx="142646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Role protected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21040" y="3017520"/>
            <a:ext cx="548640" cy="0"/>
          </a:xfrm>
          <a:prstGeom prst="line">
            <a:avLst/>
          </a:prstGeom>
          <a:ln w="2032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732520" y="3493008"/>
            <a:ext cx="960120" cy="530352"/>
          </a:xfrm>
          <a:prstGeom prst="line">
            <a:avLst/>
          </a:prstGeom>
          <a:ln w="2032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66560" y="5349240"/>
            <a:ext cx="374903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Router redirects unauthorized roles to their workspace.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11  /  BACKEND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The API centralizes authorization and booking rules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240280" cy="1097280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524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938528"/>
            <a:ext cx="207568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202082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JSON + 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828800"/>
            <a:ext cx="2240280" cy="1097280"/>
          </a:xfrm>
          <a:prstGeom prst="roundRect">
            <a:avLst>
              <a:gd name="adj" fmla="val 16000"/>
            </a:avLst>
          </a:prstGeom>
          <a:solidFill>
            <a:srgbClr val="FBE9DF"/>
          </a:solidFill>
          <a:ln w="15240"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6" y="1938528"/>
            <a:ext cx="207568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2304288"/>
            <a:ext cx="202082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Auth + role +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828800"/>
            <a:ext cx="2240280" cy="1097280"/>
          </a:xfrm>
          <a:prstGeom prst="roundRect">
            <a:avLst>
              <a:gd name="adj" fmla="val 16000"/>
            </a:avLst>
          </a:prstGeom>
          <a:solidFill>
            <a:srgbClr val="E3F1E7"/>
          </a:solidFill>
          <a:ln w="15240">
            <a:solidFill>
              <a:srgbClr val="2B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8856" y="1938528"/>
            <a:ext cx="207568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MODULE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304288"/>
            <a:ext cx="202082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Validate + authorize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828800"/>
            <a:ext cx="2011680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616" y="1938528"/>
            <a:ext cx="184708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5191D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2304288"/>
            <a:ext cx="179222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50" b="0">
                <a:solidFill>
                  <a:srgbClr val="625F54"/>
                </a:solidFill>
                <a:latin typeface="Aptos"/>
              </a:defRPr>
            </a:pPr>
            <a:r>
              <a:t>Mongoose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377440"/>
            <a:ext cx="658367" cy="0"/>
          </a:xfrm>
          <a:prstGeom prst="line">
            <a:avLst/>
          </a:prstGeom>
          <a:ln w="2159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62472" y="2377440"/>
            <a:ext cx="658368" cy="0"/>
          </a:xfrm>
          <a:prstGeom prst="line">
            <a:avLst/>
          </a:prstGeom>
          <a:ln w="21590">
            <a:solidFill>
              <a:srgbClr val="E97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34272" y="2377440"/>
            <a:ext cx="338328" cy="0"/>
          </a:xfrm>
          <a:prstGeom prst="line">
            <a:avLst/>
          </a:prstGeom>
          <a:ln w="21590">
            <a:solidFill>
              <a:srgbClr val="2B7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" y="3657600"/>
            <a:ext cx="4800600" cy="1600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3657600"/>
            <a:ext cx="64008" cy="1600200"/>
          </a:xfrm>
          <a:prstGeom prst="roundRect">
            <a:avLst>
              <a:gd name="adj" fmla="val 16000"/>
            </a:avLst>
          </a:prstGeom>
          <a:solidFill>
            <a:srgbClr val="1557FF"/>
          </a:solidFill>
          <a:ln w="1270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3822191"/>
            <a:ext cx="4434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Lifecycle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279392"/>
            <a:ext cx="4434840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Slot holds expire. Payment webhooks protect against duplicate events. Open disputes pause payout.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657600"/>
            <a:ext cx="4800600" cy="1600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3657600"/>
            <a:ext cx="64008" cy="1600200"/>
          </a:xfrm>
          <a:prstGeom prst="roundRect">
            <a:avLst>
              <a:gd name="adj" fmla="val 16000"/>
            </a:avLst>
          </a:prstGeom>
          <a:solidFill>
            <a:srgbClr val="E9784E"/>
          </a:solidFill>
          <a:ln w="12700"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3822191"/>
            <a:ext cx="4434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Operational safeguards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4279392"/>
            <a:ext cx="4434840" cy="886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Health checks require database reachability. Admin and payment actions leave audit records.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625F54"/>
                </a:solidFill>
                <a:latin typeface="Aptos"/>
              </a:defRPr>
            </a:pPr>
            <a:r>
              <a:t>Express API version: /api/v1   |   Common response envelope: success / data or error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12  /  DATABASE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MongoDB stores domain records with explicit relationships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93852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455371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Mongoose schemas define fields, enums, and references.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2432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55371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Indexes support email uniqueness and booking lookups.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31012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455371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Money is stored in integer paise.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9592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455371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Provider verification stores status and vendor reference.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681728"/>
            <a:ext cx="82296" cy="82296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72000"/>
            <a:ext cx="455371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Booking state ties discovery, payment, chat, and review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074920" cy="4114800"/>
          </a:xfrm>
          <a:prstGeom prst="roundRect">
            <a:avLst>
              <a:gd name="adj" fmla="val 16000"/>
            </a:avLst>
          </a:prstGeom>
          <a:solidFill>
            <a:srgbClr val="2B343E"/>
          </a:solidFill>
          <a:ln w="12700">
            <a:solidFill>
              <a:srgbClr val="2B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75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DA35"/>
                </a:solidFill>
                <a:latin typeface="Aptos"/>
              </a:defRPr>
            </a:pPr>
            <a:r>
              <a:t>BOOKING AS THE TRANSACTION HUB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3154680"/>
            <a:ext cx="685800" cy="685800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324612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834640"/>
            <a:ext cx="141732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2944368"/>
            <a:ext cx="13075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834640"/>
            <a:ext cx="141732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84664" y="2944368"/>
            <a:ext cx="13075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Provider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206240"/>
            <a:ext cx="141732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4315968"/>
            <a:ext cx="13075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4206240"/>
            <a:ext cx="141732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4664" y="4315968"/>
            <a:ext cx="13075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983480"/>
            <a:ext cx="141732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0144" y="5093208"/>
            <a:ext cx="13075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5191D"/>
                </a:solidFill>
                <a:latin typeface="Aptos"/>
              </a:defRPr>
            </a:pPr>
            <a:r>
              <a:t>Chat / Review / Dispute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55279" y="3337560"/>
            <a:ext cx="228600" cy="137160"/>
          </a:xfrm>
          <a:prstGeom prst="line">
            <a:avLst/>
          </a:prstGeom>
          <a:ln w="15240">
            <a:solidFill>
              <a:srgbClr val="FFD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235440" y="3246120"/>
            <a:ext cx="594360" cy="228600"/>
          </a:xfrm>
          <a:prstGeom prst="line">
            <a:avLst/>
          </a:prstGeom>
          <a:ln w="15240">
            <a:solidFill>
              <a:srgbClr val="FFD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315200" y="3703320"/>
            <a:ext cx="640079" cy="502920"/>
          </a:xfrm>
          <a:prstGeom prst="line">
            <a:avLst/>
          </a:prstGeom>
          <a:ln w="15240">
            <a:solidFill>
              <a:srgbClr val="FFD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3657600"/>
            <a:ext cx="685800" cy="731520"/>
          </a:xfrm>
          <a:prstGeom prst="line">
            <a:avLst/>
          </a:prstGeom>
          <a:ln w="15240">
            <a:solidFill>
              <a:srgbClr val="FFD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12480" y="3840480"/>
            <a:ext cx="182880" cy="1115568"/>
          </a:xfrm>
          <a:prstGeom prst="line">
            <a:avLst/>
          </a:prstGeom>
          <a:ln w="15240">
            <a:solidFill>
              <a:srgbClr val="FFD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13  /  API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Versioned APIs expose focused operations by domain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27632"/>
            <a:ext cx="2194560" cy="38404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7335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557FF"/>
                </a:solidFill>
                <a:latin typeface="Aptos"/>
              </a:defRPr>
            </a:pPr>
            <a:r>
              <a:t>/auth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73352"/>
            <a:ext cx="5760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Register, login, current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682496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25F54"/>
                </a:solidFill>
                <a:latin typeface="Aptos"/>
              </a:defRPr>
            </a:pPr>
            <a:r>
              <a:t>/api/v1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2112264"/>
            <a:ext cx="10149840" cy="0"/>
          </a:xfrm>
          <a:prstGeom prst="line">
            <a:avLst/>
          </a:prstGeom>
          <a:ln w="762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2221992"/>
            <a:ext cx="2194560" cy="38404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26771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557FF"/>
                </a:solidFill>
                <a:latin typeface="Aptos"/>
              </a:defRPr>
            </a:pPr>
            <a:r>
              <a:t>/services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267712"/>
            <a:ext cx="5760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Search, list, update, 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276856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25F54"/>
                </a:solidFill>
                <a:latin typeface="Aptos"/>
              </a:defRPr>
            </a:pPr>
            <a:r>
              <a:t>/api/v1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2706624"/>
            <a:ext cx="10149840" cy="0"/>
          </a:xfrm>
          <a:prstGeom prst="line">
            <a:avLst/>
          </a:prstGeom>
          <a:ln w="762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2816352"/>
            <a:ext cx="2194560" cy="38404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286207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557FF"/>
                </a:solidFill>
                <a:latin typeface="Aptos"/>
              </a:defRPr>
            </a:pPr>
            <a:r>
              <a:t>/availability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862072"/>
            <a:ext cx="5760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Publish and check time windows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871216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25F54"/>
                </a:solidFill>
                <a:latin typeface="Aptos"/>
              </a:defRPr>
            </a:pPr>
            <a:r>
              <a:t>/api/v1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3300984"/>
            <a:ext cx="10149840" cy="0"/>
          </a:xfrm>
          <a:prstGeom prst="line">
            <a:avLst/>
          </a:prstGeom>
          <a:ln w="762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960" y="3410712"/>
            <a:ext cx="2194560" cy="38404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45643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557FF"/>
                </a:solidFill>
                <a:latin typeface="Aptos"/>
              </a:defRPr>
            </a:pPr>
            <a:r>
              <a:t>/bookings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456432"/>
            <a:ext cx="5760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Request, accept, pay, 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465576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25F54"/>
                </a:solidFill>
                <a:latin typeface="Aptos"/>
              </a:defRPr>
            </a:pPr>
            <a:r>
              <a:t>/api/v1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3895344"/>
            <a:ext cx="10149840" cy="0"/>
          </a:xfrm>
          <a:prstGeom prst="line">
            <a:avLst/>
          </a:prstGeom>
          <a:ln w="762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" y="4005072"/>
            <a:ext cx="2194560" cy="38404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050791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557FF"/>
                </a:solidFill>
                <a:latin typeface="Aptos"/>
              </a:defRPr>
            </a:pPr>
            <a:r>
              <a:t>/payments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050791"/>
            <a:ext cx="5760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Webhook, verify, refund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4059935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25F54"/>
                </a:solidFill>
                <a:latin typeface="Aptos"/>
              </a:defRPr>
            </a:pPr>
            <a:r>
              <a:t>/api/v1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" y="4489704"/>
            <a:ext cx="10149840" cy="0"/>
          </a:xfrm>
          <a:prstGeom prst="line">
            <a:avLst/>
          </a:prstGeom>
          <a:ln w="762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" y="4599432"/>
            <a:ext cx="2194560" cy="38404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464515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557FF"/>
                </a:solidFill>
                <a:latin typeface="Aptos"/>
              </a:defRPr>
            </a:pPr>
            <a:r>
              <a:t>/messages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645152"/>
            <a:ext cx="5760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REST history + Socket.IO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4654296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25F54"/>
                </a:solidFill>
                <a:latin typeface="Aptos"/>
              </a:defRPr>
            </a:pPr>
            <a:r>
              <a:t>/api/v1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60" y="5084064"/>
            <a:ext cx="10149840" cy="0"/>
          </a:xfrm>
          <a:prstGeom prst="line">
            <a:avLst/>
          </a:prstGeom>
          <a:ln w="762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2960" y="5193792"/>
            <a:ext cx="2194560" cy="384048"/>
          </a:xfrm>
          <a:prstGeom prst="roundRect">
            <a:avLst>
              <a:gd name="adj" fmla="val 16000"/>
            </a:avLst>
          </a:prstGeom>
          <a:solidFill>
            <a:srgbClr val="DCE7FF"/>
          </a:solidFill>
          <a:ln w="12700">
            <a:solidFill>
              <a:srgbClr val="DC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523951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557FF"/>
                </a:solidFill>
                <a:latin typeface="Aptos"/>
              </a:defRPr>
            </a:pPr>
            <a:r>
              <a:t>/admin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5239512"/>
            <a:ext cx="5760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5191D"/>
                </a:solidFill>
                <a:latin typeface="Aptos"/>
              </a:defRPr>
            </a:pPr>
            <a:r>
              <a:t>Verification, disputes,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5248656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25F54"/>
                </a:solidFill>
                <a:latin typeface="Aptos"/>
              </a:defRPr>
            </a:pPr>
            <a:r>
              <a:t>/api/v1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1691640"/>
            <a:ext cx="2286000" cy="1005840"/>
          </a:xfrm>
          <a:prstGeom prst="roundRect">
            <a:avLst>
              <a:gd name="adj" fmla="val 16000"/>
            </a:avLst>
          </a:prstGeom>
          <a:solidFill>
            <a:srgbClr val="2B343E"/>
          </a:solidFill>
          <a:ln w="12700">
            <a:solidFill>
              <a:srgbClr val="2B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1874519"/>
            <a:ext cx="19202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Bearer JWT</a:t>
            </a:r>
          </a:p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Authenticated routes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971800"/>
            <a:ext cx="233172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Socket.IO events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booking:join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message:send / message:new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5989320"/>
            <a:ext cx="10241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Payment webhooks validate the raw request signature and guard duplicate event processing.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14  /  MODULE-WISE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Implementation follows a controlled service lifecycle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1344168" y="1938528"/>
            <a:ext cx="475488" cy="475488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029968"/>
            <a:ext cx="475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176272"/>
            <a:ext cx="786384" cy="0"/>
          </a:xfrm>
          <a:prstGeom prst="line">
            <a:avLst/>
          </a:prstGeom>
          <a:ln w="254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69748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27248"/>
            <a:ext cx="16642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Active service + exact pincode</a:t>
            </a:r>
          </a:p>
        </p:txBody>
      </p:sp>
      <p:sp>
        <p:nvSpPr>
          <p:cNvPr id="13" name="Oval 12"/>
          <p:cNvSpPr/>
          <p:nvPr/>
        </p:nvSpPr>
        <p:spPr>
          <a:xfrm>
            <a:off x="3246120" y="1938528"/>
            <a:ext cx="475488" cy="475488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029968"/>
            <a:ext cx="475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30752" y="2176272"/>
            <a:ext cx="786384" cy="0"/>
          </a:xfrm>
          <a:prstGeom prst="line">
            <a:avLst/>
          </a:prstGeom>
          <a:ln w="254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51760" y="269748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3127248"/>
            <a:ext cx="16642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Provider time window + conflict check</a:t>
            </a:r>
          </a:p>
        </p:txBody>
      </p:sp>
      <p:sp>
        <p:nvSpPr>
          <p:cNvPr id="18" name="Oval 17"/>
          <p:cNvSpPr/>
          <p:nvPr/>
        </p:nvSpPr>
        <p:spPr>
          <a:xfrm>
            <a:off x="5148072" y="1938528"/>
            <a:ext cx="475488" cy="475488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2029968"/>
            <a:ext cx="475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32704" y="2176272"/>
            <a:ext cx="786384" cy="0"/>
          </a:xfrm>
          <a:prstGeom prst="line">
            <a:avLst/>
          </a:prstGeom>
          <a:ln w="254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53712" y="269748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27248"/>
            <a:ext cx="16642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Booking linked to customer/provider/service</a:t>
            </a:r>
          </a:p>
        </p:txBody>
      </p:sp>
      <p:sp>
        <p:nvSpPr>
          <p:cNvPr id="23" name="Oval 22"/>
          <p:cNvSpPr/>
          <p:nvPr/>
        </p:nvSpPr>
        <p:spPr>
          <a:xfrm>
            <a:off x="7050024" y="1938528"/>
            <a:ext cx="475488" cy="475488"/>
          </a:xfrm>
          <a:prstGeom prst="ellipse">
            <a:avLst/>
          </a:prstGeom>
          <a:solidFill>
            <a:srgbClr val="1557FF"/>
          </a:solidFill>
          <a:ln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4" y="2029968"/>
            <a:ext cx="475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34656" y="2176272"/>
            <a:ext cx="786384" cy="0"/>
          </a:xfrm>
          <a:prstGeom prst="line">
            <a:avLst/>
          </a:prstGeom>
          <a:ln w="254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55664" y="269748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Accept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127248"/>
            <a:ext cx="16642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Temporary slot hold starts</a:t>
            </a:r>
          </a:p>
        </p:txBody>
      </p:sp>
      <p:sp>
        <p:nvSpPr>
          <p:cNvPr id="28" name="Oval 27"/>
          <p:cNvSpPr/>
          <p:nvPr/>
        </p:nvSpPr>
        <p:spPr>
          <a:xfrm>
            <a:off x="8951976" y="1938528"/>
            <a:ext cx="475488" cy="475488"/>
          </a:xfrm>
          <a:prstGeom prst="ellipse">
            <a:avLst/>
          </a:prstGeom>
          <a:solidFill>
            <a:srgbClr val="E9784E"/>
          </a:solidFill>
          <a:ln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1976" y="2029968"/>
            <a:ext cx="475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36608" y="2176272"/>
            <a:ext cx="786384" cy="0"/>
          </a:xfrm>
          <a:prstGeom prst="line">
            <a:avLst/>
          </a:prstGeom>
          <a:ln w="254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57616" y="269748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3127248"/>
            <a:ext cx="16642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Payment after provider acceptance</a:t>
            </a:r>
          </a:p>
        </p:txBody>
      </p:sp>
      <p:sp>
        <p:nvSpPr>
          <p:cNvPr id="33" name="Oval 32"/>
          <p:cNvSpPr/>
          <p:nvPr/>
        </p:nvSpPr>
        <p:spPr>
          <a:xfrm>
            <a:off x="10853928" y="1938528"/>
            <a:ext cx="475488" cy="475488"/>
          </a:xfrm>
          <a:prstGeom prst="ellipse">
            <a:avLst/>
          </a:prstGeom>
          <a:solidFill>
            <a:srgbClr val="E9784E"/>
          </a:solidFill>
          <a:ln>
            <a:solidFill>
              <a:srgbClr val="E9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53928" y="2029968"/>
            <a:ext cx="475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8" y="2697480"/>
            <a:ext cx="1691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5191D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6" y="3127248"/>
            <a:ext cx="16642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25F54"/>
                </a:solidFill>
                <a:latin typeface="Aptos"/>
              </a:defRPr>
            </a:pPr>
            <a:r>
              <a:t>Review window or dispute resolution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4709160"/>
            <a:ext cx="10058400" cy="822960"/>
          </a:xfrm>
          <a:prstGeom prst="roundRect">
            <a:avLst>
              <a:gd name="adj" fmla="val 16000"/>
            </a:avLst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98448" y="4956048"/>
            <a:ext cx="9555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Each transition checks role, booking state, availability, and payment or dispute conditions.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557FF"/>
                </a:solidFill>
                <a:latin typeface="Aptos"/>
              </a:defRPr>
            </a:pPr>
            <a:r>
              <a:t>15  /  CHALLENGES AND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15191D"/>
                </a:solidFill>
                <a:latin typeface="Aptos"/>
              </a:defRPr>
            </a:pPr>
            <a:r>
              <a:t>External dependencies and state changes need careful handling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44168"/>
            <a:ext cx="11000232" cy="0"/>
          </a:xfrm>
          <a:prstGeom prst="line">
            <a:avLst/>
          </a:prstGeom>
          <a:ln w="12700">
            <a:solidFill>
              <a:srgbClr val="E5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25F54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25F5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Pincode precision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1764792"/>
            <a:ext cx="338327" cy="0"/>
          </a:xfrm>
          <a:prstGeom prst="line">
            <a:avLst/>
          </a:prstGeom>
          <a:ln w="1905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86200" y="1600200"/>
            <a:ext cx="71323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Exact six-digit match for service and provider 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76856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Double booking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2441448"/>
            <a:ext cx="338327" cy="0"/>
          </a:xfrm>
          <a:prstGeom prst="line">
            <a:avLst/>
          </a:prstGeom>
          <a:ln w="1905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86200" y="2276856"/>
            <a:ext cx="71323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Slot holds, overlap checks, and unpaid-hold expiry.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53512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Payment event retries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60" y="3118104"/>
            <a:ext cx="338327" cy="0"/>
          </a:xfrm>
          <a:prstGeom prst="line">
            <a:avLst/>
          </a:prstGeom>
          <a:ln w="1905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86200" y="2953512"/>
            <a:ext cx="71323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Webhook signature validation and duplicate event protection.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30168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KYC privacy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37560" y="3794759"/>
            <a:ext cx="338327" cy="0"/>
          </a:xfrm>
          <a:prstGeom prst="line">
            <a:avLst/>
          </a:prstGeom>
          <a:ln w="1905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86200" y="3630168"/>
            <a:ext cx="71323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Vendor retains documents; Nearby stores references and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06824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Unsettled payout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37560" y="4471416"/>
            <a:ext cx="338327" cy="0"/>
          </a:xfrm>
          <a:prstGeom prst="line">
            <a:avLst/>
          </a:prstGeom>
          <a:ln w="1905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86200" y="4306824"/>
            <a:ext cx="71323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Hold transfers during refunds, failures, or open disputes.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5191D"/>
                </a:solidFill>
                <a:latin typeface="Aptos"/>
              </a:defRPr>
            </a:pPr>
            <a:r>
              <a:t>Launch readiness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37560" y="5148072"/>
            <a:ext cx="338327" cy="0"/>
          </a:xfrm>
          <a:prstGeom prst="line">
            <a:avLst/>
          </a:prstGeom>
          <a:ln w="19050">
            <a:solidFill>
              <a:srgbClr val="15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86200" y="4983480"/>
            <a:ext cx="71323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5F54"/>
                </a:solidFill>
                <a:latin typeface="Aptos"/>
              </a:defRPr>
            </a:pPr>
            <a:r>
              <a:t>External credentials, policy, email, hosting, and operations remain configuration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DA35"/>
          </a:solidFill>
          <a:ln w="12700"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30352"/>
            <a:ext cx="4572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DA35"/>
                </a:solidFill>
                <a:latin typeface="Aptos"/>
              </a:defRPr>
            </a:pPr>
            <a:r>
              <a:t>16  /  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68580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 connected path from search to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498348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Nearby connects local discovery with booking, payment, communication, and issue handling.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45720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DA35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813048"/>
            <a:ext cx="82296" cy="82296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4828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Select and configure a production KYC vendor.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315968"/>
            <a:ext cx="82296" cy="82296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828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Complete Razorpay approval and sandbox-to-live validation.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818888"/>
            <a:ext cx="82296" cy="82296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4828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Add operational monitoring, backups, and privacy workflows.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321808"/>
            <a:ext cx="82296" cy="82296"/>
          </a:xfrm>
          <a:prstGeom prst="ellipse">
            <a:avLst/>
          </a:prstGeom>
          <a:solidFill>
            <a:srgbClr val="FFDA35"/>
          </a:solidFill>
          <a:ln>
            <a:solidFill>
              <a:srgbClr val="FFD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48280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Improve search insights and provider tools from user feedback.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1005840"/>
            <a:ext cx="0" cy="493776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95160" y="1874519"/>
            <a:ext cx="42976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DA35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423160"/>
            <a:ext cx="457200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Nearby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566160"/>
            <a:ext cx="42062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Local services,</a:t>
            </a:r>
          </a:p>
          <a:p>
            <a:pPr algn="l">
              <a:spcAft>
                <a:spcPts val="5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within reach.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846320"/>
            <a:ext cx="3474720" cy="502920"/>
          </a:xfrm>
          <a:prstGeom prst="roundRect">
            <a:avLst>
              <a:gd name="adj" fmla="val 16000"/>
            </a:avLst>
          </a:prstGeom>
          <a:solidFill>
            <a:srgbClr val="1557FF"/>
          </a:solidFill>
          <a:ln w="12700">
            <a:solidFill>
              <a:srgbClr val="15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956048"/>
            <a:ext cx="3200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CUSTOMER  /  PROVIDER  / 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46520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NEARBY  /  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594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FFDA35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Nearby | Local Services Marketplace</dc:title>
  <dc:subject>Project overview, requirements, architecture, implementation and roadmap</dc:subject>
  <dc:creator>Nearby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