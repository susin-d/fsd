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35380a33f1471e" /><Relationship Type="http://schemas.openxmlformats.org/officeDocument/2006/relationships/extended-properties" Target="/docProps/app.xml" Id="R64b97876271b41fe" /><Relationship Type="http://schemas.openxmlformats.org/officeDocument/2006/relationships/officeDocument" Target="/ppt/presentation.xml" Id="Rf5b724f81a9f4c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a7cd093adc433e"/>
  </p:sldMasterIdLst>
  <p:notesMasterIdLst>
    <p:notesMasterId xmlns:r="http://schemas.openxmlformats.org/officeDocument/2006/relationships" r:id="Rd17219b2fdab494d"/>
  </p:notesMasterIdLst>
  <p:sldIdLst>
    <p:sldId xmlns:r="http://schemas.openxmlformats.org/officeDocument/2006/relationships" id="256" r:id="Re305e3a9d4c94c40"/>
    <p:sldId xmlns:r="http://schemas.openxmlformats.org/officeDocument/2006/relationships" id="257" r:id="Re399613ccdf9436e"/>
    <p:sldId xmlns:r="http://schemas.openxmlformats.org/officeDocument/2006/relationships" id="258" r:id="R6868822477c644ea"/>
    <p:sldId xmlns:r="http://schemas.openxmlformats.org/officeDocument/2006/relationships" id="259" r:id="R8d11f285408f4d9e"/>
    <p:sldId xmlns:r="http://schemas.openxmlformats.org/officeDocument/2006/relationships" id="260" r:id="R84ae108c1e3840d5"/>
    <p:sldId xmlns:r="http://schemas.openxmlformats.org/officeDocument/2006/relationships" id="261" r:id="R1dd8e2cffc004817"/>
    <p:sldId xmlns:r="http://schemas.openxmlformats.org/officeDocument/2006/relationships" id="262" r:id="R299ed8269ee648dc"/>
    <p:sldId xmlns:r="http://schemas.openxmlformats.org/officeDocument/2006/relationships" id="263" r:id="Re67e7f2369394b07"/>
    <p:sldId xmlns:r="http://schemas.openxmlformats.org/officeDocument/2006/relationships" id="264" r:id="R67bedad004484abf"/>
    <p:sldId xmlns:r="http://schemas.openxmlformats.org/officeDocument/2006/relationships" id="265" r:id="R44f859fe69b04ba5"/>
    <p:sldId xmlns:r="http://schemas.openxmlformats.org/officeDocument/2006/relationships" id="266" r:id="R97f931f5389b4f69"/>
    <p:sldId xmlns:r="http://schemas.openxmlformats.org/officeDocument/2006/relationships" id="267" r:id="R336344da2a7345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c2730556644cd6" /><Relationship Type="http://schemas.openxmlformats.org/officeDocument/2006/relationships/slideMaster" Target="/ppt/slideMasters/slideMaster1.xml" Id="Rb1a7cd093adc433e" /><Relationship Type="http://schemas.openxmlformats.org/officeDocument/2006/relationships/notesMaster" Target="/ppt/notesMasters/notesMaster1.xml" Id="Rd17219b2fdab494d" /><Relationship Type="http://schemas.openxmlformats.org/officeDocument/2006/relationships/presProps" Target="/ppt/presProps.xml" Id="R82e26d1627a748bf" /><Relationship Type="http://schemas.openxmlformats.org/officeDocument/2006/relationships/tableStyles" Target="/ppt/tableStyles.xml" Id="R47a27f8b51414dbe" /><Relationship Type="http://schemas.openxmlformats.org/officeDocument/2006/relationships/slide" Target="/ppt/slides/slide1.xml" Id="Re305e3a9d4c94c40" /><Relationship Type="http://schemas.openxmlformats.org/officeDocument/2006/relationships/slide" Target="/ppt/slides/slide2.xml" Id="Re399613ccdf9436e" /><Relationship Type="http://schemas.openxmlformats.org/officeDocument/2006/relationships/slide" Target="/ppt/slides/slide3.xml" Id="R6868822477c644ea" /><Relationship Type="http://schemas.openxmlformats.org/officeDocument/2006/relationships/slide" Target="/ppt/slides/slide4.xml" Id="R8d11f285408f4d9e" /><Relationship Type="http://schemas.openxmlformats.org/officeDocument/2006/relationships/slide" Target="/ppt/slides/slide5.xml" Id="R84ae108c1e3840d5" /><Relationship Type="http://schemas.openxmlformats.org/officeDocument/2006/relationships/slide" Target="/ppt/slides/slide6.xml" Id="R1dd8e2cffc004817" /><Relationship Type="http://schemas.openxmlformats.org/officeDocument/2006/relationships/slide" Target="/ppt/slides/slide7.xml" Id="R299ed8269ee648dc" /><Relationship Type="http://schemas.openxmlformats.org/officeDocument/2006/relationships/slide" Target="/ppt/slides/slide8.xml" Id="Re67e7f2369394b07" /><Relationship Type="http://schemas.openxmlformats.org/officeDocument/2006/relationships/slide" Target="/ppt/slides/slide9.xml" Id="R67bedad004484abf" /><Relationship Type="http://schemas.openxmlformats.org/officeDocument/2006/relationships/slide" Target="/ppt/slides/slide10.xml" Id="R44f859fe69b04ba5" /><Relationship Type="http://schemas.openxmlformats.org/officeDocument/2006/relationships/slide" Target="/ppt/slides/slide11.xml" Id="R97f931f5389b4f69" /><Relationship Type="http://schemas.openxmlformats.org/officeDocument/2006/relationships/slide" Target="/ppt/slides/slide12.xml" Id="R336344da2a7345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daa3bebaa549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4d76ccd04d4995" /><Relationship Type="http://schemas.openxmlformats.org/officeDocument/2006/relationships/notesMaster" Target="/ppt/notesMasters/notesMaster1.xml" Id="Rb766c300592542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75815313e74411" /><Relationship Type="http://schemas.openxmlformats.org/officeDocument/2006/relationships/notesMaster" Target="/ppt/notesMasters/notesMaster1.xml" Id="R62825741d33c4b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9e5372015442bc" /><Relationship Type="http://schemas.openxmlformats.org/officeDocument/2006/relationships/notesMaster" Target="/ppt/notesMasters/notesMaster1.xml" Id="Rb32594d9cca745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b1f702e60245a0" /><Relationship Type="http://schemas.openxmlformats.org/officeDocument/2006/relationships/notesMaster" Target="/ppt/notesMasters/notesMaster1.xml" Id="R71ce3a71cdea4b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20ea70f8da49c8" /><Relationship Type="http://schemas.openxmlformats.org/officeDocument/2006/relationships/notesMaster" Target="/ppt/notesMasters/notesMaster1.xml" Id="Rc3cc37c650ce4a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3f6811766c4a25" /><Relationship Type="http://schemas.openxmlformats.org/officeDocument/2006/relationships/notesMaster" Target="/ppt/notesMasters/notesMaster1.xml" Id="Rd228720cdb904c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86a1a841ce4377" /><Relationship Type="http://schemas.openxmlformats.org/officeDocument/2006/relationships/notesMaster" Target="/ppt/notesMasters/notesMaster1.xml" Id="Rcc2dd746b5164d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775611279444f2" /><Relationship Type="http://schemas.openxmlformats.org/officeDocument/2006/relationships/notesMaster" Target="/ppt/notesMasters/notesMaster1.xml" Id="R7e1eda8542f141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0db5c7a9854b72" /><Relationship Type="http://schemas.openxmlformats.org/officeDocument/2006/relationships/notesMaster" Target="/ppt/notesMasters/notesMaster1.xml" Id="Reab9c992ff3045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e0c268c93c4233" /><Relationship Type="http://schemas.openxmlformats.org/officeDocument/2006/relationships/notesMaster" Target="/ppt/notesMasters/notesMaster1.xml" Id="Rde17610e29b24e4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1cf83e26c94f5b" /><Relationship Type="http://schemas.openxmlformats.org/officeDocument/2006/relationships/notesMaster" Target="/ppt/notesMasters/notesMaster1.xml" Id="R11af803c3e0d44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f5bbdabb9b4519" /><Relationship Type="http://schemas.openxmlformats.org/officeDocument/2006/relationships/notesMaster" Target="/ppt/notesMasters/notesMaster1.xml" Id="R92531260011140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Nearby project review presentation. Original technical content retained. Future enhancements are proposed. Production integrations require configuration and live validation. Abstract artwork generated with ImageGen. Icons: https://github.com/lucide-icons/lucide/blob/main/icons/user-round.svg ; https://github.com/lucide-icons/lucide/blob/main/icons/briefcase-business.svg ; https://github.com/lucide-icons/lucide/blob/main/icons/shield-check.svg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Nearby project review presentation. Original technical content retained. Future enhancements are proposed. Production integrations require configuration and live validation. Abstract artwork generated with ImageGen. Icons: https://github.com/lucide-icons/lucide/blob/main/icons/user-round.svg ; https://github.com/lucide-icons/lucide/blob/main/icons/briefcase-business.svg ; https://github.com/lucide-icons/lucide/blob/main/icons/shield-check.svg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Nearby project review presentation. Original technical content retained. Future enhancements are proposed. Production integrations require configuration and live validation. Abstract artwork generated with ImageGen. Icons: https://github.com/lucide-icons/lucide/blob/main/icons/user-round.svg ; https://github.com/lucide-icons/lucide/blob/main/icons/briefcase-business.svg ; https://github.com/lucide-icons/lucide/blob/main/icons/shield-check.svg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Nearby project review presentation. Original technical content retained. Future enhancements are proposed. Production integrations require configuration and live validation. Abstract artwork generated with ImageGen. Icons: https://github.com/lucide-icons/lucide/blob/main/icons/user-round.svg ; https://github.com/lucide-icons/lucide/blob/main/icons/briefcase-business.svg ; https://github.com/lucide-icons/lucide/blob/main/icons/shield-check.svg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Nearby project review presentation. Original technical content retained. Future enhancements are proposed. Production integrations require configuration and live validation. Abstract artwork generated with ImageGen. Icons: https://github.com/lucide-icons/lucide/blob/main/icons/user-round.svg ; https://github.com/lucide-icons/lucide/blob/main/icons/briefcase-business.svg ; https://github.com/lucide-icons/lucide/blob/main/icons/shield-check.svg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Nearby project review presentation. Original technical content retained. Future enhancements are proposed. Production integrations require configuration and live validation. Abstract artwork generated with ImageGen. Icons: https://github.com/lucide-icons/lucide/blob/main/icons/user-round.svg ; https://github.com/lucide-icons/lucide/blob/main/icons/briefcase-business.svg ; https://github.com/lucide-icons/lucide/blob/main/icons/shield-check.svg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Nearby project review presentation. Original technical content retained. Future enhancements are proposed. Production integrations require configuration and live validation. Abstract artwork generated with ImageGen. Icons: https://github.com/lucide-icons/lucide/blob/main/icons/user-round.svg ; https://github.com/lucide-icons/lucide/blob/main/icons/briefcase-business.svg ; https://github.com/lucide-icons/lucide/blob/main/icons/shield-check.svg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Nearby project review presentation. Original technical content retained. Future enhancements are proposed. Production integrations require configuration and live validation. Abstract artwork generated with ImageGen. Icons: https://github.com/lucide-icons/lucide/blob/main/icons/user-round.svg ; https://github.com/lucide-icons/lucide/blob/main/icons/briefcase-business.svg ; https://github.com/lucide-icons/lucide/blob/main/icons/shield-check.svg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Nearby project review presentation. Original technical content retained. Future enhancements are proposed. Production integrations require configuration and live validation. Abstract artwork generated with ImageGen. Icons: https://github.com/lucide-icons/lucide/blob/main/icons/user-round.svg ; https://github.com/lucide-icons/lucide/blob/main/icons/briefcase-business.svg ; https://github.com/lucide-icons/lucide/blob/main/icons/shield-check.svg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Nearby project review presentation. Original technical content retained. Future enhancements are proposed. Production integrations require configuration and live validation. Abstract artwork generated with ImageGen. Icons: https://github.com/lucide-icons/lucide/blob/main/icons/user-round.svg ; https://github.com/lucide-icons/lucide/blob/main/icons/briefcase-business.svg ; https://github.com/lucide-icons/lucide/blob/main/icons/shield-check.svg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Nearby project review presentation. Original technical content retained. Future enhancements are proposed. Production integrations require configuration and live validation. Abstract artwork generated with ImageGen. Icons: https://github.com/lucide-icons/lucide/blob/main/icons/user-round.svg ; https://github.com/lucide-icons/lucide/blob/main/icons/briefcase-business.svg ; https://github.com/lucide-icons/lucide/blob/main/icons/shield-check.svg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Nearby project review presentation. Original technical content retained. Future enhancements are proposed. Production integrations require configuration and live validation. Abstract artwork generated with ImageGen. Icons: https://github.com/lucide-icons/lucide/blob/main/icons/user-round.svg ; https://github.com/lucide-icons/lucide/blob/main/icons/briefcase-business.svg ; https://github.com/lucide-icons/lucide/blob/main/icons/shield-check.svg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4301a6bb5b480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36b349fd8a4c5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9881d2f5b246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9d8fe810dc449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e80710804c4b3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41aedd47b24d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5866C6-77D8-436E-839F-D00E68B03B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0DE59C3-D8C9-4966-B091-5A641EE2EEA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F982BC2-04B4-44AC-9085-9A4258659D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45A4AF-60E3-4916-A9C4-A01A685D92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AD7021A-AF63-4D43-B866-8C56D1E5D3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916946E-A8BA-46F3-B437-040CC0BDA1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4C027F-ED07-4ACC-8C4C-CF2B2BAB6B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426D191-970C-4679-9C59-82A5425482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62DD66-D9BB-419D-8614-FBCB7FA4A9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322F32-A624-46A5-84AE-77F0843C30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5671cea61443d0" /><Relationship Type="http://schemas.openxmlformats.org/officeDocument/2006/relationships/slideLayout" Target="/ppt/slideLayouts/slideLayout1.xml" Id="Rcb8608156d7746e5" /><Relationship Type="http://schemas.openxmlformats.org/officeDocument/2006/relationships/slideLayout" Target="/ppt/slideLayouts/slideLayout2.xml" Id="R3f059b120afd408c" /><Relationship Type="http://schemas.openxmlformats.org/officeDocument/2006/relationships/slideLayout" Target="/ppt/slideLayouts/slideLayout3.xml" Id="R3e76d093df4b40d3" /><Relationship Type="http://schemas.openxmlformats.org/officeDocument/2006/relationships/slideLayout" Target="/ppt/slideLayouts/slideLayout4.xml" Id="R304232fd9c204430" /><Relationship Type="http://schemas.openxmlformats.org/officeDocument/2006/relationships/slideLayout" Target="/ppt/slideLayouts/slideLayout5.xml" Id="R817bffffa03c4405" /><Relationship Type="http://schemas.openxmlformats.org/officeDocument/2006/relationships/slideLayout" Target="/ppt/slideLayouts/slideLayout6.xml" Id="R57aa27abcc9a44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8608156d7746e5"/>
    <p:sldLayoutId xmlns:r="http://schemas.openxmlformats.org/officeDocument/2006/relationships" id="2147483650" r:id="R3f059b120afd408c"/>
    <p:sldLayoutId xmlns:r="http://schemas.openxmlformats.org/officeDocument/2006/relationships" id="2147483651" r:id="R3e76d093df4b40d3"/>
    <p:sldLayoutId xmlns:r="http://schemas.openxmlformats.org/officeDocument/2006/relationships" id="2147483652" r:id="R304232fd9c204430"/>
    <p:sldLayoutId xmlns:r="http://schemas.openxmlformats.org/officeDocument/2006/relationships" id="2147483653" r:id="R817bffffa03c4405"/>
    <p:sldLayoutId xmlns:r="http://schemas.openxmlformats.org/officeDocument/2006/relationships" id="2147483654" r:id="R57aa27abcc9a44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34f60e60534405" /><Relationship Type="http://schemas.openxmlformats.org/officeDocument/2006/relationships/image" Target="/ppt/media/image.png" Id="Rbd58e89c966e47d9" /><Relationship Type="http://schemas.openxmlformats.org/officeDocument/2006/relationships/notesSlide" Target="/ppt/notesSlides/notesSlide1.xml" Id="R5b9afbdfc2114e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8a01c258a5441e" /><Relationship Type="http://schemas.openxmlformats.org/officeDocument/2006/relationships/image" Target="/ppt/media/image2.png" Id="R0e2aeed36276400c" /><Relationship Type="http://schemas.openxmlformats.org/officeDocument/2006/relationships/notesSlide" Target="/ppt/notesSlides/notesSlide2.xml" Id="R8f138c4c0cb148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86e7b476f24005" /><Relationship Type="http://schemas.openxmlformats.org/officeDocument/2006/relationships/image" Target="/ppt/media/image3.png" Id="Rce64e88a8e334d30" /><Relationship Type="http://schemas.openxmlformats.org/officeDocument/2006/relationships/notesSlide" Target="/ppt/notesSlides/notesSlide3.xml" Id="Rfde0b41d27224b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c949698e104176" /><Relationship Type="http://schemas.openxmlformats.org/officeDocument/2006/relationships/image" Target="/ppt/media/image4.png" Id="R5da11adb540d424b" /><Relationship Type="http://schemas.openxmlformats.org/officeDocument/2006/relationships/notesSlide" Target="/ppt/notesSlides/notesSlide4.xml" Id="Rc4bb1f1eaa074d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a08c0a20784502" /><Relationship Type="http://schemas.openxmlformats.org/officeDocument/2006/relationships/image" Target="/ppt/media/image5.png" Id="Rf16d4bf4970d4492" /><Relationship Type="http://schemas.openxmlformats.org/officeDocument/2006/relationships/notesSlide" Target="/ppt/notesSlides/notesSlide5.xml" Id="Rb15e04440a0049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177a9226b747fc" /><Relationship Type="http://schemas.openxmlformats.org/officeDocument/2006/relationships/image" Target="/ppt/media/image6.png" Id="R52fcbd029cff4f93" /><Relationship Type="http://schemas.openxmlformats.org/officeDocument/2006/relationships/notesSlide" Target="/ppt/notesSlides/notesSlide6.xml" Id="R4f90050dc07145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8879f6b558426b" /><Relationship Type="http://schemas.openxmlformats.org/officeDocument/2006/relationships/image" Target="/ppt/media/image7.png" Id="R3181d4483fca4ebe" /><Relationship Type="http://schemas.openxmlformats.org/officeDocument/2006/relationships/notesSlide" Target="/ppt/notesSlides/notesSlide7.xml" Id="R04534ec2f08943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031eb5d6134639" /><Relationship Type="http://schemas.openxmlformats.org/officeDocument/2006/relationships/image" Target="/ppt/media/image8.png" Id="R154e293b13694d5b" /><Relationship Type="http://schemas.openxmlformats.org/officeDocument/2006/relationships/image" Target="/ppt/media/image9.png" Id="Rfc4c607740af4160" /><Relationship Type="http://schemas.openxmlformats.org/officeDocument/2006/relationships/image" Target="/ppt/media/image.svg" Id="Rf5af2d3726c141d8" /><Relationship Type="http://schemas.openxmlformats.org/officeDocument/2006/relationships/image" Target="/ppt/media/image10.png" Id="R0895933090614647" /><Relationship Type="http://schemas.openxmlformats.org/officeDocument/2006/relationships/image" Target="/ppt/media/image2.svg" Id="Re4d1761d5ff246a9" /><Relationship Type="http://schemas.openxmlformats.org/officeDocument/2006/relationships/image" Target="/ppt/media/image11.png" Id="R7130ef5304594c0d" /><Relationship Type="http://schemas.openxmlformats.org/officeDocument/2006/relationships/image" Target="/ppt/media/image3.svg" Id="Read6a91d913345a4" /><Relationship Type="http://schemas.openxmlformats.org/officeDocument/2006/relationships/notesSlide" Target="/ppt/notesSlides/notesSlide8.xml" Id="Rd83211aa7cb34d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13c5b4086b40d6" /><Relationship Type="http://schemas.openxmlformats.org/officeDocument/2006/relationships/image" Target="/ppt/media/image12.png" Id="Rf7b2cccd58634db1" /><Relationship Type="http://schemas.openxmlformats.org/officeDocument/2006/relationships/notesSlide" Target="/ppt/notesSlides/notesSlide9.xml" Id="R16ccba9279f140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86a3a9473d4455" /><Relationship Type="http://schemas.openxmlformats.org/officeDocument/2006/relationships/image" Target="/ppt/media/image13.png" Id="R39c0df50a74544e8" /><Relationship Type="http://schemas.openxmlformats.org/officeDocument/2006/relationships/notesSlide" Target="/ppt/notesSlides/notesSlide10.xml" Id="R51af848f122d45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42af3fa5a9472a" /><Relationship Type="http://schemas.openxmlformats.org/officeDocument/2006/relationships/image" Target="/ppt/media/image14.png" Id="R3800d7eae8204cba" /><Relationship Type="http://schemas.openxmlformats.org/officeDocument/2006/relationships/notesSlide" Target="/ppt/notesSlides/notesSlide11.xml" Id="Rd415672f11b745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2f31cff7d841f8" /><Relationship Type="http://schemas.openxmlformats.org/officeDocument/2006/relationships/image" Target="/ppt/media/image15.png" Id="Re74a99817924459c" /><Relationship Type="http://schemas.openxmlformats.org/officeDocument/2006/relationships/notesSlide" Target="/ppt/notesSlides/notesSlide12.xml" Id="R4343bfc674394b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D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96F078-0326-48A8-A6B7-A856C972B2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58e89c966e47d9"/>
          <a:stretch xmlns:a="http://schemas.openxmlformats.org/drawingml/2006/main"/>
        </p:blipFill>
        <p:spPr>
          <a:xfrm xmlns:a="http://schemas.openxmlformats.org/drawingml/2006/main">
            <a:off x="5048250" y="0"/>
            <a:ext cx="7143750" cy="476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68D36-E010-4F53-92B6-6564C11B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191D"/>
                </a:solidFill>
              </a:defRPr>
            </a:pPr>
            <a:r>
              <a:rPr sz="1875" b="1">
                <a:solidFill>
                  <a:srgbClr val="15191D"/>
                </a:solidFill>
              </a:rPr>
              <a:t>EASWARI ENGINEERING COLLEGE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37341-67C8-4BD7-8046-DF213232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191D"/>
                </a:solidFill>
              </a:defRPr>
            </a:pPr>
            <a:r>
              <a:rPr sz="1650" b="0">
                <a:solidFill>
                  <a:srgbClr val="15191D"/>
                </a:solidFill>
              </a:rPr>
              <a:t>Department of Computer Science and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6825A-208A-452A-8621-43013AB9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557FF"/>
                </a:solidFill>
              </a:defRPr>
            </a:pPr>
            <a:r>
              <a:rPr sz="1500" b="1">
                <a:solidFill>
                  <a:srgbClr val="1557FF"/>
                </a:solidFill>
              </a:rPr>
              <a:t>NEARBY  ·  PROJECT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6FF75-23EA-4A5B-ABFE-69908ED7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704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45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6450" b="1">
                <a:solidFill>
                  <a:srgbClr val="15191D"/>
                </a:solidFill>
              </a:defRPr>
            </a:pPr>
            <a:r>
              <a:rPr sz="6450" b="1">
                <a:solidFill>
                  <a:srgbClr val="15191D"/>
                </a:solidFill>
              </a:rPr>
              <a:t>Nearby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9952D7-8DE8-47AE-A3B3-C8284D1E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03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191D"/>
                </a:solidFill>
              </a:defRPr>
            </a:pPr>
            <a:r>
              <a:rPr sz="3150" b="1">
                <a:solidFill>
                  <a:srgbClr val="15191D"/>
                </a:solidFill>
              </a:rPr>
              <a:t>Local Services Marketplace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BDC14-0787-4808-B714-B93EBE63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24250"/>
            <a:ext cx="704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191D"/>
                </a:solidFill>
              </a:defRPr>
            </a:pPr>
            <a:r>
              <a:rPr sz="2025" b="0">
                <a:solidFill>
                  <a:srgbClr val="15191D"/>
                </a:solidFill>
              </a:rPr>
              <a:t>A web platform for local service discovery, booking and provider management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ECCC7B-D53B-4E30-AC50-FEF34E61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243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557FF"/>
                </a:solidFill>
              </a:defRPr>
            </a:pPr>
            <a:r>
              <a:rPr sz="1200" b="1">
                <a:solidFill>
                  <a:srgbClr val="1557FF"/>
                </a:solidFill>
              </a:rPr>
              <a:t>STUDENT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4D09FB-AB3B-45CD-AB4C-78AB64BC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768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5191D"/>
                </a:solidFill>
              </a:defRPr>
            </a:pPr>
            <a:r>
              <a:rPr sz="2100" b="1">
                <a:solidFill>
                  <a:srgbClr val="15191D"/>
                </a:solidFill>
              </a:rPr>
              <a:t>Susindran 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8E99B6-A3AA-4967-B8DB-5F0E6842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243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557FF"/>
                </a:solidFill>
              </a:defRPr>
            </a:pPr>
            <a:r>
              <a:rPr sz="1200" b="1">
                <a:solidFill>
                  <a:srgbClr val="1557FF"/>
                </a:solidFill>
              </a:rPr>
              <a:t>REGISTER 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2C3186-DEA6-4F7B-A087-CFF00A7A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8768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5191D"/>
                </a:solidFill>
              </a:defRPr>
            </a:pPr>
            <a:r>
              <a:rPr sz="2100" b="1">
                <a:solidFill>
                  <a:srgbClr val="15191D"/>
                </a:solidFill>
              </a:rPr>
              <a:t>310624104342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358879-69E6-48D7-BA3F-1F47CBC2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5243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557FF"/>
                </a:solidFill>
              </a:defRPr>
            </a:pPr>
            <a:r>
              <a:rPr sz="1200" b="1">
                <a:solidFill>
                  <a:srgbClr val="1557FF"/>
                </a:solidFill>
              </a:rPr>
              <a:t>FACULTY GUIDE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F23342-2340-4445-8610-D19E2F12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768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5191D"/>
                </a:solidFill>
              </a:defRPr>
            </a:pPr>
            <a:r>
              <a:rPr sz="2100" b="1">
                <a:solidFill>
                  <a:srgbClr val="15191D"/>
                </a:solidFill>
              </a:rPr>
              <a:t>Swapna Duggi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D28EDC-5360-4E98-AAED-643BF690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578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557FF"/>
                </a:solidFill>
              </a:defRPr>
            </a:pPr>
            <a:r>
              <a:rPr sz="1425" b="1">
                <a:solidFill>
                  <a:srgbClr val="1557FF"/>
                </a:solidFill>
              </a:rPr>
              <a:t>CUSTOMER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91AF59-B824-4E50-B126-4A0AB3D0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0075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5191D"/>
                </a:solidFill>
              </a:defRPr>
            </a:pPr>
            <a:r>
              <a:rPr sz="1500" b="0">
                <a:solidFill>
                  <a:srgbClr val="15191D"/>
                </a:solidFill>
              </a:rPr>
              <a:t>Find services by pincode</a:t>
            </a:r>
          </a:p>
          <a:p xmlns:a="http://schemas.openxmlformats.org/drawingml/2006/main">
            <a:pPr>
              <a:defRPr sz="1500" b="0">
                <a:solidFill>
                  <a:srgbClr val="15191D"/>
                </a:solidFill>
              </a:defRPr>
            </a:pPr>
            <a:r>
              <a:rPr sz="1500" b="0">
                <a:solidFill>
                  <a:srgbClr val="15191D"/>
                </a:solidFill>
              </a:rPr>
              <a:t>Request a suitable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00FB03-A9B0-43DB-8551-72CA0E24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6578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557FF"/>
                </a:solidFill>
              </a:defRPr>
            </a:pPr>
            <a:r>
              <a:rPr sz="1425" b="1">
                <a:solidFill>
                  <a:srgbClr val="1557FF"/>
                </a:solidFill>
              </a:rPr>
              <a:t>PROVIDER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A99D3D-AB35-4588-B641-E65FB7F9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00075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5191D"/>
                </a:solidFill>
              </a:defRPr>
            </a:pPr>
            <a:r>
              <a:rPr sz="1500" b="0">
                <a:solidFill>
                  <a:srgbClr val="15191D"/>
                </a:solidFill>
              </a:rPr>
              <a:t>Manage listings and availability</a:t>
            </a:r>
          </a:p>
          <a:p xmlns:a="http://schemas.openxmlformats.org/drawingml/2006/main">
            <a:pPr>
              <a:defRPr sz="1500" b="0">
                <a:solidFill>
                  <a:srgbClr val="15191D"/>
                </a:solidFill>
              </a:defRPr>
            </a:pPr>
            <a:r>
              <a:rPr sz="1500" b="0">
                <a:solidFill>
                  <a:srgbClr val="15191D"/>
                </a:solidFill>
              </a:rPr>
              <a:t>Accept and fulfil bookings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F8595C-FCA8-4CF2-AE86-F18447A5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6578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557FF"/>
                </a:solidFill>
              </a:defRPr>
            </a:pPr>
            <a:r>
              <a:rPr sz="1425" b="1">
                <a:solidFill>
                  <a:srgbClr val="1557FF"/>
                </a:solidFill>
              </a:rPr>
              <a:t>ADMIN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4D449F-4C19-40CA-B40F-A04F336C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00075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5191D"/>
                </a:solidFill>
              </a:defRPr>
            </a:pPr>
            <a:r>
              <a:rPr sz="1500" b="0">
                <a:solidFill>
                  <a:srgbClr val="15191D"/>
                </a:solidFill>
              </a:rPr>
              <a:t>Review providers</a:t>
            </a:r>
          </a:p>
          <a:p xmlns:a="http://schemas.openxmlformats.org/drawingml/2006/main">
            <a:pPr>
              <a:defRPr sz="1500" b="0">
                <a:solidFill>
                  <a:srgbClr val="15191D"/>
                </a:solidFill>
              </a:defRPr>
            </a:pPr>
            <a:r>
              <a:rPr sz="1500" b="0">
                <a:solidFill>
                  <a:srgbClr val="15191D"/>
                </a:solidFill>
              </a:rPr>
              <a:t>Manage policies and disputes</a:t>
            </a:r>
          </a:p>
        </p:txBody>
      </p:sp>
    </p:spTree>
    <p:extLst>
      <p:ext uri="{BB962C8B-B14F-4D97-AF65-F5344CB8AC3E}">
        <p14:creationId xmlns:p14="http://schemas.microsoft.com/office/powerpoint/2010/main" val="3940816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764B65-9DDE-4B32-9BD8-6B6863A76A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2aeed36276400c"/>
          <a:stretch xmlns:a="http://schemas.openxmlformats.org/drawingml/2006/main"/>
        </p:blipFill>
        <p:spPr>
          <a:xfrm xmlns:a="http://schemas.openxmlformats.org/drawingml/2006/main">
            <a:off x="8958263" y="0"/>
            <a:ext cx="3228975" cy="21526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C736A-FDDE-4D3C-A489-E10089D5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9525">
            <a:solidFill>
              <a:srgbClr val="FFDA3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725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88739-70DD-40EA-811D-BFA31D9B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191D"/>
                </a:solidFill>
              </a:defRPr>
            </a:pPr>
            <a:r>
              <a:rPr sz="2700" b="1">
                <a:solidFill>
                  <a:srgbClr val="15191D"/>
                </a:solidFill>
              </a:rPr>
              <a:t>Agenda &amp; Project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0C7B2-926A-4749-9C26-47A532FD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FFDA3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F255B-4220-4CC7-8A3F-24CB454F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3565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565E"/>
                </a:solidFill>
              </a:defRPr>
            </a:pPr>
            <a:r>
              <a:rPr sz="1125" b="0">
                <a:solidFill>
                  <a:srgbClr val="53565E"/>
                </a:solidFill>
              </a:rPr>
              <a:t>Nearby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ABE8D-ECE0-465C-8012-0BB3F799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612C3-4FCF-49E9-8EAE-0670DF1E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191D"/>
                </a:solidFill>
              </a:defRPr>
            </a:pPr>
            <a:r>
              <a:rPr sz="2250" b="1">
                <a:solidFill>
                  <a:srgbClr val="15191D"/>
                </a:solidFill>
              </a:rPr>
              <a:t>Nearby connects customers with local providers through exact six-digit pincode discovery.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A0BE6-D780-4FA7-93F3-66DE50C4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557FF"/>
                </a:solidFill>
              </a:defRPr>
            </a:pPr>
            <a:r>
              <a:rPr sz="1950" b="1">
                <a:solidFill>
                  <a:srgbClr val="1557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9B6C3-6909-4897-A261-4C5A5FFA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622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191D"/>
                </a:solidFill>
              </a:defRPr>
            </a:pPr>
            <a:r>
              <a:rPr sz="1875" b="0">
                <a:solidFill>
                  <a:srgbClr val="15191D"/>
                </a:solidFill>
              </a:rPr>
              <a:t>Problem &amp; Proposed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76D57-D3DF-4CE3-9978-E08BFC68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523875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4C6C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8BB5F-DC55-4161-92F1-26B004F1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1375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557FF"/>
                </a:solidFill>
              </a:defRPr>
            </a:pPr>
            <a:r>
              <a:rPr sz="1950" b="1">
                <a:solidFill>
                  <a:srgbClr val="1557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032DE-64C0-4819-8A22-2C63EC5F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813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191D"/>
                </a:solidFill>
              </a:defRPr>
            </a:pPr>
            <a:r>
              <a:rPr sz="1875" b="0">
                <a:solidFill>
                  <a:srgbClr val="15191D"/>
                </a:solidFill>
              </a:rPr>
              <a:t>System Requirements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B7E97A-79D5-437E-AD50-793D1920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8575"/>
            <a:ext cx="523875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4C6C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F1B211-8DAA-4E4A-8F0F-8E7EECF1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557FF"/>
                </a:solidFill>
              </a:defRPr>
            </a:pPr>
            <a:r>
              <a:rPr sz="1950" b="1">
                <a:solidFill>
                  <a:srgbClr val="1557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9C372C-746E-424E-9801-01A7053E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191D"/>
                </a:solidFill>
              </a:defRPr>
            </a:pPr>
            <a:r>
              <a:rPr sz="1875" b="0">
                <a:solidFill>
                  <a:srgbClr val="15191D"/>
                </a:solidFill>
              </a:rPr>
              <a:t>Architecture &amp; Technology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B4D09F-B541-4767-96B1-4483A265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57700"/>
            <a:ext cx="523875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4C6C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B9DD43-8E41-4D9C-A22B-B22F0D23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9625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557FF"/>
                </a:solidFill>
              </a:defRPr>
            </a:pPr>
            <a:r>
              <a:rPr sz="1950" b="1">
                <a:solidFill>
                  <a:srgbClr val="1557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D8C95C-7048-44F4-8D25-6ACA407A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196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191D"/>
                </a:solidFill>
              </a:defRPr>
            </a:pPr>
            <a:r>
              <a:rPr sz="1875" b="0">
                <a:solidFill>
                  <a:srgbClr val="15191D"/>
                </a:solidFill>
              </a:rPr>
              <a:t>Customer, Provider &amp; Admin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8C13F6-25D7-40B9-8419-CEBC35D3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76825"/>
            <a:ext cx="523875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4C6C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CE3D1B-3458-4FB1-B2B3-E2483E58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557FF"/>
                </a:solidFill>
              </a:defRPr>
            </a:pPr>
            <a:r>
              <a:rPr sz="1950" b="1">
                <a:solidFill>
                  <a:srgbClr val="1557FF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EC6195-4E00-4AB7-8DB2-C0DC0670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38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191D"/>
                </a:solidFill>
              </a:defRPr>
            </a:pPr>
            <a:r>
              <a:rPr sz="1875" b="0">
                <a:solidFill>
                  <a:srgbClr val="15191D"/>
                </a:solidFill>
              </a:rPr>
              <a:t>Database Relationships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A5CAB8-5FA3-4FFA-AA4F-AFBFFE04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95950"/>
            <a:ext cx="523875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4C6C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252950-41C7-4170-B295-9511E41F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557FF"/>
                </a:solidFill>
              </a:defRPr>
            </a:pPr>
            <a:r>
              <a:rPr sz="1950" b="1">
                <a:solidFill>
                  <a:srgbClr val="1557FF"/>
                </a:solidFill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08C3EC-386B-4504-9BD0-6A85E63B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622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191D"/>
                </a:solidFill>
              </a:defRPr>
            </a:pPr>
            <a:r>
              <a:rPr sz="1875" b="0">
                <a:solidFill>
                  <a:srgbClr val="15191D"/>
                </a:solidFill>
              </a:rPr>
              <a:t>Modules &amp; Workspaces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5E12C5-A884-4D81-9A6E-EF5F43A6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19450"/>
            <a:ext cx="523875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4C6C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2E2EF2-4F4F-40BB-BE11-EA3B6629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557FF"/>
                </a:solidFill>
              </a:defRPr>
            </a:pPr>
            <a:r>
              <a:rPr sz="1950" b="1">
                <a:solidFill>
                  <a:srgbClr val="1557FF"/>
                </a:solidFill>
              </a:rPr>
              <a:t>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394752-B6E7-41B5-87F7-45F50B6B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813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191D"/>
                </a:solidFill>
              </a:defRPr>
            </a:pPr>
            <a:r>
              <a:rPr sz="1875" b="0">
                <a:solidFill>
                  <a:srgbClr val="15191D"/>
                </a:solidFill>
              </a:rPr>
              <a:t>Frontend &amp; Backend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ED6155-D69A-43F4-AA0B-CB5E51CE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38575"/>
            <a:ext cx="523875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4C6C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09E169-33BC-47AE-9FF7-B39DEFC5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557FF"/>
                </a:solidFill>
              </a:defRPr>
            </a:pPr>
            <a:r>
              <a:rPr sz="1950" b="1">
                <a:solidFill>
                  <a:srgbClr val="1557FF"/>
                </a:solidFill>
              </a:rPr>
              <a:t>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4A476D-57B2-4516-A634-125DAF1E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005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191D"/>
                </a:solidFill>
              </a:defRPr>
            </a:pPr>
            <a:r>
              <a:rPr sz="1875" b="0">
                <a:solidFill>
                  <a:srgbClr val="15191D"/>
                </a:solidFill>
              </a:rPr>
              <a:t>APIs &amp; Booking Workflow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DD3B14-44EF-4147-832F-75994221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523875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4C6CD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EA6BF7-C3C3-41E3-97AE-F46A3D64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19625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557FF"/>
                </a:solidFill>
              </a:defRPr>
            </a:pPr>
            <a:r>
              <a:rPr sz="1950" b="1">
                <a:solidFill>
                  <a:srgbClr val="1557FF"/>
                </a:solidFill>
              </a:rPr>
              <a:t>09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5DC5A7-2A3F-44EF-B269-FB3097B4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196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191D"/>
                </a:solidFill>
              </a:defRPr>
            </a:pPr>
            <a:r>
              <a:rPr sz="1875" b="0">
                <a:solidFill>
                  <a:srgbClr val="15191D"/>
                </a:solidFill>
              </a:rPr>
              <a:t>Challenges &amp; Limitations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133543-8516-48D3-B8D1-0472A990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76825"/>
            <a:ext cx="523875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4C6CD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5D523F-A7EB-4E64-A0BF-BAB69C37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38750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557FF"/>
                </a:solidFill>
              </a:defRPr>
            </a:pPr>
            <a:r>
              <a:rPr sz="1950" b="1">
                <a:solidFill>
                  <a:srgbClr val="1557FF"/>
                </a:solidFill>
              </a:rPr>
              <a:t>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A6F045-FC80-42D0-92D8-26F3412D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38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191D"/>
                </a:solidFill>
              </a:defRPr>
            </a:pPr>
            <a:r>
              <a:rPr sz="1875" b="0">
                <a:solidFill>
                  <a:srgbClr val="15191D"/>
                </a:solidFill>
              </a:rPr>
              <a:t>Conclusion &amp; Future Scope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D97E13-5B10-4747-94C5-3595C677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95950"/>
            <a:ext cx="5238750" cy="0"/>
          </a:xfrm>
          <a:prstGeom xmlns:a="http://schemas.openxmlformats.org/drawingml/2006/main" prst="line">
            <a:avLst/>
          </a:prstGeom>
          <a:ln xmlns:a="http://schemas.openxmlformats.org/drawingml/2006/main" w="12383">
            <a:solidFill>
              <a:srgbClr val="C4C6CD"/>
            </a:solidFill>
          </a:ln>
        </p:spPr>
      </p:sp>
    </p:spTree>
    <p:extLst>
      <p:ext uri="{BB962C8B-B14F-4D97-AF65-F5344CB8AC3E}">
        <p14:creationId xmlns:p14="http://schemas.microsoft.com/office/powerpoint/2010/main" val="18664185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5F03C-DFB1-4EA8-8F61-9EB18EE1B7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4e88a8e334d30"/>
          <a:stretch xmlns:a="http://schemas.openxmlformats.org/drawingml/2006/main"/>
        </p:blipFill>
        <p:spPr>
          <a:xfrm xmlns:a="http://schemas.openxmlformats.org/drawingml/2006/main">
            <a:off x="8958263" y="0"/>
            <a:ext cx="3228975" cy="21526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33847-1119-427A-BBC2-C1DBAF6A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9525">
            <a:solidFill>
              <a:srgbClr val="FFDA3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725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98D903-D73E-4274-A2FC-3D7D4F76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191D"/>
                </a:solidFill>
              </a:defRPr>
            </a:pPr>
            <a:r>
              <a:rPr sz="2700" b="1">
                <a:solidFill>
                  <a:srgbClr val="15191D"/>
                </a:solidFill>
              </a:rPr>
              <a:t>Problem &amp; Existing vs Proposed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2717F-7720-465A-AB4A-CD5A2183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FFDA3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651C0-1232-4DB4-BB4E-D2FF0374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3565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565E"/>
                </a:solidFill>
              </a:defRPr>
            </a:pPr>
            <a:r>
              <a:rPr sz="1125" b="0">
                <a:solidFill>
                  <a:srgbClr val="53565E"/>
                </a:solidFill>
              </a:rPr>
              <a:t>Nearby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9905E-D366-4F78-A40C-C98D97AF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03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ABC41-B366-4AC7-BF35-549F708B2A8E}"/>
              </a:ext>
            </a:extLst>
          </p:cNvPr>
          <p:cNvGraphicFramePr/>
          <p:nvPr/>
        </p:nvGraphicFramePr>
        <p:xfrm>
          <a:off xmlns:a="http://schemas.openxmlformats.org/drawingml/2006/main" x="571500" y="1638300"/>
          <a:ext xmlns:a="http://schemas.openxmlformats.org/drawingml/2006/main" cx="11049000" cy="4324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5810250"/>
              </a:tblGrid>
              <a:tr h="720725"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15191D"/>
                          </a:solidFill>
                        </a:rPr>
                        <a:t>Fragmented Service Process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2E5"/>
                      </a:solidFill>
                      <a:prstDash val="solid"/>
                    </a:lnL>
                    <a:lnR w="9525">
                      <a:solidFill>
                        <a:srgbClr val="E1E2E5"/>
                      </a:solidFill>
                      <a:prstDash val="solid"/>
                    </a:lnR>
                    <a:lnT w="9525">
                      <a:solidFill>
                        <a:srgbClr val="E1E2E5"/>
                      </a:solidFill>
                      <a:prstDash val="solid"/>
                    </a:lnT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DA3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15191D"/>
                          </a:solidFill>
                        </a:rPr>
                        <a:t>Nearby Platform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T w="9525">
                      <a:solidFill>
                        <a:srgbClr val="E1E2E5"/>
                      </a:solidFill>
                      <a:prstDash val="solid"/>
                    </a:lnT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DA35"/>
                    </a:solidFill>
                  </a:tcPr>
                </a:tc>
              </a:tr>
              <a:tr h="72072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5191D"/>
                          </a:solidFill>
                        </a:rPr>
                        <a:t>Search across listings and contacts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2E5"/>
                      </a:solidFill>
                      <a:prstDash val="solid"/>
                    </a:lnL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5191D"/>
                          </a:solidFill>
                        </a:rPr>
                        <a:t>Discover services by exact pincode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072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5191D"/>
                          </a:solidFill>
                        </a:rPr>
                        <a:t>Confirm coverage through calls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2E5"/>
                      </a:solidFill>
                      <a:prstDash val="solid"/>
                    </a:lnL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5191D"/>
                          </a:solidFill>
                        </a:rPr>
                        <a:t>Check published service areas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072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5191D"/>
                          </a:solidFill>
                        </a:rPr>
                        <a:t>Arrange time through separate chats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2E5"/>
                      </a:solidFill>
                      <a:prstDash val="solid"/>
                    </a:lnL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5191D"/>
                          </a:solidFill>
                        </a:rPr>
                        <a:t>Request a published availability slot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072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5191D"/>
                          </a:solidFill>
                        </a:rPr>
                        <a:t>Track booking and payment separately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2E5"/>
                      </a:solidFill>
                      <a:prstDash val="solid"/>
                    </a:lnL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5191D"/>
                          </a:solidFill>
                        </a:rPr>
                        <a:t>Manage booking and INR checkout together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072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5191D"/>
                          </a:solidFill>
                        </a:rPr>
                        <a:t>Resolve issues through informal follow-up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2E5"/>
                      </a:solidFill>
                      <a:prstDash val="solid"/>
                    </a:lnL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5191D"/>
                          </a:solidFill>
                        </a:rPr>
                        <a:t>Use booking-linked chat, reviews and disputes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6097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5B5131-6C26-4179-967D-17A8611681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a11adb540d424b"/>
          <a:stretch xmlns:a="http://schemas.openxmlformats.org/drawingml/2006/main"/>
        </p:blipFill>
        <p:spPr>
          <a:xfrm xmlns:a="http://schemas.openxmlformats.org/drawingml/2006/main">
            <a:off x="8958263" y="0"/>
            <a:ext cx="3228975" cy="21526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9951A-23B5-43CB-AF55-67A930AD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9525">
            <a:solidFill>
              <a:srgbClr val="FFDA3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725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B7530-0F05-4087-8FFE-6B3611AD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191D"/>
                </a:solidFill>
              </a:defRPr>
            </a:pPr>
            <a:r>
              <a:rPr sz="2700" b="1">
                <a:solidFill>
                  <a:srgbClr val="15191D"/>
                </a:solidFill>
              </a:rPr>
              <a:t>Functional &amp; Non-Functional Requirements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7A8C7-74DB-4BDF-AF73-F8239886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FFDA3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09F3B-A9FA-4917-832A-B4210F48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3565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565E"/>
                </a:solidFill>
              </a:defRPr>
            </a:pPr>
            <a:r>
              <a:rPr sz="1125" b="0">
                <a:solidFill>
                  <a:srgbClr val="53565E"/>
                </a:solidFill>
              </a:rPr>
              <a:t>Nearby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4F8F0-7169-4982-86D4-8DDCDDA3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F9E8F-E142-4D3A-820C-FC42C63F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906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5191D"/>
                </a:solidFill>
              </a:defRPr>
            </a:pPr>
            <a:r>
              <a:rPr sz="2100" b="1">
                <a:solidFill>
                  <a:srgbClr val="15191D"/>
                </a:solidFill>
              </a:rPr>
              <a:t>Functional Requirements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AAFC0-1E20-4A44-AD50-6836CBF9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CD2A5F-0D70-4476-9A05-470116DB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468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191D"/>
                </a:solidFill>
              </a:defRPr>
            </a:pPr>
            <a:r>
              <a:rPr sz="1650" b="0">
                <a:solidFill>
                  <a:srgbClr val="15191D"/>
                </a:solidFill>
              </a:rPr>
              <a:t>Login for customer, provider and admin roles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0C888F-5F2C-4D72-B517-B63AC35A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955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3DE18-4498-41CE-9A17-DC5CA144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95575"/>
            <a:ext cx="468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191D"/>
                </a:solidFill>
              </a:defRPr>
            </a:pPr>
            <a:r>
              <a:rPr sz="1650" b="0">
                <a:solidFill>
                  <a:srgbClr val="15191D"/>
                </a:solidFill>
              </a:rPr>
              <a:t>Search services by six-digit pincode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C88E69-8131-47BB-A332-E5AEDE44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CBC0A4-D742-4095-BF73-3BF45BD6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468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191D"/>
                </a:solidFill>
              </a:defRPr>
            </a:pPr>
            <a:r>
              <a:rPr sz="1650" b="0">
                <a:solidFill>
                  <a:srgbClr val="15191D"/>
                </a:solidFill>
              </a:rPr>
              <a:t>Manage provider profiles and service listings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788BBB-C027-42BA-B1A0-75DF280F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433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34E77-4C7D-4BD3-A7C7-8CA7DAD4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43325"/>
            <a:ext cx="468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191D"/>
                </a:solidFill>
              </a:defRPr>
            </a:pPr>
            <a:r>
              <a:rPr sz="1650" b="0">
                <a:solidFill>
                  <a:srgbClr val="15191D"/>
                </a:solidFill>
              </a:rPr>
              <a:t>Publish availability and request bookings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326D41-4408-4D4C-B4F2-2BF1CA44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F3AC7C-E01D-4D04-B854-97952426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468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191D"/>
                </a:solidFill>
              </a:defRPr>
            </a:pPr>
            <a:r>
              <a:rPr sz="1650" b="0">
                <a:solidFill>
                  <a:srgbClr val="15191D"/>
                </a:solidFill>
              </a:rPr>
              <a:t>Accept requests before customer checkout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79FB9F-DC5D-4555-B1DD-EB4A88F9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910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D0D976-8620-40AF-BB21-C25E3F1C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91075"/>
            <a:ext cx="468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191D"/>
                </a:solidFill>
              </a:defRPr>
            </a:pPr>
            <a:r>
              <a:rPr sz="1650" b="0">
                <a:solidFill>
                  <a:srgbClr val="15191D"/>
                </a:solidFill>
              </a:rPr>
              <a:t>Exchange booking-linked messages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8E1643-7FAB-4701-874E-46D1D1C1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49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5EB526-D9E1-4C2A-923D-CE89A4EB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468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191D"/>
                </a:solidFill>
              </a:defRPr>
            </a:pPr>
            <a:r>
              <a:rPr sz="1650" b="0">
                <a:solidFill>
                  <a:srgbClr val="15191D"/>
                </a:solidFill>
              </a:rPr>
              <a:t>Submit reviews and raise disputes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8F54EE-EC6D-476F-ACCC-FED3555F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66875"/>
            <a:ext cx="0" cy="43815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FDA3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E1B244-CD55-4E53-BAED-1E017206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906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5191D"/>
                </a:solidFill>
              </a:defRPr>
            </a:pPr>
            <a:r>
              <a:rPr sz="2100" b="1">
                <a:solidFill>
                  <a:srgbClr val="15191D"/>
                </a:solidFill>
              </a:rPr>
              <a:t>Non-Functional Requirements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BA2109-DEAF-4F0B-8692-E37D7027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57FF"/>
                </a:solidFill>
              </a:defRPr>
            </a:pPr>
            <a:r>
              <a:rPr sz="1650" b="1">
                <a:solidFill>
                  <a:srgbClr val="1557FF"/>
                </a:solidFill>
              </a:rPr>
              <a:t>Security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187AFB-9839-4074-98F8-CEB92131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288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5191D"/>
                </a:solidFill>
              </a:defRPr>
            </a:pPr>
            <a:r>
              <a:rPr sz="1575" b="0">
                <a:solidFill>
                  <a:srgbClr val="15191D"/>
                </a:solidFill>
              </a:rPr>
              <a:t>JWT, hashed passwords and role checks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2BCAB6-EB08-4B01-8FD4-93B2D7BB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57FF"/>
                </a:solidFill>
              </a:defRPr>
            </a:pPr>
            <a:r>
              <a:rPr sz="1650" b="1">
                <a:solidFill>
                  <a:srgbClr val="1557FF"/>
                </a:solidFill>
              </a:rPr>
              <a:t>Usability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BD856F-4EFB-44F1-9155-DD8D6E2A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765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5191D"/>
                </a:solidFill>
              </a:defRPr>
            </a:pPr>
            <a:r>
              <a:rPr sz="1575" b="0">
                <a:solidFill>
                  <a:srgbClr val="15191D"/>
                </a:solidFill>
              </a:rPr>
              <a:t>Responsive pages and role-based navigation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F05572-D3B8-4B01-B3F6-18B0A917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480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57FF"/>
                </a:solidFill>
              </a:defRPr>
            </a:pPr>
            <a:r>
              <a:rPr sz="1650" b="1">
                <a:solidFill>
                  <a:srgbClr val="1557FF"/>
                </a:solidFill>
              </a:rPr>
              <a:t>Integrity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BE567D-0309-4E07-A565-CE8B00C9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242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5191D"/>
                </a:solidFill>
              </a:defRPr>
            </a:pPr>
            <a:r>
              <a:rPr sz="1575" b="0">
                <a:solidFill>
                  <a:srgbClr val="15191D"/>
                </a:solidFill>
              </a:rPr>
              <a:t>Validated fields and unique booking records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AF263F-9C6D-4922-BF32-2B458F75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57FF"/>
                </a:solidFill>
              </a:defRPr>
            </a:pPr>
            <a:r>
              <a:rPr sz="1650" b="1">
                <a:solidFill>
                  <a:srgbClr val="1557FF"/>
                </a:solidFill>
              </a:rPr>
              <a:t>Performance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6F9320-25ED-4FEB-A52B-2C322CCA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719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5191D"/>
                </a:solidFill>
              </a:defRPr>
            </a:pPr>
            <a:r>
              <a:rPr sz="1575" b="0">
                <a:solidFill>
                  <a:srgbClr val="15191D"/>
                </a:solidFill>
              </a:rPr>
              <a:t>Indexed searches and paginated results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19592C-4201-40AC-B1DC-38332BF0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434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57FF"/>
                </a:solidFill>
              </a:defRPr>
            </a:pPr>
            <a:r>
              <a:rPr sz="1650" b="1">
                <a:solidFill>
                  <a:srgbClr val="1557FF"/>
                </a:solidFill>
              </a:rPr>
              <a:t>Maintainability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88C099-ABA3-4BCB-880E-28465FA9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96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5191D"/>
                </a:solidFill>
              </a:defRPr>
            </a:pPr>
            <a:r>
              <a:rPr sz="1575" b="0">
                <a:solidFill>
                  <a:srgbClr val="15191D"/>
                </a:solidFill>
              </a:rPr>
              <a:t>Modular API routes and Mongoose models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633369-B2E8-41B6-8D77-92C4C520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911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57FF"/>
                </a:solidFill>
              </a:defRPr>
            </a:pPr>
            <a:r>
              <a:rPr sz="1650" b="1">
                <a:solidFill>
                  <a:srgbClr val="1557FF"/>
                </a:solidFill>
              </a:rPr>
              <a:t>Reliability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C96FF3-5F98-453D-BABE-A5B073C9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673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5191D"/>
                </a:solidFill>
              </a:defRPr>
            </a:pPr>
            <a:r>
              <a:rPr sz="1575" b="0">
                <a:solidFill>
                  <a:srgbClr val="15191D"/>
                </a:solidFill>
              </a:rPr>
              <a:t>Database health checks and signed webhooks</a:t>
            </a:r>
          </a:p>
        </p:txBody>
      </p:sp>
    </p:spTree>
    <p:extLst>
      <p:ext uri="{BB962C8B-B14F-4D97-AF65-F5344CB8AC3E}">
        <p14:creationId xmlns:p14="http://schemas.microsoft.com/office/powerpoint/2010/main" val="6767907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ED8DE8-BD85-4712-B668-8E8BE8DDBD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d4bf4970d4492"/>
          <a:stretch xmlns:a="http://schemas.openxmlformats.org/drawingml/2006/main"/>
        </p:blipFill>
        <p:spPr>
          <a:xfrm xmlns:a="http://schemas.openxmlformats.org/drawingml/2006/main">
            <a:off x="8958263" y="0"/>
            <a:ext cx="3228975" cy="21526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D2035-F1B4-47BC-ABC2-64400B07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9525">
            <a:solidFill>
              <a:srgbClr val="FFDA3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725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CE06C-F0DE-4B06-BAF7-8CF25EE0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191D"/>
                </a:solidFill>
              </a:defRPr>
            </a:pPr>
            <a:r>
              <a:rPr sz="2700" b="1">
                <a:solidFill>
                  <a:srgbClr val="15191D"/>
                </a:solidFill>
              </a:rPr>
              <a:t>System Architecture &amp; Technology Stack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84FA4-83B0-43E4-9D85-03A4E4B6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FFDA3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8154D-0190-403A-A3D7-184FF5C0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3565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565E"/>
                </a:solidFill>
              </a:defRPr>
            </a:pPr>
            <a:r>
              <a:rPr sz="1125" b="0">
                <a:solidFill>
                  <a:srgbClr val="53565E"/>
                </a:solidFill>
              </a:rPr>
              <a:t>Nearby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6BFCE-6602-4DDD-A184-509029AB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5DFFC-7470-4521-B3BF-4E0177EB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3095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9525">
            <a:solidFill>
              <a:srgbClr val="FFDA3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725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191D"/>
                </a:solidFill>
              </a:defRPr>
            </a:pPr>
            <a:r>
              <a:rPr sz="1725" b="1">
                <a:solidFill>
                  <a:srgbClr val="15191D"/>
                </a:solidFill>
              </a:rPr>
              <a:t>Presentation Tier</a:t>
            </a:r>
          </a:p>
          <a:p xmlns:a="http://schemas.openxmlformats.org/drawingml/2006/main">
            <a:pPr algn="ctr">
              <a:defRPr sz="1725" b="1">
                <a:solidFill>
                  <a:srgbClr val="15191D"/>
                </a:solidFill>
              </a:defRPr>
            </a:pPr>
            <a:r>
              <a:rPr sz="1725" b="1">
                <a:solidFill>
                  <a:srgbClr val="15191D"/>
                </a:solidFill>
              </a:rPr>
              <a:t>React + Vite + Tailwind CSS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B1398-A744-4553-9AB5-E4B98999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952625"/>
            <a:ext cx="3095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9525">
            <a:solidFill>
              <a:srgbClr val="FFDA3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725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191D"/>
                </a:solidFill>
              </a:defRPr>
            </a:pPr>
            <a:r>
              <a:rPr sz="1725" b="1">
                <a:solidFill>
                  <a:srgbClr val="15191D"/>
                </a:solidFill>
              </a:rPr>
              <a:t>Application Tier</a:t>
            </a:r>
          </a:p>
          <a:p xmlns:a="http://schemas.openxmlformats.org/drawingml/2006/main">
            <a:pPr algn="ctr">
              <a:defRPr sz="1725" b="1">
                <a:solidFill>
                  <a:srgbClr val="15191D"/>
                </a:solidFill>
              </a:defRPr>
            </a:pPr>
            <a:r>
              <a:rPr sz="1725" b="1">
                <a:solidFill>
                  <a:srgbClr val="15191D"/>
                </a:solidFill>
              </a:rPr>
              <a:t>Node.js + Express</a:t>
            </a:r>
          </a:p>
          <a:p xmlns:a="http://schemas.openxmlformats.org/drawingml/2006/main">
            <a:pPr algn="ctr">
              <a:defRPr sz="1725" b="1">
                <a:solidFill>
                  <a:srgbClr val="15191D"/>
                </a:solidFill>
              </a:defRPr>
            </a:pPr>
            <a:r>
              <a:rPr sz="1725" b="1">
                <a:solidFill>
                  <a:srgbClr val="15191D"/>
                </a:solidFill>
              </a:rPr>
              <a:t>JWT + REST APIs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9D6F8-6DB7-4369-9CFD-C867BA43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52625"/>
            <a:ext cx="3095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9525">
            <a:solidFill>
              <a:srgbClr val="FFDA3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725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191D"/>
                </a:solidFill>
              </a:defRPr>
            </a:pPr>
            <a:r>
              <a:rPr sz="1725" b="1">
                <a:solidFill>
                  <a:srgbClr val="15191D"/>
                </a:solidFill>
              </a:rPr>
              <a:t>Data Tier</a:t>
            </a:r>
          </a:p>
          <a:p xmlns:a="http://schemas.openxmlformats.org/drawingml/2006/main">
            <a:pPr algn="ctr">
              <a:defRPr sz="1725" b="1">
                <a:solidFill>
                  <a:srgbClr val="15191D"/>
                </a:solidFill>
              </a:defRPr>
            </a:pPr>
            <a:r>
              <a:rPr sz="1725" b="1">
                <a:solidFill>
                  <a:srgbClr val="15191D"/>
                </a:solidFill>
              </a:rPr>
              <a:t>MongoDB + Mongoose</a:t>
            </a:r>
          </a:p>
          <a:p xmlns:a="http://schemas.openxmlformats.org/drawingml/2006/main">
            <a:pPr algn="ctr">
              <a:defRPr sz="1725" b="1">
                <a:solidFill>
                  <a:srgbClr val="15191D"/>
                </a:solidFill>
              </a:defRPr>
            </a:pPr>
            <a:r>
              <a:rPr sz="1725" b="1">
                <a:solidFill>
                  <a:srgbClr val="15191D"/>
                </a:solidFill>
              </a:rPr>
              <a:t>Referenced collections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0DFCE-CF92-4998-8AD2-57E211E0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43175"/>
            <a:ext cx="8763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557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EA198-6931-4549-96EC-F3FF5D53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43175"/>
            <a:ext cx="8858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557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C26CC-9F44-4130-BC04-1F6377CF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124075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557FF"/>
                </a:solidFill>
              </a:defRPr>
            </a:pPr>
            <a:r>
              <a:rPr sz="1200" b="0">
                <a:solidFill>
                  <a:srgbClr val="1557FF"/>
                </a:solidFill>
              </a:rPr>
              <a:t>HTTPS / 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CB9EAF-572E-4413-8406-3353F59D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124075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557FF"/>
                </a:solidFill>
              </a:defRPr>
            </a:pPr>
            <a:r>
              <a:rPr sz="1275" b="0">
                <a:solidFill>
                  <a:srgbClr val="1557FF"/>
                </a:solidFill>
              </a:rPr>
              <a:t>Queries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937393-39B4-42F9-AB18-5DC6ACC8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0" cy="7143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557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6F725A-7783-4E5C-837D-04387E22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57625"/>
            <a:ext cx="79533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557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D455C1-7EEA-4F8D-885A-BB2D5746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57625"/>
            <a:ext cx="0" cy="3048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557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0A6DC9-AB35-4A3C-BB50-1283C1E1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62425"/>
            <a:ext cx="3095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725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191D"/>
                </a:solidFill>
              </a:defRPr>
            </a:pPr>
            <a:r>
              <a:rPr sz="1725" b="1">
                <a:solidFill>
                  <a:srgbClr val="15191D"/>
                </a:solidFill>
              </a:rPr>
              <a:t>Socket.IO</a:t>
            </a:r>
          </a:p>
          <a:p xmlns:a="http://schemas.openxmlformats.org/drawingml/2006/main">
            <a:pPr algn="ctr">
              <a:defRPr sz="1725" b="1">
                <a:solidFill>
                  <a:srgbClr val="15191D"/>
                </a:solidFill>
              </a:defRPr>
            </a:pPr>
            <a:r>
              <a:rPr sz="1725" b="1">
                <a:solidFill>
                  <a:srgbClr val="15191D"/>
                </a:solidFill>
              </a:rPr>
              <a:t>Booking-linked live chat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4A5595-D360-4342-82DA-4228D25A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857625"/>
            <a:ext cx="0" cy="3048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557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44FF22-8505-4190-98F6-E09F194C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62425"/>
            <a:ext cx="3095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725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191D"/>
                </a:solidFill>
              </a:defRPr>
            </a:pPr>
            <a:r>
              <a:rPr sz="1725" b="1">
                <a:solidFill>
                  <a:srgbClr val="15191D"/>
                </a:solidFill>
              </a:rPr>
              <a:t>Razorpay Checkout + Route</a:t>
            </a:r>
          </a:p>
          <a:p xmlns:a="http://schemas.openxmlformats.org/drawingml/2006/main">
            <a:pPr algn="ctr">
              <a:defRPr sz="1725" b="1">
                <a:solidFill>
                  <a:srgbClr val="15191D"/>
                </a:solidFill>
              </a:defRPr>
            </a:pPr>
            <a:r>
              <a:rPr sz="1725" b="1">
                <a:solidFill>
                  <a:srgbClr val="15191D"/>
                </a:solidFill>
              </a:rPr>
              <a:t>Payments and provider transfers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4F5D83-F289-4E93-ADB6-84692BF2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857625"/>
            <a:ext cx="0" cy="3048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557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07CE53-C835-4B2A-BEE7-200720EE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62425"/>
            <a:ext cx="3095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725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191D"/>
                </a:solidFill>
              </a:defRPr>
            </a:pPr>
            <a:r>
              <a:rPr sz="1725" b="1">
                <a:solidFill>
                  <a:srgbClr val="15191D"/>
                </a:solidFill>
              </a:rPr>
              <a:t>KYC vendor + Email</a:t>
            </a:r>
          </a:p>
          <a:p xmlns:a="http://schemas.openxmlformats.org/drawingml/2006/main">
            <a:pPr algn="ctr">
              <a:defRPr sz="1725" b="1">
                <a:solidFill>
                  <a:srgbClr val="15191D"/>
                </a:solidFill>
              </a:defRPr>
            </a:pPr>
            <a:r>
              <a:rPr sz="1725" b="1">
                <a:solidFill>
                  <a:srgbClr val="15191D"/>
                </a:solidFill>
              </a:rPr>
              <a:t>External service adapters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715AA6-F582-478B-87B6-D252C443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3565E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565E"/>
                </a:solidFill>
              </a:defRPr>
            </a:pPr>
            <a:r>
              <a:rPr sz="1800" b="0">
                <a:solidFill>
                  <a:srgbClr val="53565E"/>
                </a:solidFill>
              </a:rPr>
              <a:t>Production payments and KYC require configured external accounts and vendor approval.</a:t>
            </a:r>
          </a:p>
        </p:txBody>
      </p:sp>
    </p:spTree>
    <p:extLst>
      <p:ext uri="{BB962C8B-B14F-4D97-AF65-F5344CB8AC3E}">
        <p14:creationId xmlns:p14="http://schemas.microsoft.com/office/powerpoint/2010/main" val="8494014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08BD95-E842-4030-AC3F-DB678CD647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fcbd029cff4f93"/>
          <a:stretch xmlns:a="http://schemas.openxmlformats.org/drawingml/2006/main"/>
        </p:blipFill>
        <p:spPr>
          <a:xfrm xmlns:a="http://schemas.openxmlformats.org/drawingml/2006/main">
            <a:off x="8958263" y="0"/>
            <a:ext cx="3228975" cy="21526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9FD1D-3A00-4278-946E-B4E2321D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9525">
            <a:solidFill>
              <a:srgbClr val="FFDA3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725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B02AD-A8BE-4185-8803-B8115022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191D"/>
                </a:solidFill>
              </a:defRPr>
            </a:pPr>
            <a:r>
              <a:rPr sz="2700" b="1">
                <a:solidFill>
                  <a:srgbClr val="15191D"/>
                </a:solidFill>
              </a:rPr>
              <a:t>Use Cases: Customer, Provider &amp; Admin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FC3BE-B9FC-4B57-9F27-FE31D956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FFDA3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C3FB6-71BA-48D8-A48D-62F9093E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3565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565E"/>
                </a:solidFill>
              </a:defRPr>
            </a:pPr>
            <a:r>
              <a:rPr sz="1125" b="0">
                <a:solidFill>
                  <a:srgbClr val="53565E"/>
                </a:solidFill>
              </a:rPr>
              <a:t>Nearby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39C02-9435-467F-968D-754F141D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F558AF-BC3D-44C9-B8E9-9D21D364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21431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9525">
            <a:solidFill>
              <a:srgbClr val="FFDA3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1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5191D"/>
                </a:solidFill>
              </a:defRPr>
            </a:pPr>
            <a:r>
              <a:rPr sz="2100" b="1">
                <a:solidFill>
                  <a:srgbClr val="15191D"/>
                </a:solidFill>
              </a:rPr>
              <a:t>Customer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B76FA-6420-48FF-9B42-EDE044E9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257425"/>
            <a:ext cx="666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557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1D4B1-DD4C-462E-8A99-DA54E1A2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145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191D"/>
                </a:solidFill>
              </a:defRPr>
            </a:pPr>
            <a:r>
              <a:rPr sz="1950" b="0">
                <a:solidFill>
                  <a:srgbClr val="15191D"/>
                </a:solidFill>
              </a:rPr>
              <a:t>Discover services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9C70F-A983-4992-9429-41D2AF1A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8597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191D"/>
                </a:solidFill>
              </a:defRPr>
            </a:pPr>
            <a:r>
              <a:rPr sz="1950" b="0">
                <a:solidFill>
                  <a:srgbClr val="15191D"/>
                </a:solidFill>
              </a:rPr>
              <a:t>Request and pay for bookings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657384-61BA-4387-9A3C-B8D671D2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5745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191D"/>
                </a:solidFill>
              </a:defRPr>
            </a:pPr>
            <a:r>
              <a:rPr sz="1950" b="0">
                <a:solidFill>
                  <a:srgbClr val="15191D"/>
                </a:solidFill>
              </a:rPr>
              <a:t>Chat, review and raise disputes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7FBABC-34BF-4B2C-ACEA-F0181A3A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9925"/>
            <a:ext cx="21431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9525">
            <a:solidFill>
              <a:srgbClr val="FFDA3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1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5191D"/>
                </a:solidFill>
              </a:defRPr>
            </a:pPr>
            <a:r>
              <a:rPr sz="2100" b="1">
                <a:solidFill>
                  <a:srgbClr val="15191D"/>
                </a:solidFill>
              </a:rPr>
              <a:t>Provider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AB21F3-9868-4514-8693-9EAC48B6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705225"/>
            <a:ext cx="666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557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7D097-186F-4D53-ACC1-476F8049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623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191D"/>
                </a:solidFill>
              </a:defRPr>
            </a:pPr>
            <a:r>
              <a:rPr sz="1950" b="0">
                <a:solidFill>
                  <a:srgbClr val="15191D"/>
                </a:solidFill>
              </a:rPr>
              <a:t>Maintain profile and listings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B9E69-DE56-47D6-BAEF-B767D4BE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3377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191D"/>
                </a:solidFill>
              </a:defRPr>
            </a:pPr>
            <a:r>
              <a:rPr sz="1950" b="0">
                <a:solidFill>
                  <a:srgbClr val="15191D"/>
                </a:solidFill>
              </a:rPr>
              <a:t>Publish availability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3AB175-FDDA-41AA-9922-A5A7E911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0525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191D"/>
                </a:solidFill>
              </a:defRPr>
            </a:pPr>
            <a:r>
              <a:rPr sz="1950" b="0">
                <a:solidFill>
                  <a:srgbClr val="15191D"/>
                </a:solidFill>
              </a:rPr>
              <a:t>Accept and complete bookings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0AF8C8-1692-498F-A2E5-2BFB26EB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57725"/>
            <a:ext cx="21431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9525">
            <a:solidFill>
              <a:srgbClr val="FFDA3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1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5191D"/>
                </a:solidFill>
              </a:defRPr>
            </a:pPr>
            <a:r>
              <a:rPr sz="2100" b="1">
                <a:solidFill>
                  <a:srgbClr val="15191D"/>
                </a:solidFill>
              </a:rPr>
              <a:t>Admin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8327EF-A834-4D89-80FF-32CF99FF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153025"/>
            <a:ext cx="666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557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5D8D1A-C816-4ACC-AEA9-A7FA31E1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101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191D"/>
                </a:solidFill>
              </a:defRPr>
            </a:pPr>
            <a:r>
              <a:rPr sz="1950" b="0">
                <a:solidFill>
                  <a:srgbClr val="15191D"/>
                </a:solidFill>
              </a:rPr>
              <a:t>Review provider status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93F8B2-050F-4292-B8BB-3CDE4622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8157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191D"/>
                </a:solidFill>
              </a:defRPr>
            </a:pPr>
            <a:r>
              <a:rPr sz="1950" b="0">
                <a:solidFill>
                  <a:srgbClr val="15191D"/>
                </a:solidFill>
              </a:rPr>
              <a:t>Configure marketplace policies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BB14CF-C693-44BD-B1D5-E0535364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5305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191D"/>
                </a:solidFill>
              </a:defRPr>
            </a:pPr>
            <a:r>
              <a:rPr sz="1950" b="0">
                <a:solidFill>
                  <a:srgbClr val="15191D"/>
                </a:solidFill>
              </a:rPr>
              <a:t>Resolve disputes and refunds</a:t>
            </a:r>
          </a:p>
        </p:txBody>
      </p:sp>
    </p:spTree>
    <p:extLst>
      <p:ext uri="{BB962C8B-B14F-4D97-AF65-F5344CB8AC3E}">
        <p14:creationId xmlns:p14="http://schemas.microsoft.com/office/powerpoint/2010/main" val="14401002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9E962D-7881-4999-AA8E-F1CB7B8A95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1d4483fca4ebe"/>
          <a:stretch xmlns:a="http://schemas.openxmlformats.org/drawingml/2006/main"/>
        </p:blipFill>
        <p:spPr>
          <a:xfrm xmlns:a="http://schemas.openxmlformats.org/drawingml/2006/main">
            <a:off x="8958263" y="0"/>
            <a:ext cx="3228975" cy="21526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BC73D-AC92-4764-AE9E-9CE0A276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9525">
            <a:solidFill>
              <a:srgbClr val="FFDA3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725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042AA-E841-4AA8-A718-DB5FD5AD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191D"/>
                </a:solidFill>
              </a:defRPr>
            </a:pPr>
            <a:r>
              <a:rPr sz="2700" b="1">
                <a:solidFill>
                  <a:srgbClr val="15191D"/>
                </a:solidFill>
              </a:rPr>
              <a:t>Database Design &amp; Key Relationships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89EF6-3E6E-4478-9927-013D667B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FFDA3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E11E2-90A7-44CB-88FB-12E6B300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3565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565E"/>
                </a:solidFill>
              </a:defRPr>
            </a:pPr>
            <a:r>
              <a:rPr sz="1125" b="0">
                <a:solidFill>
                  <a:srgbClr val="53565E"/>
                </a:solidFill>
              </a:rPr>
              <a:t>Nearby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FDFD8F-E5DF-4D88-A389-87C8231E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18CA3-2C46-4516-A126-23F4C178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266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9525">
            <a:solidFill>
              <a:srgbClr val="FFDA3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725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191D"/>
                </a:solidFill>
              </a:defRPr>
            </a:pPr>
            <a:r>
              <a:rPr sz="1725" b="1">
                <a:solidFill>
                  <a:srgbClr val="15191D"/>
                </a:solidFill>
              </a:rPr>
              <a:t>User</a:t>
            </a:r>
          </a:p>
          <a:p xmlns:a="http://schemas.openxmlformats.org/drawingml/2006/main">
            <a:pPr algn="ctr">
              <a:defRPr sz="1725" b="1">
                <a:solidFill>
                  <a:srgbClr val="15191D"/>
                </a:solidFill>
              </a:defRPr>
            </a:pPr>
            <a:r>
              <a:rPr sz="1725" b="1">
                <a:solidFill>
                  <a:srgbClr val="15191D"/>
                </a:solidFill>
              </a:rPr>
              <a:t>name, email, 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00380-F14C-4AC6-A956-8F8519EE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00200"/>
            <a:ext cx="2952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9525">
            <a:solidFill>
              <a:srgbClr val="FFDA3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725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191D"/>
                </a:solidFill>
              </a:defRPr>
            </a:pPr>
            <a:r>
              <a:rPr sz="1725" b="1">
                <a:solidFill>
                  <a:srgbClr val="15191D"/>
                </a:solidFill>
              </a:rPr>
              <a:t>ProviderProfile</a:t>
            </a:r>
          </a:p>
          <a:p xmlns:a="http://schemas.openxmlformats.org/drawingml/2006/main">
            <a:pPr algn="ctr">
              <a:defRPr sz="1725" b="1">
                <a:solidFill>
                  <a:srgbClr val="15191D"/>
                </a:solidFill>
              </a:defRPr>
            </a:pPr>
            <a:r>
              <a:rPr sz="1725" b="1">
                <a:solidFill>
                  <a:srgbClr val="15191D"/>
                </a:solidFill>
              </a:rPr>
              <a:t>user, servicePincodes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A25AA2-98A1-4100-BAC9-E62D32E1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00200"/>
            <a:ext cx="266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9525">
            <a:solidFill>
              <a:srgbClr val="FFDA3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725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191D"/>
                </a:solidFill>
              </a:defRPr>
            </a:pPr>
            <a:r>
              <a:rPr sz="1725" b="1">
                <a:solidFill>
                  <a:srgbClr val="15191D"/>
                </a:solidFill>
              </a:rPr>
              <a:t>Service</a:t>
            </a:r>
          </a:p>
          <a:p xmlns:a="http://schemas.openxmlformats.org/drawingml/2006/main">
            <a:pPr algn="ctr">
              <a:defRPr sz="1725" b="1">
                <a:solidFill>
                  <a:srgbClr val="15191D"/>
                </a:solidFill>
              </a:defRPr>
            </a:pPr>
            <a:r>
              <a:rPr sz="1725" b="1">
                <a:solidFill>
                  <a:srgbClr val="15191D"/>
                </a:solidFill>
              </a:rPr>
              <a:t>provider, pricePaise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C1D915-6856-46FC-A191-A94B0A38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09775"/>
            <a:ext cx="13811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557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24153-71DA-4C76-8A76-66753A47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09775"/>
            <a:ext cx="13811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557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E5F8D5-B961-465F-A4CB-348769A2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57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557FF"/>
                </a:solidFill>
              </a:defRPr>
            </a:pPr>
            <a:r>
              <a:rPr sz="1350" b="0">
                <a:solidFill>
                  <a:srgbClr val="1557FF"/>
                </a:solidFill>
              </a:rPr>
              <a:t>1 to 0..1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3A18F3-85A4-4157-9416-72407E33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573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557FF"/>
                </a:solidFill>
              </a:defRPr>
            </a:pPr>
            <a:r>
              <a:rPr sz="1350" b="0">
                <a:solidFill>
                  <a:srgbClr val="1557FF"/>
                </a:solidFill>
              </a:rPr>
              <a:t>1 to many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A90DC1-52EB-4FB9-9EF4-1D30B033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90875"/>
            <a:ext cx="3524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9525">
            <a:solidFill>
              <a:srgbClr val="FFDA3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5191D"/>
                </a:solidFill>
              </a:defRPr>
            </a:pPr>
            <a:r>
              <a:rPr sz="1800" b="1">
                <a:solidFill>
                  <a:srgbClr val="15191D"/>
                </a:solidFill>
              </a:rPr>
              <a:t>Booking</a:t>
            </a:r>
          </a:p>
          <a:p xmlns:a="http://schemas.openxmlformats.org/drawingml/2006/main">
            <a:pPr algn="ctr">
              <a:defRPr sz="1800" b="1">
                <a:solidFill>
                  <a:srgbClr val="15191D"/>
                </a:solidFill>
              </a:defRPr>
            </a:pPr>
            <a:r>
              <a:rPr sz="1800" b="1">
                <a:solidFill>
                  <a:srgbClr val="15191D"/>
                </a:solidFill>
              </a:rPr>
              <a:t>customer, provider, service</a:t>
            </a:r>
          </a:p>
          <a:p xmlns:a="http://schemas.openxmlformats.org/drawingml/2006/main">
            <a:pPr algn="ctr">
              <a:defRPr sz="1800" b="1">
                <a:solidFill>
                  <a:srgbClr val="15191D"/>
                </a:solidFill>
              </a:defRPr>
            </a:pPr>
            <a:r>
              <a:rPr sz="1800" b="1">
                <a:solidFill>
                  <a:srgbClr val="15191D"/>
                </a:solidFill>
              </a:rPr>
              <a:t>scheduledAt, 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E49ACA-2146-4E2C-BEDC-45632E48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38400"/>
            <a:ext cx="0" cy="7524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557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C0F0CE-A458-48E0-B176-FFC972E3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38400"/>
            <a:ext cx="0" cy="12763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557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CF7386-8E36-4D5B-91E4-C7CC6354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14750"/>
            <a:ext cx="2428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557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D8E0CA-BC43-4408-AB81-552E917D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38400"/>
            <a:ext cx="0" cy="12763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557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D0BAC-FA30-4E6C-96FF-B1A27597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14750"/>
            <a:ext cx="2428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557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A8869A-43A7-45F3-B7F1-C426D56D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38625"/>
            <a:ext cx="0" cy="5524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557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4678BA-328F-4905-B87C-C0FB93BC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91075"/>
            <a:ext cx="8572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557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CF70A4-CD7D-4725-BF0A-F59A7292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91075"/>
            <a:ext cx="0" cy="3048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557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600A86-A609-4C9C-86C2-0DE1D486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247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65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5191D"/>
                </a:solidFill>
              </a:defRPr>
            </a:pPr>
            <a:r>
              <a:rPr sz="1650" b="1">
                <a:solidFill>
                  <a:srgbClr val="15191D"/>
                </a:solidFill>
              </a:rPr>
              <a:t>Payment</a:t>
            </a:r>
          </a:p>
          <a:p xmlns:a="http://schemas.openxmlformats.org/drawingml/2006/main">
            <a:pPr algn="ctr">
              <a:defRPr sz="1650" b="1">
                <a:solidFill>
                  <a:srgbClr val="15191D"/>
                </a:solidFill>
              </a:defRPr>
            </a:pPr>
            <a:r>
              <a:rPr sz="1650" b="1">
                <a:solidFill>
                  <a:srgbClr val="15191D"/>
                </a:solidFill>
              </a:rPr>
              <a:t>booking, amountPaise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1A6D0A-F2F3-4B35-A52B-FD7CD423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53565E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565E"/>
                </a:solidFill>
              </a:defRPr>
            </a:pPr>
            <a:r>
              <a:rPr sz="1500" b="0">
                <a:solidFill>
                  <a:srgbClr val="53565E"/>
                </a:solidFill>
              </a:rPr>
              <a:t>0..1 per booking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2E82BD-6F06-4B8B-A64B-0637AABE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91075"/>
            <a:ext cx="0" cy="3048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557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25CD80-4047-4C81-81E4-719D3643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95875"/>
            <a:ext cx="247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65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5191D"/>
                </a:solidFill>
              </a:defRPr>
            </a:pPr>
            <a:r>
              <a:rPr sz="1650" b="1">
                <a:solidFill>
                  <a:srgbClr val="15191D"/>
                </a:solidFill>
              </a:rPr>
              <a:t>Review</a:t>
            </a:r>
          </a:p>
          <a:p xmlns:a="http://schemas.openxmlformats.org/drawingml/2006/main">
            <a:pPr algn="ctr">
              <a:defRPr sz="1650" b="1">
                <a:solidFill>
                  <a:srgbClr val="15191D"/>
                </a:solidFill>
              </a:defRPr>
            </a:pPr>
            <a:r>
              <a:rPr sz="1650" b="1">
                <a:solidFill>
                  <a:srgbClr val="15191D"/>
                </a:solidFill>
              </a:rPr>
              <a:t>booking, rating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F60A1C-4B2D-415C-A2DD-49441862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981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53565E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565E"/>
                </a:solidFill>
              </a:defRPr>
            </a:pPr>
            <a:r>
              <a:rPr sz="1500" b="0">
                <a:solidFill>
                  <a:srgbClr val="53565E"/>
                </a:solidFill>
              </a:rPr>
              <a:t>0..1 per booking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4EFB13-8477-4514-BD24-712A44E4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91075"/>
            <a:ext cx="0" cy="3048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557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3884EB-AA1F-487B-B1C5-EBC71A11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95875"/>
            <a:ext cx="247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65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5191D"/>
                </a:solidFill>
              </a:defRPr>
            </a:pPr>
            <a:r>
              <a:rPr sz="1650" b="1">
                <a:solidFill>
                  <a:srgbClr val="15191D"/>
                </a:solidFill>
              </a:rPr>
              <a:t>Message</a:t>
            </a:r>
          </a:p>
          <a:p xmlns:a="http://schemas.openxmlformats.org/drawingml/2006/main">
            <a:pPr algn="ctr">
              <a:defRPr sz="1650" b="1">
                <a:solidFill>
                  <a:srgbClr val="15191D"/>
                </a:solidFill>
              </a:defRPr>
            </a:pPr>
            <a:r>
              <a:rPr sz="1650" b="1">
                <a:solidFill>
                  <a:srgbClr val="15191D"/>
                </a:solidFill>
              </a:rPr>
              <a:t>booking, sender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40BA7E-0E23-45D5-81B1-D7091D96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981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53565E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565E"/>
                </a:solidFill>
              </a:defRPr>
            </a:pPr>
            <a:r>
              <a:rPr sz="1500" b="0">
                <a:solidFill>
                  <a:srgbClr val="53565E"/>
                </a:solidFill>
              </a:rPr>
              <a:t>Many per booking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11C191-905C-4E8B-B6D5-910899EA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91075"/>
            <a:ext cx="0" cy="3048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557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E9D40D-8693-4C14-B68C-DE205998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95875"/>
            <a:ext cx="247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2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65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5191D"/>
                </a:solidFill>
              </a:defRPr>
            </a:pPr>
            <a:r>
              <a:rPr sz="1650" b="1">
                <a:solidFill>
                  <a:srgbClr val="15191D"/>
                </a:solidFill>
              </a:rPr>
              <a:t>Dispute</a:t>
            </a:r>
          </a:p>
          <a:p xmlns:a="http://schemas.openxmlformats.org/drawingml/2006/main">
            <a:pPr algn="ctr">
              <a:defRPr sz="1650" b="1">
                <a:solidFill>
                  <a:srgbClr val="15191D"/>
                </a:solidFill>
              </a:defRPr>
            </a:pPr>
            <a:r>
              <a:rPr sz="1650" b="1">
                <a:solidFill>
                  <a:srgbClr val="15191D"/>
                </a:solidFill>
              </a:rPr>
              <a:t>booking, status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9A1D4D-CC69-4EA1-AB5F-9E62437A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981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53565E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565E"/>
                </a:solidFill>
              </a:defRPr>
            </a:pPr>
            <a:r>
              <a:rPr sz="1500" b="0">
                <a:solidFill>
                  <a:srgbClr val="53565E"/>
                </a:solidFill>
              </a:rPr>
              <a:t>0..1 per booking</a:t>
            </a:r>
          </a:p>
        </p:txBody>
      </p:sp>
    </p:spTree>
    <p:extLst>
      <p:ext uri="{BB962C8B-B14F-4D97-AF65-F5344CB8AC3E}">
        <p14:creationId xmlns:p14="http://schemas.microsoft.com/office/powerpoint/2010/main" val="9369601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718332-2079-4841-BBF6-CF814F6E46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4e293b13694d5b"/>
          <a:stretch xmlns:a="http://schemas.openxmlformats.org/drawingml/2006/main"/>
        </p:blipFill>
        <p:spPr>
          <a:xfrm xmlns:a="http://schemas.openxmlformats.org/drawingml/2006/main">
            <a:off x="8958263" y="0"/>
            <a:ext cx="3228975" cy="21526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91928-57E4-484A-BC27-15018DDB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9525">
            <a:solidFill>
              <a:srgbClr val="FFDA3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725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4E8E7-3D02-444E-9CC8-DB06FA98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191D"/>
                </a:solidFill>
              </a:defRPr>
            </a:pPr>
            <a:r>
              <a:rPr sz="2700" b="1">
                <a:solidFill>
                  <a:srgbClr val="15191D"/>
                </a:solidFill>
              </a:rPr>
              <a:t>Modules &amp; Role-Based Workspaces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3B226-E21A-4986-B1DA-31D80170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FFDA3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0EA9E-054A-478B-868F-CC37A963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3565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565E"/>
                </a:solidFill>
              </a:defRPr>
            </a:pPr>
            <a:r>
              <a:rPr sz="1125" b="0">
                <a:solidFill>
                  <a:srgbClr val="53565E"/>
                </a:solidFill>
              </a:rPr>
              <a:t>Nearby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1F8F8-BBEB-4E79-B0A8-03BD2198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08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2026F-FD50-4B9E-9F26-6BE85EB50C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c607740af4160">
            <a:extLst>
              <a:ext uri="{96DAC541-7B7A-43D3-8B79-37D633B846F1}">
                <asvg:svgBlip xmlns:asvg="http://schemas.microsoft.com/office/drawing/2016/SVG/main" r:embed="Rf5af2d3726c141d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500" y="17145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595826-4226-4AB4-8043-B607EBC9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85925"/>
            <a:ext cx="3076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5191D"/>
                </a:solidFill>
              </a:defRPr>
            </a:pPr>
            <a:r>
              <a:rPr sz="1950" b="1">
                <a:solidFill>
                  <a:srgbClr val="15191D"/>
                </a:solidFill>
              </a:rPr>
              <a:t>Customer Workspace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3AE181-6D6F-4ED3-A813-95FF93B8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557FF"/>
                </a:solidFill>
              </a:defRPr>
            </a:pPr>
            <a:r>
              <a:rPr sz="1800" b="0">
                <a:solidFill>
                  <a:srgbClr val="1557FF"/>
                </a:solidFill>
              </a:rPr>
              <a:t>Find and manage local services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D0898-18BF-461D-A98C-396AD111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FFDA3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FD034-E6EC-46EA-814C-AE5F7CF2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FD05D-DE37-4990-B9CD-84655B89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05175"/>
            <a:ext cx="2971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191D"/>
                </a:solidFill>
              </a:defRPr>
            </a:pPr>
            <a:r>
              <a:rPr sz="1725" b="0">
                <a:solidFill>
                  <a:srgbClr val="15191D"/>
                </a:solidFill>
              </a:rPr>
              <a:t>Exact-pincode search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A69106-DDC3-40DF-9A70-CC4349FF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719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1154F2-CB2C-49B5-828A-CA374EF8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71925"/>
            <a:ext cx="2971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191D"/>
                </a:solidFill>
              </a:defRPr>
            </a:pPr>
            <a:r>
              <a:rPr sz="1725" b="0">
                <a:solidFill>
                  <a:srgbClr val="15191D"/>
                </a:solidFill>
              </a:rPr>
              <a:t>Service detail and time selection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D068B9-5024-4AA7-81CD-98061711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386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91C919-17B2-4800-A94D-CE73F097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38675"/>
            <a:ext cx="2971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191D"/>
                </a:solidFill>
              </a:defRPr>
            </a:pPr>
            <a:r>
              <a:rPr sz="1725" b="0">
                <a:solidFill>
                  <a:srgbClr val="15191D"/>
                </a:solidFill>
              </a:rPr>
              <a:t>Bookings and checkout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80BAC1-3A81-44D2-87F5-88AC300B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054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70F5F1-0837-4F3D-92D2-178939A5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05425"/>
            <a:ext cx="2971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191D"/>
                </a:solidFill>
              </a:defRPr>
            </a:pPr>
            <a:r>
              <a:rPr sz="1725" b="0">
                <a:solidFill>
                  <a:srgbClr val="15191D"/>
                </a:solidFill>
              </a:rPr>
              <a:t>Messages, reviews and disputes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8501A5-6D38-4DEB-8306-DB58C8D85C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5933090614647">
            <a:extLst>
              <a:ext uri="{96DAC541-7B7A-43D3-8B79-37D633B846F1}">
                <asvg:svgBlip xmlns:asvg="http://schemas.microsoft.com/office/drawing/2016/SVG/main" r:embed="Re4d1761d5ff246a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81500" y="17145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20C656-7174-4279-BAA6-5799D483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685925"/>
            <a:ext cx="3076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5191D"/>
                </a:solidFill>
              </a:defRPr>
            </a:pPr>
            <a:r>
              <a:rPr sz="1950" b="1">
                <a:solidFill>
                  <a:srgbClr val="15191D"/>
                </a:solidFill>
              </a:rPr>
              <a:t>Provider Workspace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7F0A92-24B4-446F-9613-4DF336DF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52650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557FF"/>
                </a:solidFill>
              </a:defRPr>
            </a:pPr>
            <a:r>
              <a:rPr sz="1800" b="0">
                <a:solidFill>
                  <a:srgbClr val="1557FF"/>
                </a:solidFill>
              </a:rPr>
              <a:t>Manage service delivery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011932-54C0-4F85-854F-BAB1BB49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52750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FFDA3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5FDACF-13D4-46C6-840C-25C69C24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051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37F93D-A9DD-40EB-9E8B-4DE3F280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05175"/>
            <a:ext cx="2971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191D"/>
                </a:solidFill>
              </a:defRPr>
            </a:pPr>
            <a:r>
              <a:rPr sz="1725" b="0">
                <a:solidFill>
                  <a:srgbClr val="15191D"/>
                </a:solidFill>
              </a:rPr>
              <a:t>Profile and service areas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86648-109F-41FF-B829-B9479433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719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D64647-CCB8-4CA1-9CB1-DE8742E5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1925"/>
            <a:ext cx="2971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191D"/>
                </a:solidFill>
              </a:defRPr>
            </a:pPr>
            <a:r>
              <a:rPr sz="1725" b="0">
                <a:solidFill>
                  <a:srgbClr val="15191D"/>
                </a:solidFill>
              </a:rPr>
              <a:t>Listings and availability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F32687-D34D-4EB2-AD91-A6182E0B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386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5980E1-9829-4550-9CDE-5A50933B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38675"/>
            <a:ext cx="2971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191D"/>
                </a:solidFill>
              </a:defRPr>
            </a:pPr>
            <a:r>
              <a:rPr sz="1725" b="0">
                <a:solidFill>
                  <a:srgbClr val="15191D"/>
                </a:solidFill>
              </a:rPr>
              <a:t>Accept or reject requests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0D44D6-3515-4406-B64D-87F70957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054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E14305-DA1A-44B5-983C-D3046713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305425"/>
            <a:ext cx="2971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191D"/>
                </a:solidFill>
              </a:defRPr>
            </a:pPr>
            <a:r>
              <a:rPr sz="1725" b="0">
                <a:solidFill>
                  <a:srgbClr val="15191D"/>
                </a:solidFill>
              </a:rPr>
              <a:t>Booking chat and completion</a:t>
            </a:r>
          </a:p>
        </p:txBody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030A59-68D3-4440-98B3-C6B134540D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0ef5304594c0d">
            <a:extLst>
              <a:ext uri="{96DAC541-7B7A-43D3-8B79-37D633B846F1}">
                <asvg:svgBlip xmlns:asvg="http://schemas.microsoft.com/office/drawing/2016/SVG/main" r:embed="Read6a91d913345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91500" y="17145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A9E3F8-553F-4A7D-A874-0469B692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85925"/>
            <a:ext cx="3076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5191D"/>
                </a:solidFill>
              </a:defRPr>
            </a:pPr>
            <a:r>
              <a:rPr sz="1950" b="1">
                <a:solidFill>
                  <a:srgbClr val="15191D"/>
                </a:solidFill>
              </a:rPr>
              <a:t>Admin Workspace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4AE207-E0FA-45A3-935C-92DB2DF7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52650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557FF"/>
                </a:solidFill>
              </a:defRPr>
            </a:pPr>
            <a:r>
              <a:rPr sz="1800" b="0">
                <a:solidFill>
                  <a:srgbClr val="1557FF"/>
                </a:solidFill>
              </a:rPr>
              <a:t>Oversee marketplace operations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EEE54B-2E08-42E6-B786-97FC71D3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FFDA35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229BA7-CF62-4262-A067-30E7B296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051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96893C-69F9-4A6B-ACB3-8DDC3ABF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05175"/>
            <a:ext cx="2971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191D"/>
                </a:solidFill>
              </a:defRPr>
            </a:pPr>
            <a:r>
              <a:rPr sz="1725" b="0">
                <a:solidFill>
                  <a:srgbClr val="15191D"/>
                </a:solidFill>
              </a:rPr>
              <a:t>Provider review and verification status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0422A6-F39E-4A46-B200-ACEC9A08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719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CBA41C-9982-46B8-BE57-B081B68C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71925"/>
            <a:ext cx="2971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191D"/>
                </a:solidFill>
              </a:defRPr>
            </a:pPr>
            <a:r>
              <a:rPr sz="1725" b="0">
                <a:solidFill>
                  <a:srgbClr val="15191D"/>
                </a:solidFill>
              </a:rPr>
              <a:t>Marketplace policy settings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891A2F-7957-485C-83C6-FFEA7AF0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386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0CD11C-88A0-4DAE-8C28-E604463F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38675"/>
            <a:ext cx="2971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191D"/>
                </a:solidFill>
              </a:defRPr>
            </a:pPr>
            <a:r>
              <a:rPr sz="1725" b="0">
                <a:solidFill>
                  <a:srgbClr val="15191D"/>
                </a:solidFill>
              </a:rPr>
              <a:t>Linked payout account management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C59CDC-2F05-4046-BDC4-3F6BD78D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054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CEA904-617F-4621-8845-AB43C026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305425"/>
            <a:ext cx="2971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191D"/>
                </a:solidFill>
              </a:defRPr>
            </a:pPr>
            <a:r>
              <a:rPr sz="1725" b="0">
                <a:solidFill>
                  <a:srgbClr val="15191D"/>
                </a:solidFill>
              </a:rPr>
              <a:t>Dispute resolution and audit records</a:t>
            </a:r>
          </a:p>
        </p:txBody>
      </p:sp>
    </p:spTree>
    <p:extLst>
      <p:ext uri="{BB962C8B-B14F-4D97-AF65-F5344CB8AC3E}">
        <p14:creationId xmlns:p14="http://schemas.microsoft.com/office/powerpoint/2010/main" val="1500080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EEFFA2-34B3-490F-82FC-7AF994B640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2cccd58634db1"/>
          <a:stretch xmlns:a="http://schemas.openxmlformats.org/drawingml/2006/main"/>
        </p:blipFill>
        <p:spPr>
          <a:xfrm xmlns:a="http://schemas.openxmlformats.org/drawingml/2006/main">
            <a:off x="8958263" y="0"/>
            <a:ext cx="3228975" cy="21526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5A45E3-BA9C-4CE1-8365-D5B704FD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9525">
            <a:solidFill>
              <a:srgbClr val="FFDA3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725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8FFCA-150A-4C5C-BD1C-AD99BACA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191D"/>
                </a:solidFill>
              </a:defRPr>
            </a:pPr>
            <a:r>
              <a:rPr sz="2700" b="1">
                <a:solidFill>
                  <a:srgbClr val="15191D"/>
                </a:solidFill>
              </a:rPr>
              <a:t>Frontend &amp; Backend Development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005ED-822B-45F8-A658-260AC3F5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FFDA3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F9F82-9FF1-48B8-932F-767C2313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3565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565E"/>
                </a:solidFill>
              </a:defRPr>
            </a:pPr>
            <a:r>
              <a:rPr sz="1125" b="0">
                <a:solidFill>
                  <a:srgbClr val="53565E"/>
                </a:solidFill>
              </a:rPr>
              <a:t>Nearby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8C049-8E50-4734-8A42-E5CE2176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FC322-F2C5-43DE-BB57-C20C18BB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191D"/>
                </a:solidFill>
              </a:defRPr>
            </a:pPr>
            <a:r>
              <a:rPr sz="2250" b="1">
                <a:solidFill>
                  <a:srgbClr val="15191D"/>
                </a:solidFill>
              </a:rPr>
              <a:t>Frontend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D67FE-6E2F-4616-B130-31D3D842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573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191D"/>
                </a:solidFill>
              </a:defRPr>
            </a:pPr>
            <a:r>
              <a:rPr sz="2250" b="1">
                <a:solidFill>
                  <a:srgbClr val="15191D"/>
                </a:solidFill>
              </a:rPr>
              <a:t>Backend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9AB5F-A2C0-4E55-B2D8-BBFB74DE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02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3DC6B-F906-42B4-9E14-3B018E74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0275"/>
            <a:ext cx="4733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191D"/>
                </a:solidFill>
              </a:defRPr>
            </a:pPr>
            <a:r>
              <a:rPr sz="1650" b="0">
                <a:solidFill>
                  <a:srgbClr val="15191D"/>
                </a:solidFill>
              </a:rPr>
              <a:t>React components and reusable forms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B4B56-43F1-4223-9ED0-AB1550BF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6CA032-8898-49AD-83DA-1A9C9B2F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4733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191D"/>
                </a:solidFill>
              </a:defRPr>
            </a:pPr>
            <a:r>
              <a:rPr sz="1650" b="0">
                <a:solidFill>
                  <a:srgbClr val="15191D"/>
                </a:solidFill>
              </a:rPr>
              <a:t>React Router for public and protected pages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C67EE2-9EB7-4E96-B6A5-EAD38A5A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337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D88EDC-7478-4C5D-862B-DC2C9DCB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733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191D"/>
                </a:solidFill>
              </a:defRPr>
            </a:pPr>
            <a:r>
              <a:rPr sz="1650" b="0">
                <a:solidFill>
                  <a:srgbClr val="15191D"/>
                </a:solidFill>
              </a:rPr>
              <a:t>Role-based customer, provider and admin views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5E712A-A72B-42ED-B931-42C19F2F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CCCEB3-E0B3-4970-8590-DED0CEB3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4733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191D"/>
                </a:solidFill>
              </a:defRPr>
            </a:pPr>
            <a:r>
              <a:rPr sz="1650" b="0">
                <a:solidFill>
                  <a:srgbClr val="15191D"/>
                </a:solidFill>
              </a:rPr>
              <a:t>Session state and API client integration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CA6194-AE54-485C-922C-7195A30B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671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733314-68B0-4A43-B990-27F254E2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67175"/>
            <a:ext cx="4733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191D"/>
                </a:solidFill>
              </a:defRPr>
            </a:pPr>
            <a:r>
              <a:rPr sz="1650" b="0">
                <a:solidFill>
                  <a:srgbClr val="15191D"/>
                </a:solidFill>
              </a:rPr>
              <a:t>Responsive Tailwind CSS layouts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BBAAFF-0CED-4822-9C62-0FBA575A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339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CD3316-3887-4B55-AF66-A0A53659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4733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191D"/>
                </a:solidFill>
              </a:defRPr>
            </a:pPr>
            <a:r>
              <a:rPr sz="1650" b="0">
                <a:solidFill>
                  <a:srgbClr val="15191D"/>
                </a:solidFill>
              </a:rPr>
              <a:t>Socket.IO client for booking chat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A5A0EF-05C2-4EEB-8C25-1350CADE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002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1059BF-5C02-47E8-B63F-4283970E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2002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191D"/>
                </a:solidFill>
              </a:defRPr>
            </a:pPr>
            <a:r>
              <a:rPr sz="1650" b="0">
                <a:solidFill>
                  <a:srgbClr val="15191D"/>
                </a:solidFill>
              </a:rPr>
              <a:t>Express routes under /api/v1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4B305F-1AC8-44C1-A766-552CC5B9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667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504CA2-C428-4386-B0F1-5FE67CA0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66700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191D"/>
                </a:solidFill>
              </a:defRPr>
            </a:pPr>
            <a:r>
              <a:rPr sz="1650" b="0">
                <a:solidFill>
                  <a:srgbClr val="15191D"/>
                </a:solidFill>
              </a:rPr>
              <a:t>JWT authentication and access checks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CB437E-E104-4C30-81C9-BA90F141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337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215283-7893-45A1-8CD2-F27BB385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13372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191D"/>
                </a:solidFill>
              </a:defRPr>
            </a:pPr>
            <a:r>
              <a:rPr sz="1650" b="0">
                <a:solidFill>
                  <a:srgbClr val="15191D"/>
                </a:solidFill>
              </a:rPr>
              <a:t>Mongoose models and input validation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5C7143-907C-47B9-BBC5-EE5F4E61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004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0A60F0-63D3-4995-A067-3941ECE1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60045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191D"/>
                </a:solidFill>
              </a:defRPr>
            </a:pPr>
            <a:r>
              <a:rPr sz="1650" b="0">
                <a:solidFill>
                  <a:srgbClr val="15191D"/>
                </a:solidFill>
              </a:rPr>
              <a:t>Booking and payment lifecycle services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BE9B55-388C-445B-88A2-7B9A2985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671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1B2C40-E7F7-4762-9558-87500DC4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67175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191D"/>
                </a:solidFill>
              </a:defRPr>
            </a:pPr>
            <a:r>
              <a:rPr sz="1650" b="0">
                <a:solidFill>
                  <a:srgbClr val="15191D"/>
                </a:solidFill>
              </a:rPr>
              <a:t>Signed webhook processing and audit records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C6590B-253B-4CD9-B522-E3459420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5339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DB3900-CFD6-46D4-83B2-E099847E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533900"/>
            <a:ext cx="463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191D"/>
                </a:solidFill>
              </a:defRPr>
            </a:pPr>
            <a:r>
              <a:rPr sz="1650" b="0">
                <a:solidFill>
                  <a:srgbClr val="15191D"/>
                </a:solidFill>
              </a:rPr>
              <a:t>Socket.IO server and background worker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1CD170-D3A7-40B7-847C-8226D2D4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05450"/>
            <a:ext cx="2476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9525">
            <a:solidFill>
              <a:srgbClr val="FFDA3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65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5191D"/>
                </a:solidFill>
              </a:defRPr>
            </a:pPr>
            <a:r>
              <a:rPr sz="1650" b="1">
                <a:solidFill>
                  <a:srgbClr val="15191D"/>
                </a:solidFill>
              </a:rPr>
              <a:t>Client request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0F6766-3E74-4E18-8A4E-344E407C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1025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557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670D0F-614F-4344-AF97-48DA67CE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505450"/>
            <a:ext cx="2476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9525">
            <a:solidFill>
              <a:srgbClr val="FFDA3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65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5191D"/>
                </a:solidFill>
              </a:defRPr>
            </a:pPr>
            <a:r>
              <a:rPr sz="1650" b="1">
                <a:solidFill>
                  <a:srgbClr val="15191D"/>
                </a:solidFill>
              </a:rPr>
              <a:t>Auth &amp; validation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03F7FE-D280-4B58-A824-E278233C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81025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557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1D8023-BD86-44C6-A961-076A58D7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05450"/>
            <a:ext cx="2476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9525">
            <a:solidFill>
              <a:srgbClr val="FFDA3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65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5191D"/>
                </a:solidFill>
              </a:defRPr>
            </a:pPr>
            <a:r>
              <a:rPr sz="1650" b="1">
                <a:solidFill>
                  <a:srgbClr val="15191D"/>
                </a:solidFill>
              </a:rPr>
              <a:t>Business logic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1C7343-28FB-48F7-A307-C8104423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81025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557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ED837E-BCA3-4DAC-A03B-1DCD1C36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05450"/>
            <a:ext cx="2476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9525">
            <a:solidFill>
              <a:srgbClr val="FFDA3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65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5191D"/>
                </a:solidFill>
              </a:defRPr>
            </a:pPr>
            <a:r>
              <a:rPr sz="1650" b="1">
                <a:solidFill>
                  <a:srgbClr val="15191D"/>
                </a:solidFill>
              </a:rPr>
              <a:t>MongoDB / JSON</a:t>
            </a:r>
          </a:p>
        </p:txBody>
      </p:sp>
    </p:spTree>
    <p:extLst>
      <p:ext uri="{BB962C8B-B14F-4D97-AF65-F5344CB8AC3E}">
        <p14:creationId xmlns:p14="http://schemas.microsoft.com/office/powerpoint/2010/main" val="262260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D3DEA0-24CB-45E1-93A3-89D4FF2140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c0df50a74544e8"/>
          <a:stretch xmlns:a="http://schemas.openxmlformats.org/drawingml/2006/main"/>
        </p:blipFill>
        <p:spPr>
          <a:xfrm xmlns:a="http://schemas.openxmlformats.org/drawingml/2006/main">
            <a:off x="8958263" y="0"/>
            <a:ext cx="3228975" cy="21526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4A277-446F-449C-B119-6E5160EA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9525">
            <a:solidFill>
              <a:srgbClr val="FFDA3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725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10E284-B312-441B-A610-C14A61E3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191D"/>
                </a:solidFill>
              </a:defRPr>
            </a:pPr>
            <a:r>
              <a:rPr sz="2700" b="1">
                <a:solidFill>
                  <a:srgbClr val="15191D"/>
                </a:solidFill>
              </a:rPr>
              <a:t>API Development &amp; Booking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1AC7C-1CFA-4514-9180-67BF3E65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FFDA3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E6553-D9F5-47A4-850E-36003A11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3565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565E"/>
                </a:solidFill>
              </a:defRPr>
            </a:pPr>
            <a:r>
              <a:rPr sz="1125" b="0">
                <a:solidFill>
                  <a:srgbClr val="53565E"/>
                </a:solidFill>
              </a:rPr>
              <a:t>Nearby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C1DCC-295A-4F00-9DC0-97FEF5DC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10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526E8-4C51-4C20-A72B-E84B144D2257}"/>
              </a:ext>
            </a:extLst>
          </p:cNvPr>
          <p:cNvGraphicFramePr/>
          <p:nvPr/>
        </p:nvGraphicFramePr>
        <p:xfrm>
          <a:off xmlns:a="http://schemas.openxmlformats.org/drawingml/2006/main" x="571500" y="1562100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5375"/>
                <a:gridCol w="6286500"/>
                <a:gridCol w="3667125"/>
              </a:tblGrid>
              <a:tr h="476250"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15191D"/>
                          </a:solidFill>
                        </a:rPr>
                        <a:t>METHOD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2E5"/>
                      </a:solidFill>
                      <a:prstDash val="solid"/>
                    </a:lnL>
                    <a:lnR w="9525">
                      <a:solidFill>
                        <a:srgbClr val="E1E2E5"/>
                      </a:solidFill>
                      <a:prstDash val="solid"/>
                    </a:lnR>
                    <a:lnT w="9525">
                      <a:solidFill>
                        <a:srgbClr val="E1E2E5"/>
                      </a:solidFill>
                      <a:prstDash val="solid"/>
                    </a:lnT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DA3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15191D"/>
                          </a:solidFill>
                        </a:rPr>
                        <a:t>ENDPOINT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T w="9525">
                      <a:solidFill>
                        <a:srgbClr val="E1E2E5"/>
                      </a:solidFill>
                      <a:prstDash val="solid"/>
                    </a:lnT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DA3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15191D"/>
                          </a:solidFill>
                        </a:rPr>
                        <a:t>PURPOSE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T w="9525">
                      <a:solidFill>
                        <a:srgbClr val="E1E2E5"/>
                      </a:solidFill>
                      <a:prstDash val="solid"/>
                    </a:lnT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DA35"/>
                    </a:solidFill>
                  </a:tcPr>
                </a:tc>
              </a:tr>
              <a:tr h="476250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5191D"/>
                          </a:solidFill>
                        </a:rPr>
                        <a:t>POST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2E5"/>
                      </a:solidFill>
                      <a:prstDash val="solid"/>
                    </a:lnL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5191D"/>
                          </a:solidFill>
                        </a:rPr>
                        <a:t>/api/v1/auth/login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5191D"/>
                          </a:solidFill>
                        </a:rPr>
                        <a:t>Authenticate user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5191D"/>
                          </a:solidFill>
                        </a:rPr>
                        <a:t>GET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2E5"/>
                      </a:solidFill>
                      <a:prstDash val="solid"/>
                    </a:lnL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5191D"/>
                          </a:solidFill>
                        </a:rPr>
                        <a:t>/api/v1/services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5191D"/>
                          </a:solidFill>
                        </a:rPr>
                        <a:t>Discover listed services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5191D"/>
                          </a:solidFill>
                        </a:rPr>
                        <a:t>POST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2E5"/>
                      </a:solidFill>
                      <a:prstDash val="solid"/>
                    </a:lnL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5191D"/>
                          </a:solidFill>
                        </a:rPr>
                        <a:t>/api/v1/bookings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5191D"/>
                          </a:solidFill>
                        </a:rPr>
                        <a:t>Request a booking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5191D"/>
                          </a:solidFill>
                        </a:rPr>
                        <a:t>POST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2E5"/>
                      </a:solidFill>
                      <a:prstDash val="solid"/>
                    </a:lnL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5191D"/>
                          </a:solidFill>
                        </a:rPr>
                        <a:t>/api/v1/bookings/:bookingId/accept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5191D"/>
                          </a:solidFill>
                        </a:rPr>
                        <a:t>Provider accepts request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5191D"/>
                          </a:solidFill>
                        </a:rPr>
                        <a:t>POST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2E5"/>
                      </a:solidFill>
                      <a:prstDash val="solid"/>
                    </a:lnL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5191D"/>
                          </a:solidFill>
                        </a:rPr>
                        <a:t>/api/v1/bookings/:bookingId/checkout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5191D"/>
                          </a:solidFill>
                        </a:rPr>
                        <a:t>Create payment checkout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5191D"/>
                          </a:solidFill>
                        </a:rPr>
                        <a:t>POST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2E5"/>
                      </a:solidFill>
                      <a:prstDash val="solid"/>
                    </a:lnL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5191D"/>
                          </a:solidFill>
                        </a:rPr>
                        <a:t>/api/v1/payments/:bookingId/verify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5191D"/>
                          </a:solidFill>
                        </a:rPr>
                        <a:t>Verify customer payment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1991DA-C233-4953-85CB-38CADCF0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720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5191D"/>
                </a:solidFill>
              </a:defRPr>
            </a:pPr>
            <a:r>
              <a:rPr sz="1950" b="1">
                <a:solidFill>
                  <a:srgbClr val="15191D"/>
                </a:solidFill>
              </a:rPr>
              <a:t>Booking lifecycle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72B5A9-8EF3-40D1-AC8E-E0EFB2DC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57850"/>
            <a:ext cx="20193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9525">
            <a:solidFill>
              <a:srgbClr val="FFDA3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5191D"/>
                </a:solidFill>
              </a:defRPr>
            </a:pPr>
            <a:r>
              <a:rPr sz="1500" b="1">
                <a:solidFill>
                  <a:srgbClr val="15191D"/>
                </a:solidFill>
              </a:rPr>
              <a:t>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C19640-AB4B-43ED-9FD6-31ED1D86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943600"/>
            <a:ext cx="2381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557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269A8-B05C-425D-9008-EDCEB696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657850"/>
            <a:ext cx="20193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9525">
            <a:solidFill>
              <a:srgbClr val="FFDA3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5191D"/>
                </a:solidFill>
              </a:defRPr>
            </a:pPr>
            <a:r>
              <a:rPr sz="1500" b="1">
                <a:solidFill>
                  <a:srgbClr val="15191D"/>
                </a:solidFill>
              </a:rPr>
              <a:t>Provider acceptance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4BF88-AA2F-4A61-B140-BEE8D2B4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5943600"/>
            <a:ext cx="2381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557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835BBF-7321-48EC-9C04-684D2391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657850"/>
            <a:ext cx="20193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9525">
            <a:solidFill>
              <a:srgbClr val="FFDA3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5191D"/>
                </a:solidFill>
              </a:defRPr>
            </a:pPr>
            <a:r>
              <a:rPr sz="1500" b="1">
                <a:solidFill>
                  <a:srgbClr val="15191D"/>
                </a:solidFill>
              </a:rPr>
              <a:t>Checkout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66463-CDBB-4901-B284-23A5FB10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943600"/>
            <a:ext cx="2381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557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95EA3F-EBC1-476E-AE52-84C4F3BF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5657850"/>
            <a:ext cx="20193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9525">
            <a:solidFill>
              <a:srgbClr val="FFDA3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5191D"/>
                </a:solidFill>
              </a:defRPr>
            </a:pPr>
            <a:r>
              <a:rPr sz="1500" b="1">
                <a:solidFill>
                  <a:srgbClr val="15191D"/>
                </a:solidFill>
              </a:rPr>
              <a:t>Confirmed booking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D72790-1D9A-46AF-A81D-E23A9551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5943600"/>
            <a:ext cx="2381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557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FF09EF-9348-45F0-9851-19B6EF59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57850"/>
            <a:ext cx="20193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9525">
            <a:solidFill>
              <a:srgbClr val="FFDA3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5191D"/>
                </a:solidFill>
              </a:defRPr>
            </a:pPr>
            <a:r>
              <a:rPr sz="1500" b="1">
                <a:solidFill>
                  <a:srgbClr val="15191D"/>
                </a:solidFill>
              </a:rPr>
              <a:t>Completion review</a:t>
            </a:r>
          </a:p>
        </p:txBody>
      </p:sp>
    </p:spTree>
    <p:extLst>
      <p:ext uri="{BB962C8B-B14F-4D97-AF65-F5344CB8AC3E}">
        <p14:creationId xmlns:p14="http://schemas.microsoft.com/office/powerpoint/2010/main" val="21086184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29A4B-4848-45EC-BFA5-6667ECAB90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00d7eae8204cba"/>
          <a:stretch xmlns:a="http://schemas.openxmlformats.org/drawingml/2006/main"/>
        </p:blipFill>
        <p:spPr>
          <a:xfrm xmlns:a="http://schemas.openxmlformats.org/drawingml/2006/main">
            <a:off x="8958263" y="0"/>
            <a:ext cx="3228975" cy="21526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D702C-5557-44DC-95C2-06314921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9525">
            <a:solidFill>
              <a:srgbClr val="FFDA3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725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91F31-18AB-416A-ABA9-0E0EE1E2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191D"/>
                </a:solidFill>
              </a:defRPr>
            </a:pPr>
            <a:r>
              <a:rPr sz="2700" b="1">
                <a:solidFill>
                  <a:srgbClr val="15191D"/>
                </a:solidFill>
              </a:rPr>
              <a:t>Challenges &amp; Current Limitations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3E5DA-8A80-4DAD-A212-8D34BF27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FFDA3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EE151-B7EC-44CE-88FE-84929515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3565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565E"/>
                </a:solidFill>
              </a:defRPr>
            </a:pPr>
            <a:r>
              <a:rPr sz="1125" b="0">
                <a:solidFill>
                  <a:srgbClr val="53565E"/>
                </a:solidFill>
              </a:rPr>
              <a:t>Nearby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1144E-6644-490B-8710-996BE967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11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5DF52-1EDF-4ADF-84FF-0C0D4B3E2F92}"/>
              </a:ext>
            </a:extLst>
          </p:cNvPr>
          <p:cNvGraphicFramePr/>
          <p:nvPr/>
        </p:nvGraphicFramePr>
        <p:xfrm>
          <a:off xmlns:a="http://schemas.openxmlformats.org/drawingml/2006/main" x="571500" y="1600200"/>
          <a:ext xmlns:a="http://schemas.openxmlformats.org/drawingml/2006/main" cx="11049000" cy="4552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3857625"/>
                <a:gridCol w="5048250"/>
              </a:tblGrid>
              <a:tr h="650421"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15191D"/>
                          </a:solidFill>
                        </a:rPr>
                        <a:t>Area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2E5"/>
                      </a:solidFill>
                      <a:prstDash val="solid"/>
                    </a:lnL>
                    <a:lnR w="9525">
                      <a:solidFill>
                        <a:srgbClr val="E1E2E5"/>
                      </a:solidFill>
                      <a:prstDash val="solid"/>
                    </a:lnR>
                    <a:lnT w="9525">
                      <a:solidFill>
                        <a:srgbClr val="E1E2E5"/>
                      </a:solidFill>
                      <a:prstDash val="solid"/>
                    </a:lnT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DA3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15191D"/>
                          </a:solidFill>
                        </a:rPr>
                        <a:t>Challenge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T w="9525">
                      <a:solidFill>
                        <a:srgbClr val="E1E2E5"/>
                      </a:solidFill>
                      <a:prstDash val="solid"/>
                    </a:lnT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DA3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15191D"/>
                          </a:solidFill>
                        </a:rPr>
                        <a:t>Response / remaining work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T w="9525">
                      <a:solidFill>
                        <a:srgbClr val="E1E2E5"/>
                      </a:solidFill>
                      <a:prstDash val="solid"/>
                    </a:lnT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DA35"/>
                    </a:solidFill>
                  </a:tcPr>
                </a:tc>
              </a:tr>
              <a:tr h="650421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5191D"/>
                          </a:solidFill>
                        </a:rPr>
                        <a:t>Slot Conflicts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2E5"/>
                      </a:solidFill>
                      <a:prstDash val="solid"/>
                    </a:lnL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5191D"/>
                          </a:solidFill>
                        </a:rPr>
                        <a:t>Concurrent requests can target the same time.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5191D"/>
                          </a:solidFill>
                        </a:rPr>
                        <a:t>Availability holds and conflict checks protect booking slots.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421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5191D"/>
                          </a:solidFill>
                        </a:rPr>
                        <a:t>Payment Events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2E5"/>
                      </a:solidFill>
                      <a:prstDash val="solid"/>
                    </a:lnL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5191D"/>
                          </a:solidFill>
                        </a:rPr>
                        <a:t>Checkout retries and webhooks can repeat.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5191D"/>
                          </a:solidFill>
                        </a:rPr>
                        <a:t>Signature checks and event records support safe processing.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421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5191D"/>
                          </a:solidFill>
                        </a:rPr>
                        <a:t>Role Isolation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2E5"/>
                      </a:solidFill>
                      <a:prstDash val="solid"/>
                    </a:lnL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5191D"/>
                          </a:solidFill>
                        </a:rPr>
                        <a:t>Users need different data and permissions.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5191D"/>
                          </a:solidFill>
                        </a:rPr>
                        <a:t>Role and participant checks guard protected operations.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421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5191D"/>
                          </a:solidFill>
                        </a:rPr>
                        <a:t>Provider KYC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2E5"/>
                      </a:solidFill>
                      <a:prstDash val="solid"/>
                    </a:lnL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5191D"/>
                          </a:solidFill>
                        </a:rPr>
                        <a:t>Live identity verification needs a vendor.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5191D"/>
                          </a:solidFill>
                        </a:rPr>
                        <a:t>Production adapter and vendor configuration remain pending.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421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5191D"/>
                          </a:solidFill>
                        </a:rPr>
                        <a:t>Live Payments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2E5"/>
                      </a:solidFill>
                      <a:prstDash val="solid"/>
                    </a:lnL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5191D"/>
                          </a:solidFill>
                        </a:rPr>
                        <a:t>Real checkout and payouts need approval.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5191D"/>
                          </a:solidFill>
                        </a:rPr>
                        <a:t>Configure Razorpay credentials and linked accounts.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421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5191D"/>
                          </a:solidFill>
                        </a:rPr>
                        <a:t>Production Readiness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1E2E5"/>
                      </a:solidFill>
                      <a:prstDash val="solid"/>
                    </a:lnL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5191D"/>
                          </a:solidFill>
                        </a:rPr>
                        <a:t>Local functionality does not prove launch readiness.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15191D"/>
                          </a:solidFill>
                        </a:rPr>
                        <a:t>Hosting, email, monitoring and live acceptance testing remain.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1E2E5"/>
                      </a:solidFill>
                      <a:prstDash val="solid"/>
                    </a:lnR>
                    <a:lnB w="9525">
                      <a:solidFill>
                        <a:srgbClr val="E1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64528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0B9D03-9EBF-40E3-BBD7-025D82821A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4a99817924459c"/>
          <a:stretch xmlns:a="http://schemas.openxmlformats.org/drawingml/2006/main"/>
        </p:blipFill>
        <p:spPr>
          <a:xfrm xmlns:a="http://schemas.openxmlformats.org/drawingml/2006/main">
            <a:off x="8958263" y="0"/>
            <a:ext cx="3228975" cy="21526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BAC18-6395-49AF-AAF7-959EA566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9525">
            <a:solidFill>
              <a:srgbClr val="FFDA3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725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2CD04-11F1-4BEA-95B6-3245722D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191D"/>
                </a:solidFill>
              </a:defRPr>
            </a:pPr>
            <a:r>
              <a:rPr sz="2700" b="1">
                <a:solidFill>
                  <a:srgbClr val="15191D"/>
                </a:solidFill>
              </a:rPr>
              <a:t>Conclusion &amp; Future Enhancements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EF0BA-F286-41AC-A8CD-FEF04FFE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FFDA3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D66295-1551-47E5-9547-5466C6F7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3565E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565E"/>
                </a:solidFill>
              </a:defRPr>
            </a:pPr>
            <a:r>
              <a:rPr sz="1125" b="0">
                <a:solidFill>
                  <a:srgbClr val="53565E"/>
                </a:solidFill>
              </a:rPr>
              <a:t>Nearby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F9EBF-8576-49D3-BA33-954500DB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557FF"/>
                </a:solidFill>
              </a:defRPr>
            </a:pPr>
            <a:r>
              <a:rPr sz="1350" b="1">
                <a:solidFill>
                  <a:srgbClr val="1557FF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FFE3A-ABC4-476E-8358-80682CBB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557FF"/>
                </a:solidFill>
              </a:defRPr>
            </a:pPr>
            <a:r>
              <a:rPr sz="2100" b="1">
                <a:solidFill>
                  <a:srgbClr val="1557FF"/>
                </a:solidFill>
              </a:rPr>
              <a:t>Conclusion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691D5-6B00-434D-B5A7-F2127604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4429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5191D"/>
                </a:solidFill>
              </a:defRPr>
            </a:pPr>
            <a:r>
              <a:rPr sz="2175" b="0">
                <a:solidFill>
                  <a:srgbClr val="15191D"/>
                </a:solidFill>
              </a:rPr>
              <a:t>Nearby brings exact-pincode service discovery, booking and provider management into one role-based web platform. The code includes payments, chat and dispute workflows. Production launch requires external service configuration and live validation.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AB9D2-E6D5-4E61-927B-81E3153C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19250"/>
            <a:ext cx="0" cy="404812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FFDA3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5BD453-F8D6-48AF-A50C-6BB6F2E5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1925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5191D"/>
                </a:solidFill>
              </a:defRPr>
            </a:pPr>
            <a:r>
              <a:rPr sz="2100" b="1">
                <a:solidFill>
                  <a:srgbClr val="15191D"/>
                </a:solidFill>
              </a:rPr>
              <a:t>Future Enhancements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AF0ABD-3FEB-431D-9788-AAAF8EEC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6695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57FF"/>
                </a:solidFill>
              </a:defRPr>
            </a:pPr>
            <a:r>
              <a:rPr sz="1875" b="1">
                <a:solidFill>
                  <a:srgbClr val="1557FF"/>
                </a:solidFill>
              </a:rPr>
              <a:t>Mobile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F4AFC-5AFF-47F7-8237-CE6A1D38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00325"/>
            <a:ext cx="561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191D"/>
                </a:solidFill>
              </a:defRPr>
            </a:pPr>
            <a:r>
              <a:rPr sz="1725" b="0">
                <a:solidFill>
                  <a:srgbClr val="15191D"/>
                </a:solidFill>
              </a:rPr>
              <a:t>A dedicated mobile app for customers and providers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16C76-DB8E-4840-91F7-8E6A5613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95625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57FF"/>
                </a:solidFill>
              </a:defRPr>
            </a:pPr>
            <a:r>
              <a:rPr sz="1875" b="1">
                <a:solidFill>
                  <a:srgbClr val="1557FF"/>
                </a:solidFill>
              </a:rPr>
              <a:t>Notifications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3D0D30-C888-4E48-9653-C86FBE6E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429000"/>
            <a:ext cx="561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191D"/>
                </a:solidFill>
              </a:defRPr>
            </a:pPr>
            <a:r>
              <a:rPr sz="1725" b="0">
                <a:solidFill>
                  <a:srgbClr val="15191D"/>
                </a:solidFill>
              </a:rPr>
              <a:t>Push notifications for booking and payment updates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3240B0-6E39-4714-BAF1-AA03E367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2430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57FF"/>
                </a:solidFill>
              </a:defRPr>
            </a:pPr>
            <a:r>
              <a:rPr sz="1875" b="1">
                <a:solidFill>
                  <a:srgbClr val="1557FF"/>
                </a:solidFill>
              </a:rPr>
              <a:t>Recommendations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C77843-E960-4C41-99BD-E4B8F9B1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257675"/>
            <a:ext cx="561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191D"/>
                </a:solidFill>
              </a:defRPr>
            </a:pPr>
            <a:r>
              <a:rPr sz="1725" b="0">
                <a:solidFill>
                  <a:srgbClr val="15191D"/>
                </a:solidFill>
              </a:rPr>
              <a:t>Personalized service suggestions based on user needs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2CC54F-3FA8-4FEB-BEA1-5958C116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52975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57FF"/>
                </a:solidFill>
              </a:defRPr>
            </a:pPr>
            <a:r>
              <a:rPr sz="1875" b="1">
                <a:solidFill>
                  <a:srgbClr val="1557FF"/>
                </a:solidFill>
              </a:rPr>
              <a:t>Analytics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663270-95F9-42B3-8679-D444A8C6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086350"/>
            <a:ext cx="561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191D"/>
                </a:solidFill>
              </a:defRPr>
            </a:pPr>
            <a:r>
              <a:rPr sz="1725" b="0">
                <a:solidFill>
                  <a:srgbClr val="15191D"/>
                </a:solidFill>
              </a:rPr>
              <a:t>Expanded provider and marketplace performance reports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AE7917-DEC6-4A9F-B7E8-BCA881EB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2452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5191D"/>
                </a:solidFill>
              </a:defRPr>
            </a:pPr>
            <a:r>
              <a:rPr sz="3450" b="1">
                <a:solidFill>
                  <a:srgbClr val="15191D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582841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2026-10-14T23:21:19.8270000Z</dcterms:created>
  <dcterms:modified xsi:type="dcterms:W3CDTF">2026-10-14T23:21:19.8280000Z</dcterms:modified>
</coreProperties>
</file>