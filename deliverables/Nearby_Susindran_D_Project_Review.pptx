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d40c2065f5472a" /><Relationship Type="http://schemas.openxmlformats.org/officeDocument/2006/relationships/extended-properties" Target="/docProps/app.xml" Id="R2b5e8260cd974d27" /><Relationship Type="http://schemas.openxmlformats.org/officeDocument/2006/relationships/officeDocument" Target="/ppt/presentation.xml" Id="Rf520d5c5e53741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03c2f237804cdf"/>
  </p:sldMasterIdLst>
  <p:notesMasterIdLst>
    <p:notesMasterId xmlns:r="http://schemas.openxmlformats.org/officeDocument/2006/relationships" r:id="R7c18f760063d40d0"/>
  </p:notesMasterIdLst>
  <p:sldIdLst>
    <p:sldId xmlns:r="http://schemas.openxmlformats.org/officeDocument/2006/relationships" id="256" r:id="R8c1f579b115f45d1"/>
    <p:sldId xmlns:r="http://schemas.openxmlformats.org/officeDocument/2006/relationships" id="257" r:id="R5c5acab67f9c4b92"/>
    <p:sldId xmlns:r="http://schemas.openxmlformats.org/officeDocument/2006/relationships" id="258" r:id="R26b1e26dc4e04182"/>
    <p:sldId xmlns:r="http://schemas.openxmlformats.org/officeDocument/2006/relationships" id="259" r:id="R5948c603fa4f464c"/>
    <p:sldId xmlns:r="http://schemas.openxmlformats.org/officeDocument/2006/relationships" id="260" r:id="R72f6bd7f2cec4ace"/>
    <p:sldId xmlns:r="http://schemas.openxmlformats.org/officeDocument/2006/relationships" id="261" r:id="R93e176871c4a48ae"/>
    <p:sldId xmlns:r="http://schemas.openxmlformats.org/officeDocument/2006/relationships" id="262" r:id="R17135347b31b4a0e"/>
    <p:sldId xmlns:r="http://schemas.openxmlformats.org/officeDocument/2006/relationships" id="263" r:id="R1b41bf30d2744624"/>
    <p:sldId xmlns:r="http://schemas.openxmlformats.org/officeDocument/2006/relationships" id="264" r:id="Rcc47f423618f4d99"/>
    <p:sldId xmlns:r="http://schemas.openxmlformats.org/officeDocument/2006/relationships" id="265" r:id="R0ac8802ca47f44fe"/>
    <p:sldId xmlns:r="http://schemas.openxmlformats.org/officeDocument/2006/relationships" id="266" r:id="R26e973498deb4b15"/>
    <p:sldId xmlns:r="http://schemas.openxmlformats.org/officeDocument/2006/relationships" id="267" r:id="R34f087c9e48f4756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3bf34417c4414a" /><Relationship Type="http://schemas.openxmlformats.org/officeDocument/2006/relationships/slideMaster" Target="/ppt/slideMasters/slideMaster1.xml" Id="R3603c2f237804cdf" /><Relationship Type="http://schemas.openxmlformats.org/officeDocument/2006/relationships/notesMaster" Target="/ppt/notesMasters/notesMaster1.xml" Id="R7c18f760063d40d0" /><Relationship Type="http://schemas.openxmlformats.org/officeDocument/2006/relationships/presProps" Target="/ppt/presProps.xml" Id="Rc42589d4a33b4f68" /><Relationship Type="http://schemas.openxmlformats.org/officeDocument/2006/relationships/viewProps" Target="/ppt/viewProps.xml" Id="R794d88a74dd94127" /><Relationship Type="http://schemas.openxmlformats.org/officeDocument/2006/relationships/tableStyles" Target="/ppt/tableStyles.xml" Id="Rbe47f07cc33243a7" /><Relationship Type="http://schemas.openxmlformats.org/officeDocument/2006/relationships/slide" Target="/ppt/slides/slide1.xml" Id="R8c1f579b115f45d1" /><Relationship Type="http://schemas.openxmlformats.org/officeDocument/2006/relationships/slide" Target="/ppt/slides/slide2.xml" Id="R5c5acab67f9c4b92" /><Relationship Type="http://schemas.openxmlformats.org/officeDocument/2006/relationships/slide" Target="/ppt/slides/slide3.xml" Id="R26b1e26dc4e04182" /><Relationship Type="http://schemas.openxmlformats.org/officeDocument/2006/relationships/slide" Target="/ppt/slides/slide4.xml" Id="R5948c603fa4f464c" /><Relationship Type="http://schemas.openxmlformats.org/officeDocument/2006/relationships/slide" Target="/ppt/slides/slide5.xml" Id="R72f6bd7f2cec4ace" /><Relationship Type="http://schemas.openxmlformats.org/officeDocument/2006/relationships/slide" Target="/ppt/slides/slide6.xml" Id="R93e176871c4a48ae" /><Relationship Type="http://schemas.openxmlformats.org/officeDocument/2006/relationships/slide" Target="/ppt/slides/slide7.xml" Id="R17135347b31b4a0e" /><Relationship Type="http://schemas.openxmlformats.org/officeDocument/2006/relationships/slide" Target="/ppt/slides/slide8.xml" Id="R1b41bf30d2744624" /><Relationship Type="http://schemas.openxmlformats.org/officeDocument/2006/relationships/slide" Target="/ppt/slides/slide9.xml" Id="Rcc47f423618f4d99" /><Relationship Type="http://schemas.openxmlformats.org/officeDocument/2006/relationships/slide" Target="/ppt/slides/slide10.xml" Id="R0ac8802ca47f44fe" /><Relationship Type="http://schemas.openxmlformats.org/officeDocument/2006/relationships/slide" Target="/ppt/slides/slide11.xml" Id="R26e973498deb4b15" /><Relationship Type="http://schemas.openxmlformats.org/officeDocument/2006/relationships/slide" Target="/ppt/slides/slide12.xml" Id="R34f087c9e48f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8ac1c7642f41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cabc2caef24b38" /><Relationship Type="http://schemas.openxmlformats.org/officeDocument/2006/relationships/notesMaster" Target="/ppt/notesMasters/notesMaster1.xml" Id="R5a1d4c25596440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60a547cc1e45c7" /><Relationship Type="http://schemas.openxmlformats.org/officeDocument/2006/relationships/notesMaster" Target="/ppt/notesMasters/notesMaster1.xml" Id="Rfed8dc39aaff4b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2ccc1467144b60" /><Relationship Type="http://schemas.openxmlformats.org/officeDocument/2006/relationships/notesMaster" Target="/ppt/notesMasters/notesMaster1.xml" Id="Re93fddf5dc184e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cf627e0e4f4d7f" /><Relationship Type="http://schemas.openxmlformats.org/officeDocument/2006/relationships/notesMaster" Target="/ppt/notesMasters/notesMaster1.xml" Id="R3f2503e1c77a41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0035b5f6c04895" /><Relationship Type="http://schemas.openxmlformats.org/officeDocument/2006/relationships/notesMaster" Target="/ppt/notesMasters/notesMaster1.xml" Id="R2d644f6b38134e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1291ca1b09478d" /><Relationship Type="http://schemas.openxmlformats.org/officeDocument/2006/relationships/notesMaster" Target="/ppt/notesMasters/notesMaster1.xml" Id="Rc8eb1ce0aabf42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df66f17d3d483e" /><Relationship Type="http://schemas.openxmlformats.org/officeDocument/2006/relationships/notesMaster" Target="/ppt/notesMasters/notesMaster1.xml" Id="Rc6ea82b31b6442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bf9c96ff4c43df" /><Relationship Type="http://schemas.openxmlformats.org/officeDocument/2006/relationships/notesMaster" Target="/ppt/notesMasters/notesMaster1.xml" Id="Ra264810be1114b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862993f7fc4e5d" /><Relationship Type="http://schemas.openxmlformats.org/officeDocument/2006/relationships/notesMaster" Target="/ppt/notesMasters/notesMaster1.xml" Id="Ra4d8cebe0ae84b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0304c8ee504353" /><Relationship Type="http://schemas.openxmlformats.org/officeDocument/2006/relationships/notesMaster" Target="/ppt/notesMasters/notesMaster1.xml" Id="Rbc1abc4e83d844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ab6d2fb1774418" /><Relationship Type="http://schemas.openxmlformats.org/officeDocument/2006/relationships/notesMaster" Target="/ppt/notesMasters/notesMaster1.xml" Id="R450bb771c35b4e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cf5a622d47419c" /><Relationship Type="http://schemas.openxmlformats.org/officeDocument/2006/relationships/notesMaster" Target="/ppt/notesMasters/notesMaster1.xml" Id="R7387795166a34b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198d32e9346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6553624cc4f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7cea834664b7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rgbClr val="EEF2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6FB2C8C-843A-4ACF-BA97-F0B40529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E6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F776E7-7EC5-4A60-8533-61043547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0060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586"/>
                </a:solidFill>
              </a:rPr>
              <a:t>Nearby  |  Local Services Marketplace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733713-1D1A-429E-9B61-518540D2087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400" b="1">
                <a:solidFill>
                  <a:srgbClr val="111C4E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6FF4025-D606-4A49-96CB-4BB66CE3976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0B14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080B21F-53D7-4ECC-BDA9-11D1BD53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E6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B1D9B3F-6AF6-4CF9-97CD-633EE56A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09728"/>
            <a:ext cx="731520" cy="50337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4E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405532F-448E-4A6C-9FF9-170069032319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40080" y="1417320"/>
            <a:ext cx="72237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4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0ebf1190d04715" /><Relationship Type="http://schemas.openxmlformats.org/officeDocument/2006/relationships/slideLayout" Target="/ppt/slideLayouts/slideLayout1.xml" Id="R4cf86b9a294849c6" /><Relationship Type="http://schemas.openxmlformats.org/officeDocument/2006/relationships/slideLayout" Target="/ppt/slideLayouts/slideLayout2.xml" Id="R34c8c9b92dbb4624" /><Relationship Type="http://schemas.openxmlformats.org/officeDocument/2006/relationships/slideLayout" Target="/ppt/slideLayouts/slideLayout3.xml" Id="R8e1df1fc4fe34c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BEBF81E-48CC-44B3-B6C3-9F9C63444D7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f86b9a294849c6"/>
    <p:sldLayoutId xmlns:r="http://schemas.openxmlformats.org/officeDocument/2006/relationships" id="2147483650" r:id="R34c8c9b92dbb4624"/>
    <p:sldLayoutId xmlns:r="http://schemas.openxmlformats.org/officeDocument/2006/relationships" id="2147483651" r:id="R8e1df1fc4fe34cf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b2211059a9459e" /><Relationship Type="http://schemas.openxmlformats.org/officeDocument/2006/relationships/notesSlide" Target="/ppt/notesSlides/notesSlide1.xml" Id="R017446467f0f4f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ae1fb7d43401b" /><Relationship Type="http://schemas.openxmlformats.org/officeDocument/2006/relationships/notesSlide" Target="/ppt/notesSlides/notesSlide2.xml" Id="Rd56c262d5ac24c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0b341a0163423f" /><Relationship Type="http://schemas.openxmlformats.org/officeDocument/2006/relationships/notesSlide" Target="/ppt/notesSlides/notesSlide3.xml" Id="R5426aa0a09ec48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4e9b40f00049e1" /><Relationship Type="http://schemas.openxmlformats.org/officeDocument/2006/relationships/notesSlide" Target="/ppt/notesSlides/notesSlide4.xml" Id="R45fbb0b6d82f46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5e859cb647419e" /><Relationship Type="http://schemas.openxmlformats.org/officeDocument/2006/relationships/notesSlide" Target="/ppt/notesSlides/notesSlide5.xml" Id="Rfbe8949e83cc42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fe7ab446ff4c84" /><Relationship Type="http://schemas.openxmlformats.org/officeDocument/2006/relationships/notesSlide" Target="/ppt/notesSlides/notesSlide6.xml" Id="Rec10b5e2f37d4e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4019ed8b54f2d" /><Relationship Type="http://schemas.openxmlformats.org/officeDocument/2006/relationships/notesSlide" Target="/ppt/notesSlides/notesSlide7.xml" Id="Radaf66be422b4d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d1b72a0a92433b" /><Relationship Type="http://schemas.openxmlformats.org/officeDocument/2006/relationships/notesSlide" Target="/ppt/notesSlides/notesSlide8.xml" Id="Rb8d27f5e1bc844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068c89c92f40d5" /><Relationship Type="http://schemas.openxmlformats.org/officeDocument/2006/relationships/notesSlide" Target="/ppt/notesSlides/notesSlide9.xml" Id="Rcb6aede2183343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f663f0659b4bd2" /><Relationship Type="http://schemas.openxmlformats.org/officeDocument/2006/relationships/notesSlide" Target="/ppt/notesSlides/notesSlide10.xml" Id="Rb5426bf6c83e49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8a331eb5fb4055" /><Relationship Type="http://schemas.openxmlformats.org/officeDocument/2006/relationships/notesSlide" Target="/ppt/notesSlides/notesSlide11.xml" Id="R4a764d5d5e2f4b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936ef34ed241b0" /><Relationship Type="http://schemas.openxmlformats.org/officeDocument/2006/relationships/notesSlide" Target="/ppt/notesSlides/notesSlide12.xml" Id="R2dbc7ae5e7a846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1E1B3A-C9E5-474A-89E6-C896694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37"/>
          </a:solidFill>
          <a:ln xmlns:a="http://schemas.openxmlformats.org/drawingml/2006/main" w="12700">
            <a:solidFill>
              <a:srgbClr val="0B14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8442F03-AE5B-43B5-B67A-426A599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32918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>
              <a:alpha val="10000"/>
            </a:srgbClr>
          </a:solidFill>
          <a:ln xmlns:a="http://schemas.openxmlformats.org/drawingml/2006/main" w="12700">
            <a:solidFill>
              <a:srgbClr val="22D3EE">
                <a:alpha val="1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E7F7F37-AFB9-4DC3-8D3A-8F1CD99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AE6">
              <a:alpha val="20000"/>
            </a:srgbClr>
          </a:solidFill>
          <a:ln xmlns:a="http://schemas.openxmlformats.org/drawingml/2006/main" w="12700">
            <a:solidFill>
              <a:srgbClr val="6D5AE6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F01ED0A-F2BF-4E98-A50B-6BD2690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5DE612-25F7-4D61-84E9-AE30C822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45720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30AD396-FEDA-471D-AC46-DAB6832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384048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02C06B-C8BF-48D3-B5A7-34896FF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</a:rPr>
              <a:t>N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382093-26B4-49A5-A612-84B89F1B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200">
                <a:solidFill>
                  <a:srgbClr val="22D3EE"/>
                </a:solidFill>
              </a:rPr>
              <a:t>EASWARI ENGINEERING COLLEGE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23B726-A308-4694-BE36-2AC93DE2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216"/>
            <a:ext cx="3931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E6"/>
                </a:solidFill>
              </a:rPr>
              <a:t>Department of Computer Science and Engineering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38E7A44-AE83-46C9-B0E4-0C515691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2103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11C4E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F8D1C1B-120F-4C22-96C3-F71162FE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100">
                <a:solidFill>
                  <a:srgbClr val="22D3EE"/>
                </a:solidFill>
              </a:rPr>
              <a:t>NEARBY  ·  PROJECT REVIEW</a:t>
            </a:r>
            <a:endParaRPr sz="750"/>
          </a:p>
        </p:txBody>
      </p:sp>
      <p:sp>
        <p:nvSpPr>
          <p:cNvPr id="14" name="Text 2">
            <a:extLst xmlns:a="http://schemas.openxmlformats.org/drawingml/2006/main">
              <a:ext uri="{FF2B5EF4-FFF2-40B4-BE49-F238E27FC236}">
                <a16:creationId xmlns:a16="http://schemas.microsoft.com/office/drawing/2014/main" id="{31D809E6-C28C-4708-B77C-28915B440D31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40080" y="1417320"/>
            <a:ext cx="466725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Nearby</a:t>
            </a:r>
            <a:endParaRPr sz="3400"/>
          </a:p>
          <a:p xmlns:a="http://schemas.openxmlformats.org/drawingml/2006/main">
            <a:pPr marL="0" indent="0"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Local Services Marketplace</a:t>
            </a:r>
            <a:endParaRPr sz="3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BB66307-1B8F-46D1-81C9-3D9CC8C2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4297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1F2"/>
                </a:solidFill>
              </a:rPr>
              <a:t>A web platform for local service discovery, booking and provider management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090AAD9-FD6E-4D01-84E2-2215297E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448056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C4E"/>
          </a:solidFill>
          <a:ln xmlns:a="http://schemas.openxmlformats.org/drawingml/2006/main" w="9525">
            <a:solidFill>
              <a:srgbClr val="2633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FA2B5D3-89BA-40E1-B112-BE52420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6400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175FC27-C1FE-4C9D-8306-727089CE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931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22D3EE"/>
                </a:solidFill>
              </a:rPr>
              <a:t>STUDENT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9B314C7-AD88-43F1-A7D5-4184CAA7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63931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</a:rPr>
              <a:t>Susindran D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86A8B5-1EB8-4007-9917-09AABCC9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363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22D3EE"/>
                </a:solidFill>
              </a:rPr>
              <a:t>REGISTER NO</a:t>
            </a:r>
            <a:endParaRPr sz="8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FA06BC6-905F-49B5-B565-F7BE9EA5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91363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</a:rPr>
              <a:t>310624104342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63B2A5C-E776-486F-A624-FDF8434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22D3EE"/>
                </a:solidFill>
              </a:rPr>
              <a:t>FACULTY GUIDE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A9AAAB-DA18-43F8-8D93-ADD5AE62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18795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</a:rPr>
              <a:t>Swapna Duggi</a:t>
            </a:r>
            <a:endParaRPr sz="1250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378B7-BB70-49E9-839A-BCE316B6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CUSTOMER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16969-6F52-476C-B41C-75E53D8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9D1F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9D1F2"/>
                </a:solidFill>
              </a:defRPr>
            </a:pPr>
            <a:r>
              <a:rPr sz="1350" b="0">
                <a:solidFill>
                  <a:srgbClr val="C9D1F2"/>
                </a:solidFill>
              </a:rPr>
              <a:t>Find services by pincode</a:t>
            </a:r>
          </a:p>
          <a:p xmlns:a="http://schemas.openxmlformats.org/drawingml/2006/main">
            <a:pPr>
              <a:defRPr sz="1350" b="0">
                <a:solidFill>
                  <a:srgbClr val="C9D1F2"/>
                </a:solidFill>
              </a:defRPr>
            </a:pPr>
            <a:r>
              <a:rPr sz="1350" b="0">
                <a:solidFill>
                  <a:srgbClr val="C9D1F2"/>
                </a:solidFill>
              </a:rPr>
              <a:t>Request a suitable 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13EBC-7D0C-414C-987C-589C5350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PROVIDER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7248F-232E-42F1-A131-20D18395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05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9D1F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9D1F2"/>
                </a:solidFill>
              </a:defRPr>
            </a:pPr>
            <a:r>
              <a:rPr sz="1350" b="0">
                <a:solidFill>
                  <a:srgbClr val="C9D1F2"/>
                </a:solidFill>
              </a:rPr>
              <a:t>Manage listings and availability</a:t>
            </a:r>
          </a:p>
          <a:p xmlns:a="http://schemas.openxmlformats.org/drawingml/2006/main">
            <a:pPr>
              <a:defRPr sz="1350" b="0">
                <a:solidFill>
                  <a:srgbClr val="C9D1F2"/>
                </a:solidFill>
              </a:defRPr>
            </a:pPr>
            <a:r>
              <a:rPr sz="1350" b="0">
                <a:solidFill>
                  <a:srgbClr val="C9D1F2"/>
                </a:solidFill>
              </a:rPr>
              <a:t>Accept and fulfil bookings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FE9EA-AE8B-4D49-8375-0262E669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2D3EE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5027D-42C0-41EF-92D5-53A1A97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9D1F2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9D1F2"/>
                </a:solidFill>
              </a:defRPr>
            </a:pPr>
            <a:r>
              <a:rPr sz="1350" b="0">
                <a:solidFill>
                  <a:srgbClr val="C9D1F2"/>
                </a:solidFill>
              </a:rPr>
              <a:t>Review providers</a:t>
            </a:r>
          </a:p>
          <a:p xmlns:a="http://schemas.openxmlformats.org/drawingml/2006/main">
            <a:pPr>
              <a:defRPr sz="1350" b="0">
                <a:solidFill>
                  <a:srgbClr val="C9D1F2"/>
                </a:solidFill>
              </a:defRPr>
            </a:pPr>
            <a:r>
              <a:rPr sz="1350" b="0">
                <a:solidFill>
                  <a:srgbClr val="C9D1F2"/>
                </a:solidFill>
              </a:rPr>
              <a:t>Manage policies and disputes</a:t>
            </a:r>
          </a:p>
        </p:txBody>
      </p:sp>
    </p:spTree>
    <p:extLst>
      <p:ext uri="{BB962C8B-B14F-4D97-AF65-F5344CB8AC3E}">
        <p14:creationId xmlns:p14="http://schemas.microsoft.com/office/powerpoint/2010/main" val="1199602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7F560A4-03DF-4E58-97EE-D644173EC053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Agenda &amp; Project Overview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393387B-B701-435D-A129-BC186845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933C97-7FAA-4B29-BDFB-F988FEA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481556-91F2-46CC-A20F-169EF827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91C462-C313-4372-8C5F-F26692E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01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F5A127-7956-4613-98B1-463D7B5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124712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Problem &amp; Proposed System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A41DA48-FFDA-4F88-8CC8-4A6FA60B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097280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F822D6-DC13-47A6-B3AB-A1611B0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8E2D6A-AF7C-4081-AC03-28114E4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02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A8BF4B-76A8-4E49-918F-7C235972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124712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System Requirements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90DF72A-6A5A-47D4-A170-D6BAAF0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10512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8770548-2641-4CE3-AC3E-82D5274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0195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737A57E-A142-4991-AD47-4A4CF1D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019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03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C49390-BD79-461E-AF0F-65A88E4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37944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Architecture &amp; Technology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860F61C-8773-4D2C-B845-7C9AA93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10512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344945C-24AB-451C-9269-5B022F4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0195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2D9A9A-CE5C-4A50-A4D9-8C8CAF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019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04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075D5FD-CE1B-4AC3-87F2-A88C3CE7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837944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Customer, Provider &amp; Admin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60CF51D-A964-4824-AC1D-67C9BCA1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23744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891D95F-C414-4261-902B-D60B9BC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15184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B78F58A-316D-4482-97F2-6DD835DB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151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05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87E7DF5-9C4C-4817-8395-82988493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51176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Database Relationships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88AEE34-9FA2-47D4-9696-24FA8A46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23744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ED8A0B6-7B5B-4DFD-855A-C58EBC9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5184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1A850DB-1F2E-42D6-8D84-6E88AE3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51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06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B58C145-556B-4229-AF41-AC4B8B0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551176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Modules &amp; Workspaces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5F0255-09FD-43D5-A681-4A885F9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36976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F2EC8B5-CAE0-41BB-B99F-6AE9AA0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2841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BB7CBF7-2E76-4896-B9A6-4696AE84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284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07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8D742CB-F6C3-40D9-A7F5-CB555DCD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64408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Frontend &amp; Backend</a:t>
            </a:r>
            <a:endParaRPr sz="12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46D06AB-6452-417F-A506-B7C515FB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36976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8822802-0EE1-48A0-B94B-F271692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2841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192EFE6-9291-4D91-8811-4EF21EED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284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08</a:t>
            </a:r>
            <a:endParaRPr sz="13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934929F-9E0C-4EF6-B091-09A6D9A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264408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APIs &amp; Booking Workflow</a:t>
            </a:r>
            <a:endParaRPr sz="12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2AC2B07-994E-4E7D-BBAB-CB70CD21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50208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6D11D66-1852-4456-AACE-0D7473B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ACD08A0-AAD7-4440-9F5B-D43B5278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09</a:t>
            </a:r>
            <a:endParaRPr sz="13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52867A9-DEC6-4848-910B-D76725B5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7764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Challenges &amp; Limitations</a:t>
            </a:r>
            <a:endParaRPr sz="12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4DF8677-4C1E-42B1-BB2A-5FDB82E1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950208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F3A0F54-B059-4BA2-BC2A-ECC45EEE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4164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EDD9F02-C270-4113-9C7B-602C823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10</a:t>
            </a:r>
            <a:endParaRPr sz="13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81EB6FD-2B10-4C26-AB72-D3130C3F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97764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B2340"/>
                </a:solidFill>
              </a:rPr>
              <a:t>Conclusion &amp; Future Scope</a:t>
            </a:r>
            <a:endParaRPr sz="125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E926CEB-931C-47BC-BC77-D43FE314BB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2598689-54C9-18A7-3A19-ED76AA08988F}" type="slidenum">
              <a:rPr b="0"/>
              <a:t>2</a:t>
            </a:fld>
            <a:endParaRPr/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C104DE-F7DD-4898-9FD1-55A7EA98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81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6586"/>
                </a:solidFill>
              </a:defRPr>
            </a:pPr>
            <a:r>
              <a:rPr sz="1050" b="0">
                <a:solidFill>
                  <a:srgbClr val="5B6586"/>
                </a:solidFill>
              </a:rPr>
              <a:t>Nearby connects customers with local providers through exact six-digit pincode discovery.</a:t>
            </a:r>
          </a:p>
        </p:txBody>
      </p:sp>
    </p:spTree>
    <p:extLst>
      <p:ext uri="{BB962C8B-B14F-4D97-AF65-F5344CB8AC3E}">
        <p14:creationId xmlns:p14="http://schemas.microsoft.com/office/powerpoint/2010/main" val="571740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F83B4D0-5180-4FF4-87C9-3BF0B5946657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Problem &amp; Existing vs Proposed System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821555-249E-415B-B44B-00842DAA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ED835F3-72EA-42EB-BADA-62461E48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4A8"/>
          </a:solidFill>
          <a:ln xmlns:a="http://schemas.openxmlformats.org/drawingml/2006/main" w="12700">
            <a:solidFill>
              <a:srgbClr val="7A84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DA70A9-7D61-45EC-AA35-52D76F5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09728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B316EC-9498-4121-B0DD-97CFC3C9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Fragmented Service Process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503B15-7E43-4C61-A06B-4E588649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09728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Nearby Platform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CD80C81-C33B-4974-AC4F-A9D01A4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0058DB-077C-425D-9A35-9D8C2EE7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0020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FC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63AD3D3-8E2E-41AA-9E7F-57D98AD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586"/>
                </a:solidFill>
              </a:rPr>
              <a:t>Search across listings and contacts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C4A3AD-14AC-4DCE-9975-832F3DED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0020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Discover services by exact pincode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97B664B-AAB8-4F30-9E9A-312BA3D7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17A3FE-8549-4E33-ACDD-C3AC6D0D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4884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FC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6833D2-FF83-4465-A800-064297F7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586"/>
                </a:solidFill>
              </a:rPr>
              <a:t>Confirm coverage through calls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E7785E1-BA49-4450-81BD-760B64A3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4884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Check published service areas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F7E808E-0581-4AC8-A7E8-18B63577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EEB7F42-82CB-42C8-86A6-68D25ED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9748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FC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1CF357-7C3D-4413-924F-663B920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586"/>
                </a:solidFill>
              </a:rPr>
              <a:t>Arrange time through separate chats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1E51CED-BAA1-4EDE-AE4F-150CD07B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9748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Request a published availability slot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CCDA327-A47D-4BF6-84BD-98123B3C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111FA6D-F318-435C-B1EA-9AAFA14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4612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FC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8ED4259-BE8D-4894-8C50-27A9CD3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586"/>
                </a:solidFill>
              </a:rPr>
              <a:t>Track booking and payment separately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CB0171A-6A9C-4D92-978D-BDDD62F1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4612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Manage booking and INR checkout together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C530482-2168-425C-ADA4-0E003260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AED6154-03C9-46A7-8238-16F2BACE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79476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FC"/>
          </a:solidFill>
          <a:ln xmlns:a="http://schemas.openxmlformats.org/drawingml/2006/main" w="12700">
            <a:solidFill>
              <a:srgbClr val="DDE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F28D3D-66AD-4C53-8F83-AD417AC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B6586"/>
                </a:solidFill>
              </a:rPr>
              <a:t>Resolve issues through informal follow-up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AB5D85C-05B5-4677-AA11-3AA26375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9476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Use booking-linked chat, reviews and disputes</a:t>
            </a:r>
            <a:endParaRPr sz="12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D34A5C-289F-4434-B80A-20C0BA5E4C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86609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1EDD2805-AA3D-4F05-B36A-E86E779C192F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Functional &amp; Non-Functional Requirements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E9E452-EE9E-4320-A682-64D89C27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56F117-2DCF-4FA6-B464-50F2AAA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20624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1EB13C5-1938-4362-8338-8D98CE1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051560"/>
            <a:ext cx="374904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B842F5-A5AE-4EFF-967B-F0F9E638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1288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D5AE6"/>
                </a:solidFill>
              </a:rPr>
              <a:t>Functional Requirements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DAC88C9-CB76-443D-93EE-C90D589D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4480"/>
            <a:ext cx="3886200" cy="3063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Login for customer, provider and admin roles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Search services by six-digit pincode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Manage provider profiles and service listings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Publish availability and request bookings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Accept requests before customer checkout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Exchange booking-linked messages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Submit reviews and raise disputes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B979828-DAE9-433C-B46E-299E285C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161288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D5AE6"/>
                </a:solidFill>
              </a:rPr>
              <a:t>Non-Functional Requirements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27F385-3415-4356-BB54-2C8D21CF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55448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Security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JWT, hashed passwords and role checks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FC7E56-0685-47BB-81C2-8BD4C0C7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5740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Usability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Responsive pages and role-based navigation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A562A8-AD9C-4380-BAC9-00136D9B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6032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Integrity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Validated fields and unique booking records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2C7288D-F18F-495A-B2EA-A80E8F7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6324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Performance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Indexed searches and paginated results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EA6BADE-9CD9-4BD1-AFBF-F0813E3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56616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Maintainability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Modular API routes and Mongoose models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70C5D4A-A605-42BB-B7D5-3FACBAF6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06908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1C4E"/>
                </a:solidFill>
              </a:rPr>
              <a:t>Reliability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Database health checks and signed webhooks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C1BFA8C-EBB4-4C2F-A7A6-F8BE9F0B9D4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FD6AB9A-5F9E-5F59-51AB-3C8734130965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60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714E5339-593A-42A9-B4E2-8752240E2068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System Architecture &amp; Technology Stack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3F17C1F-46F9-48D9-AC21-47D61A37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B68F09-E210-4150-BA5E-668B08D4FAF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E5B3003-2C54-13C6-9832-7637201064DE}" type="slidenum">
              <a:rPr b="0"/>
              <a:t>5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0AF09-62F2-4485-9368-7ED1529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Presentation Tier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React + Vite + Tailwind CSS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53554-DA42-4D18-BFA4-A0BF277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Application Tier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Node.js + Express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JWT + REST APIs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1A75A-4E91-4E38-8A44-8306E913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Data Tier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MongoDB + Mongoose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Referenced collections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D6953-B4E7-401B-AE68-93AEB349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2715A-9165-4E7C-8B9F-0EA12AF8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0C77EC-F899-4CAB-927C-905D3461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5525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86"/>
                </a:solidFill>
              </a:defRPr>
            </a:pPr>
            <a:r>
              <a:rPr sz="825" b="0">
                <a:solidFill>
                  <a:srgbClr val="5B6586"/>
                </a:solidFill>
              </a:rPr>
              <a:t>HTTPS / 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D8ED6-1878-4F6D-9070-1F9AE30E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525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586"/>
                </a:solidFill>
              </a:defRPr>
            </a:pPr>
            <a:r>
              <a:rPr sz="825" b="0">
                <a:solidFill>
                  <a:srgbClr val="5B6586"/>
                </a:solidFill>
              </a:rPr>
              <a:t>Queries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10DF5-B76D-4646-9A71-F46B6D28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2238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Socket.IO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Booking-linked live chat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1A83F-901C-462B-8E99-3FF43E3C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266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Razorpay Checkout + Route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Payments and provider transfers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7CD5B-8B21-426F-86F1-A169169A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KYC vendor + Email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External service adapters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E459A9-35FC-4D43-AF36-DCE33397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2A4A6B-33FD-43BA-A166-0AB26482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6586"/>
                </a:solidFill>
              </a:defRPr>
            </a:pPr>
            <a:r>
              <a:rPr sz="1125" b="0">
                <a:solidFill>
                  <a:srgbClr val="5B6586"/>
                </a:solidFill>
              </a:rPr>
              <a:t>Production payments and KYC require configured external accounts and vendor approval.</a:t>
            </a:r>
          </a:p>
        </p:txBody>
      </p:sp>
    </p:spTree>
    <p:extLst>
      <p:ext uri="{BB962C8B-B14F-4D97-AF65-F5344CB8AC3E}">
        <p14:creationId xmlns:p14="http://schemas.microsoft.com/office/powerpoint/2010/main" val="8833856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AD82C115-FC9B-4CE4-8DEE-796B8A86962F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Use Cases: Customer, Provider &amp; Admin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98B986E-0713-458A-A44F-7CB5DFB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4E0F5FC-A907-4045-B608-D48CFA27081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8C630A04-5A25-9E0C-9436-126091DB86B3}" type="slidenum">
              <a:rPr b="0"/>
              <a:t>6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14FBF-EFB7-47E3-B97D-F5EEDBE9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Customer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63AE1-041B-492F-862A-F358ED0C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0972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83EC7A-5E5F-4610-83DD-E62089BA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2382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Discover services</a:t>
            </a:r>
          </a:p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Request and pay for bookings</a:t>
            </a:r>
          </a:p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Chat, review and raise disputes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3139F-974E-4FB2-91CA-15BCF5A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Provider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8FA94-28B9-467C-A2DF-F5C41DE8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05100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44E838-859F-4A0C-BFF9-D8074315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3362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Maintain profile and listings</a:t>
            </a:r>
          </a:p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Publish availability</a:t>
            </a:r>
          </a:p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Accept and complete bookings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4918C-9BB8-4363-A19D-56BC71BC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Admin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009CD-C66E-4814-ABC3-77427CF2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004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62696-E0AB-4D78-BC96-CBA9690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Review provider status</a:t>
            </a:r>
          </a:p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Configure marketplace policies</a:t>
            </a:r>
          </a:p>
          <a:p xmlns:a="http://schemas.openxmlformats.org/drawingml/2006/main">
            <a:pPr>
              <a:defRPr sz="1350" b="0">
                <a:solidFill>
                  <a:srgbClr val="1B2340"/>
                </a:solidFill>
              </a:defRPr>
            </a:pPr>
            <a:r>
              <a:rPr sz="1350" b="0">
                <a:solidFill>
                  <a:srgbClr val="1B2340"/>
                </a:solidFill>
              </a:rPr>
              <a:t>Resolve disputes and refunds</a:t>
            </a:r>
          </a:p>
        </p:txBody>
      </p:sp>
    </p:spTree>
    <p:extLst>
      <p:ext uri="{BB962C8B-B14F-4D97-AF65-F5344CB8AC3E}">
        <p14:creationId xmlns:p14="http://schemas.microsoft.com/office/powerpoint/2010/main" val="15219017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DB591859-5C91-40FD-810A-7E95100F300D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Database Design &amp; Key Relationships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7C9C2B6-4FAC-4EA8-AC2A-FAF4514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1D7FE6-66ED-4B10-A879-E71EB01EDFA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3D7D1C8-AE23-AA48-DF65-C742588DBE47}" type="slidenum">
              <a:rPr b="0"/>
              <a:t>7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20C31-C636-4F79-8639-EF796D5F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905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User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name, email, 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26E08-4BB1-4DF7-B07E-9ABABD61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38250"/>
            <a:ext cx="2190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ProviderProfile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user, servicePincodes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A1BDA-2BCE-4ECA-B57C-135B8C6A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1905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Service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provider, pricePaise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376FA-E7BC-4338-888F-935565B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90675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5461B-A441-4EAE-B37A-6222EFE2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90675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83A9E-2E39-4C1A-BE40-4AA6712A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430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86"/>
                </a:solidFill>
              </a:defRPr>
            </a:pPr>
            <a:r>
              <a:rPr sz="900" b="0">
                <a:solidFill>
                  <a:srgbClr val="5B6586"/>
                </a:solidFill>
              </a:rPr>
              <a:t>1 to 0..1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9AE8C-8A85-48F9-A5E1-0BE2280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43025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86"/>
                </a:solidFill>
              </a:defRPr>
            </a:pPr>
            <a:r>
              <a:rPr sz="900" b="0">
                <a:solidFill>
                  <a:srgbClr val="5B6586"/>
                </a:solidFill>
              </a:rPr>
              <a:t>1 to many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030C88-C61D-493E-BBBB-0C4CADD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Booking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customer, provider, service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scheduledAt,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736660-B788-4E04-8F1E-F6AC51B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0" cy="571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2540E-8FC2-4ED5-AA73-5018249E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0" cy="10096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67795C-F004-4227-AEBA-99F76335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367F4-EE4D-4B33-9FB0-0FCE396A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0" cy="10096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E4CBB-357F-4D12-A12A-74EEFEF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62275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10FF45-E142-476A-9A73-8A6F06A2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Payment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booking, amountPaise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483F18-FF42-4EA6-AE95-FD3F9C7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86"/>
                </a:solidFill>
              </a:defRPr>
            </a:pPr>
            <a:r>
              <a:rPr sz="900" b="0">
                <a:solidFill>
                  <a:srgbClr val="5B6586"/>
                </a:solidFill>
              </a:rPr>
              <a:t>0..1 per booking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8432F2-D1F2-45E4-A9AC-6696D016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Review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booking, rating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47ABB8-AEFD-44FC-9AD4-E7F5E8D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86"/>
                </a:solidFill>
              </a:defRPr>
            </a:pPr>
            <a:r>
              <a:rPr sz="900" b="0">
                <a:solidFill>
                  <a:srgbClr val="5B6586"/>
                </a:solidFill>
              </a:rPr>
              <a:t>0..1 per booking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DAADF1-6712-4592-9D2D-67E0FE2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Message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booking, sender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63D910-BFA2-491E-8343-FCB924E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86"/>
                </a:solidFill>
              </a:defRPr>
            </a:pPr>
            <a:r>
              <a:rPr sz="900" b="0">
                <a:solidFill>
                  <a:srgbClr val="5B6586"/>
                </a:solidFill>
              </a:rPr>
              <a:t>Many per booking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BC355D-9970-4555-B888-E921C39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9525">
            <a:solidFill>
              <a:srgbClr val="6D5AE6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11C4E"/>
                </a:solidFill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Dispute</a:t>
            </a:r>
          </a:p>
          <a:p xmlns:a="http://schemas.openxmlformats.org/drawingml/2006/main">
            <a:pPr algn="ctr">
              <a:defRPr sz="1200" b="1">
                <a:solidFill>
                  <a:srgbClr val="111C4E"/>
                </a:solidFill>
              </a:defRPr>
            </a:pPr>
            <a:r>
              <a:rPr sz="1200" b="1">
                <a:solidFill>
                  <a:srgbClr val="111C4E"/>
                </a:solidFill>
              </a:rPr>
              <a:t>booking, 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38BABB-87EF-4026-9045-52800FDC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5B6586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586"/>
                </a:solidFill>
              </a:defRPr>
            </a:pPr>
            <a:r>
              <a:rPr sz="900" b="0">
                <a:solidFill>
                  <a:srgbClr val="5B6586"/>
                </a:solidFill>
              </a:rPr>
              <a:t>0..1 per booking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3528ED-4E3D-46E9-A45D-3DA96350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2BAC3A-ADFF-4C87-8A2C-B4D168AC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62865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BDBAFE-F017-489E-A65B-8538954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85195D-A127-49E4-A11A-A0AC15A8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1A9057-8898-485D-A3C3-C7878EB6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557FBB-7C9E-423B-8E33-1EA9C0BF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D5AE6"/>
            </a:solidFill>
          </a:ln>
        </p:spPr>
      </p:sp>
    </p:spTree>
    <p:extLst>
      <p:ext uri="{BB962C8B-B14F-4D97-AF65-F5344CB8AC3E}">
        <p14:creationId xmlns:p14="http://schemas.microsoft.com/office/powerpoint/2010/main" val="5233045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430B75E9-053B-4700-B66E-6564F31214BD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Modules &amp; Role-Based Workspaces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CB0682-7EC7-493A-A5B3-DDCF319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9E979A5-024B-4369-A986-9B94EC20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DDE2BD-7A91-4652-9F0C-9C3C598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297AD1-56A7-46D9-87C3-EF20A9D8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C4E"/>
                </a:solidFill>
              </a:rPr>
              <a:t>Customer Workspace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E7D805-EDB4-4282-8857-1D0C3D0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D5AE6"/>
                </a:solidFill>
              </a:rPr>
              <a:t>Find and manage local services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1910E5-9385-4052-A69E-7DC5F460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Exact-pincode search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Service detail and time selection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Bookings and checkout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Messages, reviews and disputes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2C3C52D-26FE-4B08-BF9F-B8C6B22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FC9F1A-80FA-4D2D-810A-DF03D67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EA8B59-C1AB-4F3C-9217-E56B4A22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C4E"/>
                </a:solidFill>
              </a:rPr>
              <a:t>Provider Workspace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27611F-45E6-4B34-9E9B-A11F7042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D5AE6"/>
                </a:solidFill>
              </a:rPr>
              <a:t>Manage service delivery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981685-7D08-4916-99DF-CB0C7A44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Profile and service areas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Listings and availability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Accept or reject requests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Booking chat and completion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757F856-5BE7-44D6-A935-5238641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D258E2-F6D2-4324-A59E-FF19A9FE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C30C9A-2029-4470-BBA8-88E61D6D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C4E"/>
                </a:solidFill>
              </a:rPr>
              <a:t>Admin Workspace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C44C44-42AB-4DC4-AFEF-34614FD3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D5AE6"/>
                </a:solidFill>
              </a:rPr>
              <a:t>Oversee marketplace operations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0722A0-C87C-4E9B-889E-7DC536E0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Provider review and verification status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Marketplace policy settings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Linked payout account management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B2340"/>
                </a:solidFill>
              </a:rPr>
              <a:t>Dispute resolution and audit records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E6A670-A757-43B2-9639-70F2852252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7698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D5DE130D-9B1C-4296-97AB-57C5B4DA1EB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Frontend &amp; Backend Development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23360A-0941-4FFC-BDB6-1D4F011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812FD53-4114-4134-9E65-A80F19A040E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88657AE-30A1-5A7A-6A7F-315D84436430}" type="slidenum">
              <a:rPr b="0"/>
              <a:t>9</a:t>
            </a:fld>
            <a:endParaRPr/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6C24F-488B-4C69-BE7D-A23A8B4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D5AE6"/>
                </a:solidFill>
              </a:defRPr>
            </a:pPr>
            <a:r>
              <a:rPr sz="1650" b="1">
                <a:solidFill>
                  <a:srgbClr val="6D5AE6"/>
                </a:solidFill>
              </a:rPr>
              <a:t>Frontend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2DCBC-77D7-4CEC-8312-1726081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9062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6D5AE6"/>
                </a:solidFill>
              </a:defRPr>
            </a:pPr>
            <a:r>
              <a:rPr sz="1650" b="1">
                <a:solidFill>
                  <a:srgbClr val="6D5AE6"/>
                </a:solidFill>
              </a:rPr>
              <a:t>Backend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6CF5E-786C-4277-98B3-748794D5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React components and reusable forms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React Router for public and protected pages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Role-based customer, provider and admin views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Session state and API client integration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Responsive Tailwind CSS layouts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Socket.IO client for booking chat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5B6310-7584-49B6-91F6-D562105C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Express routes under /api/v1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JWT authentication and access checks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Mongoose models and input validation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Booking and payment lifecycle services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Signed webhook processing and audit records</a:t>
            </a:r>
          </a:p>
          <a:p xmlns:a="http://schemas.openxmlformats.org/drawingml/2006/main">
            <a:pPr>
              <a:defRPr sz="1275" b="0">
                <a:solidFill>
                  <a:srgbClr val="1B2340"/>
                </a:solidFill>
              </a:defRPr>
            </a:pPr>
            <a:r>
              <a:rPr sz="1275" b="0">
                <a:solidFill>
                  <a:srgbClr val="1B2340"/>
                </a:solidFill>
              </a:rPr>
              <a:t>Socket.IO server and background 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85E79C-2FB2-4F13-AAE7-3BA2DA32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D5AE6"/>
                </a:solidFill>
              </a:defRPr>
            </a:pPr>
            <a:r>
              <a:rPr sz="1200" b="1">
                <a:solidFill>
                  <a:srgbClr val="6D5AE6"/>
                </a:solidFill>
              </a:rPr>
              <a:t>Client request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2C0361-0F53-4A49-A250-747300B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D5AE6"/>
                </a:solidFill>
              </a:defRPr>
            </a:pPr>
            <a:r>
              <a:rPr sz="1200" b="1">
                <a:solidFill>
                  <a:srgbClr val="6D5AE6"/>
                </a:solidFill>
              </a:rPr>
              <a:t>Auth &amp; validation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73001A-B08E-4144-9ECF-BC387BF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D5AE6"/>
                </a:solidFill>
              </a:defRPr>
            </a:pPr>
            <a:r>
              <a:rPr sz="1200" b="1">
                <a:solidFill>
                  <a:srgbClr val="6D5AE6"/>
                </a:solidFill>
              </a:rPr>
              <a:t>Business logic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D3857-893D-46AF-8FD9-19223162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D5AE6"/>
                </a:solidFill>
              </a:defRPr>
            </a:pPr>
            <a:r>
              <a:rPr sz="1200" b="1">
                <a:solidFill>
                  <a:srgbClr val="6D5AE6"/>
                </a:solidFill>
              </a:rPr>
              <a:t>MongoDB / JSON</a:t>
            </a:r>
          </a:p>
        </p:txBody>
      </p:sp>
    </p:spTree>
    <p:extLst>
      <p:ext uri="{BB962C8B-B14F-4D97-AF65-F5344CB8AC3E}">
        <p14:creationId xmlns:p14="http://schemas.microsoft.com/office/powerpoint/2010/main" val="3105055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AD6EEE3-0039-4F78-B0D1-6B7D2C15B206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API Development &amp; Booking Workflow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524A0EA-418C-4911-A2B9-06A3A3C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B4CD059-A657-4F6F-A504-D3629F9E64A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B7BEEEC-A170-5376-2B6E-CB54687B0CB1}" type="slidenum">
              <a:rPr b="0"/>
              <a:t>10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1B007-100D-4825-AD15-9E8F37B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D5AE6"/>
                </a:solidFill>
              </a:defRPr>
            </a:pPr>
            <a:r>
              <a:rPr sz="1125" b="1">
                <a:solidFill>
                  <a:srgbClr val="6D5AE6"/>
                </a:solidFill>
              </a:rPr>
              <a:t>METHOD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FC86D-7F40-4014-9223-9726DB37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430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D5AE6"/>
                </a:solidFill>
              </a:defRPr>
            </a:pPr>
            <a:r>
              <a:rPr sz="1125" b="1">
                <a:solidFill>
                  <a:srgbClr val="6D5AE6"/>
                </a:solidFill>
              </a:rPr>
              <a:t>ENDPOINT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B3A5E-B8D0-4AF6-86E1-F109C6D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D5AE6"/>
                </a:solidFill>
              </a:defRPr>
            </a:pPr>
            <a:r>
              <a:rPr sz="1125" b="1">
                <a:solidFill>
                  <a:srgbClr val="6D5AE6"/>
                </a:solidFill>
              </a:rPr>
              <a:t>PURPOSE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6E407-8338-49BF-802F-C4647635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POST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F8C70-4147-4DDA-9E04-D27320F8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81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B2340"/>
                </a:solidFill>
              </a:defRPr>
            </a:pPr>
            <a:r>
              <a:rPr sz="1050" b="0">
                <a:solidFill>
                  <a:srgbClr val="1B2340"/>
                </a:solidFill>
              </a:rPr>
              <a:t>/api/v1/auth/login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ED39B7-D851-4C99-B135-42161BB3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Authenticate user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E424B8-72E5-405F-AFFD-89E905DB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AC2DD-04F0-4D12-81AE-A83C653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62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B2340"/>
                </a:solidFill>
              </a:defRPr>
            </a:pPr>
            <a:r>
              <a:rPr sz="1050" b="0">
                <a:solidFill>
                  <a:srgbClr val="1B2340"/>
                </a:solidFill>
              </a:rPr>
              <a:t>/api/v1/services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306BB-2201-4985-9371-A0D730F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Discover listed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56B72A-26E7-4810-B1EA-EB655F2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POST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25690-1D12-4D06-942B-63F91CEC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3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B2340"/>
                </a:solidFill>
              </a:defRPr>
            </a:pPr>
            <a:r>
              <a:rPr sz="1050" b="0">
                <a:solidFill>
                  <a:srgbClr val="1B2340"/>
                </a:solidFill>
              </a:rPr>
              <a:t>/api/v1/bookings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30DD3C-A0C7-47FE-B040-B1917BA1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Request a booking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1D37BE-9ACC-46D3-B3A6-09AFBA7A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POST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516F0D-C241-4107-A6D0-50E0002F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B2340"/>
                </a:solidFill>
              </a:defRPr>
            </a:pPr>
            <a:r>
              <a:rPr sz="1050" b="0">
                <a:solidFill>
                  <a:srgbClr val="1B2340"/>
                </a:solidFill>
              </a:rPr>
              <a:t>/api/v1/bookings/:bookingId/accept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6DBCFB-46E4-4D36-B3EA-B97E3FCD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Provider accepts request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E945DF-95A9-4D95-BB6D-83F202BF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POST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D5D4D-94E6-4BF4-9115-43A0DCD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B2340"/>
                </a:solidFill>
              </a:defRPr>
            </a:pPr>
            <a:r>
              <a:rPr sz="1050" b="0">
                <a:solidFill>
                  <a:srgbClr val="1B2340"/>
                </a:solidFill>
              </a:rPr>
              <a:t>/api/v1/bookings/:bookingId/checkout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1227B5-AE79-47D1-9498-47E4F25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Create payment checkout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977B41-1C31-41F2-A69A-C362494C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POST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EE37D5-F0CD-4501-B680-B239FC42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B2340"/>
                </a:solidFill>
              </a:defRPr>
            </a:pPr>
            <a:r>
              <a:rPr sz="1050" b="0">
                <a:solidFill>
                  <a:srgbClr val="1B2340"/>
                </a:solidFill>
              </a:rPr>
              <a:t>/api/v1/payments/:bookingId/verify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7BE543-E3E1-41EA-96C2-318FC4CD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1B2340"/>
                </a:solidFill>
              </a:defRPr>
            </a:pPr>
            <a:r>
              <a:rPr sz="1125" b="0">
                <a:solidFill>
                  <a:srgbClr val="1B2340"/>
                </a:solidFill>
              </a:rPr>
              <a:t>Verify customer payment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6179C5-1583-4D07-932E-1CFA373A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D5AE6"/>
                </a:solidFill>
              </a:defRPr>
            </a:pPr>
            <a:r>
              <a:rPr sz="1500" b="1">
                <a:solidFill>
                  <a:srgbClr val="6D5AE6"/>
                </a:solidFill>
              </a:rPr>
              <a:t>Booking lifecycle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B1A53D-3BDF-4B06-A0F6-452E7AC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795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B2340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B2340"/>
                </a:solidFill>
              </a:defRPr>
            </a:pPr>
            <a:r>
              <a:rPr sz="1200" b="0">
                <a:solidFill>
                  <a:srgbClr val="1B2340"/>
                </a:solidFill>
              </a:rPr>
              <a:t>Request → Provider acceptance → Checkout → Confirmed booking → Completion review</a:t>
            </a:r>
          </a:p>
        </p:txBody>
      </p:sp>
    </p:spTree>
    <p:extLst>
      <p:ext uri="{BB962C8B-B14F-4D97-AF65-F5344CB8AC3E}">
        <p14:creationId xmlns:p14="http://schemas.microsoft.com/office/powerpoint/2010/main" val="1543669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6758A4E3-DEDD-4D63-9F0B-747D924191B4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Challenges &amp; Current Limitations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E5B824C-7B4D-4043-AB19-B46A7E18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D6128E-003F-484C-AD15-8B686F7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2E498B-B8B1-4CBC-9A3D-4BED672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52FC51-8038-4256-A3BD-706DC3E3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8A30D4-15F9-468B-B914-B330FAE9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Slot Conflicts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4E81DC-19B9-470F-BEF4-C7A1D607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Concurrent requests can target the same time.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407989C-4E40-4A3A-8B7F-EB8E5C4E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D5AE6"/>
                </a:solidFill>
              </a:rPr>
              <a:t>Availability holds and conflict checks protect booking slots.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560A158-0DBF-4A29-B08A-9390B7F0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6E421E2-EDDD-4526-A218-2DCB0D2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A3DD950-D446-4304-932B-60427BFB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652583-1C4E-4CC8-BE82-DE13FF1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Payment Events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BD86AA-1C35-4448-AAD2-DAFA1272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Checkout retries and webhooks can repeat.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7E7A9B-9F88-40C7-8DE7-1FA78A9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D5AE6"/>
                </a:solidFill>
              </a:rPr>
              <a:t>Signature checks and event records support safe processing.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961615D-F64A-4240-B856-1308952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59A7457-6423-4AF2-90EF-54E3869C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9B569F-59A3-49B3-B660-9BBB4888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8043FA7-2638-48E7-9728-C02B491D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Role Isolation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51F9CD-EAB1-42CD-967B-24251E3D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Users need different data and permissions.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1ADF2D1-C5F0-46B2-A689-D3EDD9BB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D5AE6"/>
                </a:solidFill>
              </a:rPr>
              <a:t>Role and participant checks guard protected operations.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3FF4D64-BA58-4C23-8CD2-FB89C19A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C7A2201-62B6-4EF8-9AC9-6BF6EC3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2FDA11C-0BB3-4AB3-97C6-9B8715C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E2CF271-6E34-4736-A942-56EC11D7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Provider KYC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6195F45-FF4E-4D63-A564-C47ACEDA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Live identity verification needs a vendor.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7B7D727-E47C-48CF-98F1-0BDCB3AA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D5AE6"/>
                </a:solidFill>
              </a:rPr>
              <a:t>Production adapter and vendor configuration remain pending.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4345AA8-3B8C-4AC0-B4CF-1C83F37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BF3FCD9-FD5D-4704-9716-7B704E1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D6434FF-458D-4F5D-ACCD-9DC9F42D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16AD1A4-B51C-4802-A734-EB20F68F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Live Payments</a:t>
            </a:r>
            <a:endParaRPr sz="12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92E15C9-902B-446C-B038-8F467F1B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Real checkout and payouts need approval.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E737DFD-FB3C-4E5E-B190-17EA98F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D5AE6"/>
                </a:solidFill>
              </a:rPr>
              <a:t>Configure Razorpay credentials and linked accounts.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AE9D5FE-F55B-4E68-AF19-21BCAF0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1BA2EE0-5DA5-4D3D-AFAA-EDEDAEC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AE6"/>
          </a:solidFill>
          <a:ln xmlns:a="http://schemas.openxmlformats.org/drawingml/2006/main" w="12700">
            <a:solidFill>
              <a:srgbClr val="6D5A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A02A9FA-7A06-4D11-906B-290530BE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12A712D-5BEA-493B-801E-121705F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Production Readiness</a:t>
            </a:r>
            <a:endParaRPr sz="12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211E427-2924-452E-B0E9-73BC233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586"/>
                </a:solidFill>
              </a:rPr>
              <a:t>Local functionality does not prove launch readiness.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BF62204-5930-44C8-8B5C-E3DB0C7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6D5AE6"/>
                </a:solidFill>
              </a:rPr>
              <a:t>Hosting, email, monitoring and live acceptance testing remain.</a:t>
            </a:r>
            <a:endParaRPr sz="1050"/>
          </a:p>
        </p:txBody>
      </p:sp>
      <p:sp>
        <p:nvSpPr>
          <p:cNvPr id="4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4B98CCD-5D68-4F65-823D-A5C0AABA57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0394428-F1DC-E5F6-DB0C-7DE31F3D8A23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01629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C47500D-92A4-4E65-B153-48B97AB14DF0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11C4E"/>
                </a:solidFill>
              </a:rPr>
              <a:t>Conclusion &amp; Future Enhancements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86593D-24A3-4A43-8B9C-794846C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12700">
            <a:solidFill>
              <a:srgbClr val="22D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E48EEF-9BD5-45E6-A4DC-3CE228E6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81381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4E0FC"/>
          </a:solidFill>
          <a:ln xmlns:a="http://schemas.openxmlformats.org/drawingml/2006/main" w="12700">
            <a:solidFill>
              <a:srgbClr val="E4E0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F81DA0-3F1A-4A35-9C3B-4970853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D5AE6"/>
                </a:solidFill>
              </a:rPr>
              <a:t>Conclusion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986DC8-9D86-437F-A01E-25B9CA4F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680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</a:rPr>
              <a:t>Nearby brings exact-pincode service discovery, booking and provider management into one role-based web platform. The code includes payments, chat and dispute workflows. Production launch requires external service configuration and live validation.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BCAB1B-F2CC-445D-B4D4-3AB04C0C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146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6D5AE6"/>
                </a:solidFill>
              </a:rPr>
              <a:t>Future Enhancements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7C11E6C-8C42-4C4A-B5EC-CB9A6E71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93A675-6273-49CA-A059-924C728E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Mobile Access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8F11502-A4BC-4825-997C-128B5FD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586"/>
                </a:solidFill>
              </a:rPr>
              <a:t>A dedicated mobile app for customers and providers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8BD33FA-452C-4C8C-B4D8-079EA4A9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464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B1C2B9-A3B8-4D8D-9662-4A24D9C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Notifications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BCBA928-C8DA-45F0-88A4-34AEE94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586"/>
                </a:solidFill>
              </a:rPr>
              <a:t>Push notifications for booking and payment updates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8D7BB2-F0F6-465F-89F1-B25C0FB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E218B38-06B6-4992-8896-122DE282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Recommendations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902B5B-51A6-4F8B-9846-22482C6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586"/>
                </a:solidFill>
              </a:rPr>
              <a:t>Personalized service suggestions based on user needs</a:t>
            </a:r>
            <a:endParaRPr sz="1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18E5816-BBF2-43FE-AFEE-F89B044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F3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B234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20871D5-74AC-4874-AA30-91BF0123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11C4E"/>
                </a:solidFill>
              </a:rPr>
              <a:t>Analytics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B3256E-03C2-4C7C-9145-7849F19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586"/>
                </a:solidFill>
              </a:rPr>
              <a:t>Expanded provider and marketplace performance reports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DE2571-BD07-482C-A144-573BB830109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B6586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4DB16885-0D3F-A391-B669-3211DB3B26E8}" type="slidenum">
              <a:rPr b="0"/>
              <a:t>12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825CE-9439-430F-9C85-4CD88521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33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6D5AE6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6D5AE6"/>
                </a:solidFill>
              </a:defRPr>
            </a:pPr>
            <a:r>
              <a:rPr sz="1425" b="1">
                <a:solidFill>
                  <a:srgbClr val="6D5AE6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946517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2026-10-14T06:26:59.6060000Z</dcterms:created>
  <dcterms:modified xsi:type="dcterms:W3CDTF">2026-10-14T06:26:59.6060000Z</dcterms:modified>
</coreProperties>
</file>