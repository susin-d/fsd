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7e25c8273842c9" /><Relationship Type="http://schemas.openxmlformats.org/officeDocument/2006/relationships/extended-properties" Target="/docProps/app.xml" Id="R1b92af2438b343fe" /><Relationship Type="http://schemas.openxmlformats.org/officeDocument/2006/relationships/officeDocument" Target="/ppt/presentation.xml" Id="R99fe4e52f6a744e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a214a2a93745ed"/>
  </p:sldMasterIdLst>
  <p:notesMasterIdLst>
    <p:notesMasterId xmlns:r="http://schemas.openxmlformats.org/officeDocument/2006/relationships" r:id="R476b54a661e34d01"/>
  </p:notesMasterIdLst>
  <p:sldIdLst>
    <p:sldId xmlns:r="http://schemas.openxmlformats.org/officeDocument/2006/relationships" id="256" r:id="Rc05ddb502d704525"/>
    <p:sldId xmlns:r="http://schemas.openxmlformats.org/officeDocument/2006/relationships" id="257" r:id="Rfabe477e34384b80"/>
    <p:sldId xmlns:r="http://schemas.openxmlformats.org/officeDocument/2006/relationships" id="258" r:id="Re10cbcba81b74f12"/>
    <p:sldId xmlns:r="http://schemas.openxmlformats.org/officeDocument/2006/relationships" id="259" r:id="R77db896bb7ff4945"/>
    <p:sldId xmlns:r="http://schemas.openxmlformats.org/officeDocument/2006/relationships" id="260" r:id="Rb914022ba3c54487"/>
    <p:sldId xmlns:r="http://schemas.openxmlformats.org/officeDocument/2006/relationships" id="261" r:id="R98fe94a68d64424f"/>
    <p:sldId xmlns:r="http://schemas.openxmlformats.org/officeDocument/2006/relationships" id="262" r:id="Rc87b781f3aca457d"/>
    <p:sldId xmlns:r="http://schemas.openxmlformats.org/officeDocument/2006/relationships" id="263" r:id="R81a2d710006843c6"/>
    <p:sldId xmlns:r="http://schemas.openxmlformats.org/officeDocument/2006/relationships" id="264" r:id="R9fca6f6fd7304c70"/>
    <p:sldId xmlns:r="http://schemas.openxmlformats.org/officeDocument/2006/relationships" id="265" r:id="R524f5acb16f64fa7"/>
    <p:sldId xmlns:r="http://schemas.openxmlformats.org/officeDocument/2006/relationships" id="266" r:id="Rb85106f5baf341b3"/>
    <p:sldId xmlns:r="http://schemas.openxmlformats.org/officeDocument/2006/relationships" id="267" r:id="R951fbce5db9e4737"/>
  </p:sldIdLst>
  <p:sldSz cx="9144000" cy="51435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5818985a6242e2" /><Relationship Type="http://schemas.openxmlformats.org/officeDocument/2006/relationships/slideMaster" Target="/ppt/slideMasters/slideMaster1.xml" Id="R01a214a2a93745ed" /><Relationship Type="http://schemas.openxmlformats.org/officeDocument/2006/relationships/notesMaster" Target="/ppt/notesMasters/notesMaster1.xml" Id="R476b54a661e34d01" /><Relationship Type="http://schemas.openxmlformats.org/officeDocument/2006/relationships/presProps" Target="/ppt/presProps.xml" Id="R842778e8bf8440cf" /><Relationship Type="http://schemas.openxmlformats.org/officeDocument/2006/relationships/viewProps" Target="/ppt/viewProps.xml" Id="R77c19918086741b5" /><Relationship Type="http://schemas.openxmlformats.org/officeDocument/2006/relationships/tableStyles" Target="/ppt/tableStyles.xml" Id="Rfb17de31be224664" /><Relationship Type="http://schemas.openxmlformats.org/officeDocument/2006/relationships/slide" Target="/ppt/slides/slide1.xml" Id="Rc05ddb502d704525" /><Relationship Type="http://schemas.openxmlformats.org/officeDocument/2006/relationships/slide" Target="/ppt/slides/slide2.xml" Id="Rfabe477e34384b80" /><Relationship Type="http://schemas.openxmlformats.org/officeDocument/2006/relationships/slide" Target="/ppt/slides/slide3.xml" Id="Re10cbcba81b74f12" /><Relationship Type="http://schemas.openxmlformats.org/officeDocument/2006/relationships/slide" Target="/ppt/slides/slide4.xml" Id="R77db896bb7ff4945" /><Relationship Type="http://schemas.openxmlformats.org/officeDocument/2006/relationships/slide" Target="/ppt/slides/slide5.xml" Id="Rb914022ba3c54487" /><Relationship Type="http://schemas.openxmlformats.org/officeDocument/2006/relationships/slide" Target="/ppt/slides/slide6.xml" Id="R98fe94a68d64424f" /><Relationship Type="http://schemas.openxmlformats.org/officeDocument/2006/relationships/slide" Target="/ppt/slides/slide7.xml" Id="Rc87b781f3aca457d" /><Relationship Type="http://schemas.openxmlformats.org/officeDocument/2006/relationships/slide" Target="/ppt/slides/slide8.xml" Id="R81a2d710006843c6" /><Relationship Type="http://schemas.openxmlformats.org/officeDocument/2006/relationships/slide" Target="/ppt/slides/slide9.xml" Id="R9fca6f6fd7304c70" /><Relationship Type="http://schemas.openxmlformats.org/officeDocument/2006/relationships/slide" Target="/ppt/slides/slide10.xml" Id="R524f5acb16f64fa7" /><Relationship Type="http://schemas.openxmlformats.org/officeDocument/2006/relationships/slide" Target="/ppt/slides/slide11.xml" Id="Rb85106f5baf341b3" /><Relationship Type="http://schemas.openxmlformats.org/officeDocument/2006/relationships/slide" Target="/ppt/slides/slide12.xml" Id="R951fbce5db9e473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d37307030a42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1beae84ee5b4c94" /><Relationship Type="http://schemas.openxmlformats.org/officeDocument/2006/relationships/notesMaster" Target="/ppt/notesMasters/notesMaster1.xml" Id="R38c3643973b94e0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63227780b3444c3" /><Relationship Type="http://schemas.openxmlformats.org/officeDocument/2006/relationships/notesMaster" Target="/ppt/notesMasters/notesMaster1.xml" Id="R9a631d3e218a40f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cb8fe9a1f4c4e30" /><Relationship Type="http://schemas.openxmlformats.org/officeDocument/2006/relationships/notesMaster" Target="/ppt/notesMasters/notesMaster1.xml" Id="R098d06d58d3c4d1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3c33f156a8c4dbc" /><Relationship Type="http://schemas.openxmlformats.org/officeDocument/2006/relationships/notesMaster" Target="/ppt/notesMasters/notesMaster1.xml" Id="R6ce4028f3664427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7655828e56c40a6" /><Relationship Type="http://schemas.openxmlformats.org/officeDocument/2006/relationships/notesMaster" Target="/ppt/notesMasters/notesMaster1.xml" Id="R20cede07e0f84d6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0cf2d7df23d476e" /><Relationship Type="http://schemas.openxmlformats.org/officeDocument/2006/relationships/notesMaster" Target="/ppt/notesMasters/notesMaster1.xml" Id="R7c60c59c9f144da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8a9b1c34e434dda" /><Relationship Type="http://schemas.openxmlformats.org/officeDocument/2006/relationships/notesMaster" Target="/ppt/notesMasters/notesMaster1.xml" Id="R9c469660986749b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949e3856b52476e" /><Relationship Type="http://schemas.openxmlformats.org/officeDocument/2006/relationships/notesMaster" Target="/ppt/notesMasters/notesMaster1.xml" Id="R18ca6b670f594d6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c61ef1b436f49e5" /><Relationship Type="http://schemas.openxmlformats.org/officeDocument/2006/relationships/notesMaster" Target="/ppt/notesMasters/notesMaster1.xml" Id="Rb19e0771b2534cf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c6c8a0131c347d4" /><Relationship Type="http://schemas.openxmlformats.org/officeDocument/2006/relationships/notesMaster" Target="/ppt/notesMasters/notesMaster1.xml" Id="Rf42d3f518c604af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e14e0e3979643ba" /><Relationship Type="http://schemas.openxmlformats.org/officeDocument/2006/relationships/notesMaster" Target="/ppt/notesMasters/notesMaster1.xml" Id="Re0b8e26ca65d4a4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8b5caaef3004c70" /><Relationship Type="http://schemas.openxmlformats.org/officeDocument/2006/relationships/notesMaster" Target="/ppt/notesMasters/notesMaster1.xml" Id="R316d80efa81a447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 inspected on 14 October 2026:</a:t>
            </a:r>
            <a:endParaRPr/>
          </a:p>
          <a:p xmlns:a="http://schemas.openxmlformats.org/drawingml/2006/main">
            <a:r>
              <a:t>C:/project/personal/FSD/README.md</a:t>
            </a:r>
            <a:endParaRPr/>
          </a:p>
          <a:p xmlns:a="http://schemas.openxmlformats.org/drawingml/2006/main">
            <a:r>
              <a:t>C:/project/personal/FSD/website/src/App.jsx</a:t>
            </a:r>
            <a:endParaRPr/>
          </a:p>
          <a:p xmlns:a="http://schemas.openxmlformats.org/drawingml/2006/main">
            <a:r>
              <a:t>C:/project/personal/FSD/server/src/app.js</a:t>
            </a:r>
            <a:endParaRPr/>
          </a:p>
          <a:p xmlns:a="http://schemas.openxmlformats.org/drawingml/2006/main">
            <a:r>
              <a:t>C:/project/personal/FSD/server/src/modules/bookings/routes.js</a:t>
            </a:r>
            <a:endParaRPr/>
          </a:p>
          <a:p xmlns:a="http://schemas.openxmlformats.org/drawingml/2006/main">
            <a:r>
              <a:t>C:/project/personal/FSD/server/src/modules/bookings/booking.model.js</a:t>
            </a:r>
            <a:endParaRPr/>
          </a:p>
          <a:p xmlns:a="http://schemas.openxmlformats.org/drawingml/2006/main">
            <a:r>
              <a:t>C:/project/personal/FSD/server/src/modules/providers/provider.model.js</a:t>
            </a:r>
            <a:endParaRPr/>
          </a:p>
          <a:p xmlns:a="http://schemas.openxmlformats.org/drawingml/2006/main">
            <a:r>
              <a:t>C:/project/personal/FSD/server/src/modules/services/service.model.js</a:t>
            </a:r>
            <a:endParaRPr/>
          </a:p>
          <a:p xmlns:a="http://schemas.openxmlformats.org/drawingml/2006/main">
            <a:r>
              <a:t>C:/project/personal/FSD/server/src/modules/payments/routes.js</a:t>
            </a:r>
            <a:endParaRPr/>
          </a:p>
          <a:p xmlns:a="http://schemas.openxmlformats.org/drawingml/2006/main">
            <a:r>
              <a:t>C:/project/personal/FSD/server/src/modules/payments/payment.model.js</a:t>
            </a:r>
            <a:endParaRPr/>
          </a:p>
          <a:p xmlns:a="http://schemas.openxmlformats.org/drawingml/2006/main">
            <a:r>
              <a:t>C:/project/personal/FSD/server/src/modules/reviews/review.model.js</a:t>
            </a:r>
            <a:endParaRPr/>
          </a:p>
          <a:p xmlns:a="http://schemas.openxmlformats.org/drawingml/2006/main">
            <a:r>
              <a:t>C:/project/personal/FSD/server/src/modules/messaging/message.model.js</a:t>
            </a:r>
            <a:endParaRPr/>
          </a:p>
          <a:p xmlns:a="http://schemas.openxmlformats.org/drawingml/2006/main">
            <a:r>
              <a:t>C:/project/personal/FSD/server/src/modules/disputes/dispute.model.js</a:t>
            </a:r>
            <a:endParaRPr/>
          </a:p>
          <a:p xmlns:a="http://schemas.openxmlformats.org/drawingml/2006/main">
            <a:r>
              <a:t>Future enhancements are proposed. Production integrations are not claimed as live-validated.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 inspected on 14 October 2026:</a:t>
            </a:r>
            <a:endParaRPr/>
          </a:p>
          <a:p xmlns:a="http://schemas.openxmlformats.org/drawingml/2006/main">
            <a:r>
              <a:t>C:/project/personal/FSD/README.md</a:t>
            </a:r>
            <a:endParaRPr/>
          </a:p>
          <a:p xmlns:a="http://schemas.openxmlformats.org/drawingml/2006/main">
            <a:r>
              <a:t>C:/project/personal/FSD/website/src/App.jsx</a:t>
            </a:r>
            <a:endParaRPr/>
          </a:p>
          <a:p xmlns:a="http://schemas.openxmlformats.org/drawingml/2006/main">
            <a:r>
              <a:t>C:/project/personal/FSD/server/src/app.js</a:t>
            </a:r>
            <a:endParaRPr/>
          </a:p>
          <a:p xmlns:a="http://schemas.openxmlformats.org/drawingml/2006/main">
            <a:r>
              <a:t>C:/project/personal/FSD/server/src/modules/bookings/routes.js</a:t>
            </a:r>
            <a:endParaRPr/>
          </a:p>
          <a:p xmlns:a="http://schemas.openxmlformats.org/drawingml/2006/main">
            <a:r>
              <a:t>C:/project/personal/FSD/server/src/modules/bookings/booking.model.js</a:t>
            </a:r>
            <a:endParaRPr/>
          </a:p>
          <a:p xmlns:a="http://schemas.openxmlformats.org/drawingml/2006/main">
            <a:r>
              <a:t>C:/project/personal/FSD/server/src/modules/providers/provider.model.js</a:t>
            </a:r>
            <a:endParaRPr/>
          </a:p>
          <a:p xmlns:a="http://schemas.openxmlformats.org/drawingml/2006/main">
            <a:r>
              <a:t>C:/project/personal/FSD/server/src/modules/services/service.model.js</a:t>
            </a:r>
            <a:endParaRPr/>
          </a:p>
          <a:p xmlns:a="http://schemas.openxmlformats.org/drawingml/2006/main">
            <a:r>
              <a:t>C:/project/personal/FSD/server/src/modules/payments/routes.js</a:t>
            </a:r>
            <a:endParaRPr/>
          </a:p>
          <a:p xmlns:a="http://schemas.openxmlformats.org/drawingml/2006/main">
            <a:r>
              <a:t>C:/project/personal/FSD/server/src/modules/payments/payment.model.js</a:t>
            </a:r>
            <a:endParaRPr/>
          </a:p>
          <a:p xmlns:a="http://schemas.openxmlformats.org/drawingml/2006/main">
            <a:r>
              <a:t>C:/project/personal/FSD/server/src/modules/reviews/review.model.js</a:t>
            </a:r>
            <a:endParaRPr/>
          </a:p>
          <a:p xmlns:a="http://schemas.openxmlformats.org/drawingml/2006/main">
            <a:r>
              <a:t>C:/project/personal/FSD/server/src/modules/messaging/message.model.js</a:t>
            </a:r>
            <a:endParaRPr/>
          </a:p>
          <a:p xmlns:a="http://schemas.openxmlformats.org/drawingml/2006/main">
            <a:r>
              <a:t>C:/project/personal/FSD/server/src/modules/disputes/dispute.model.js</a:t>
            </a:r>
            <a:endParaRPr/>
          </a:p>
          <a:p xmlns:a="http://schemas.openxmlformats.org/drawingml/2006/main">
            <a:r>
              <a:t>Future enhancements are proposed. Production integrations are not claimed as live-validated.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 inspected on 14 October 2026:</a:t>
            </a:r>
            <a:endParaRPr/>
          </a:p>
          <a:p xmlns:a="http://schemas.openxmlformats.org/drawingml/2006/main">
            <a:r>
              <a:t>C:/project/personal/FSD/README.md</a:t>
            </a:r>
            <a:endParaRPr/>
          </a:p>
          <a:p xmlns:a="http://schemas.openxmlformats.org/drawingml/2006/main">
            <a:r>
              <a:t>C:/project/personal/FSD/website/src/App.jsx</a:t>
            </a:r>
            <a:endParaRPr/>
          </a:p>
          <a:p xmlns:a="http://schemas.openxmlformats.org/drawingml/2006/main">
            <a:r>
              <a:t>C:/project/personal/FSD/server/src/app.js</a:t>
            </a:r>
            <a:endParaRPr/>
          </a:p>
          <a:p xmlns:a="http://schemas.openxmlformats.org/drawingml/2006/main">
            <a:r>
              <a:t>C:/project/personal/FSD/server/src/modules/bookings/routes.js</a:t>
            </a:r>
            <a:endParaRPr/>
          </a:p>
          <a:p xmlns:a="http://schemas.openxmlformats.org/drawingml/2006/main">
            <a:r>
              <a:t>C:/project/personal/FSD/server/src/modules/bookings/booking.model.js</a:t>
            </a:r>
            <a:endParaRPr/>
          </a:p>
          <a:p xmlns:a="http://schemas.openxmlformats.org/drawingml/2006/main">
            <a:r>
              <a:t>C:/project/personal/FSD/server/src/modules/providers/provider.model.js</a:t>
            </a:r>
            <a:endParaRPr/>
          </a:p>
          <a:p xmlns:a="http://schemas.openxmlformats.org/drawingml/2006/main">
            <a:r>
              <a:t>C:/project/personal/FSD/server/src/modules/services/service.model.js</a:t>
            </a:r>
            <a:endParaRPr/>
          </a:p>
          <a:p xmlns:a="http://schemas.openxmlformats.org/drawingml/2006/main">
            <a:r>
              <a:t>C:/project/personal/FSD/server/src/modules/payments/routes.js</a:t>
            </a:r>
            <a:endParaRPr/>
          </a:p>
          <a:p xmlns:a="http://schemas.openxmlformats.org/drawingml/2006/main">
            <a:r>
              <a:t>C:/project/personal/FSD/server/src/modules/payments/payment.model.js</a:t>
            </a:r>
            <a:endParaRPr/>
          </a:p>
          <a:p xmlns:a="http://schemas.openxmlformats.org/drawingml/2006/main">
            <a:r>
              <a:t>C:/project/personal/FSD/server/src/modules/reviews/review.model.js</a:t>
            </a:r>
            <a:endParaRPr/>
          </a:p>
          <a:p xmlns:a="http://schemas.openxmlformats.org/drawingml/2006/main">
            <a:r>
              <a:t>C:/project/personal/FSD/server/src/modules/messaging/message.model.js</a:t>
            </a:r>
            <a:endParaRPr/>
          </a:p>
          <a:p xmlns:a="http://schemas.openxmlformats.org/drawingml/2006/main">
            <a:r>
              <a:t>C:/project/personal/FSD/server/src/modules/disputes/dispute.model.js</a:t>
            </a:r>
            <a:endParaRPr/>
          </a:p>
          <a:p xmlns:a="http://schemas.openxmlformats.org/drawingml/2006/main">
            <a:r>
              <a:t>Future enhancements are proposed. Production integrations are not claimed as live-validated.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 inspected on 14 October 2026:</a:t>
            </a:r>
            <a:endParaRPr/>
          </a:p>
          <a:p xmlns:a="http://schemas.openxmlformats.org/drawingml/2006/main">
            <a:r>
              <a:t>C:/project/personal/FSD/README.md</a:t>
            </a:r>
            <a:endParaRPr/>
          </a:p>
          <a:p xmlns:a="http://schemas.openxmlformats.org/drawingml/2006/main">
            <a:r>
              <a:t>C:/project/personal/FSD/website/src/App.jsx</a:t>
            </a:r>
            <a:endParaRPr/>
          </a:p>
          <a:p xmlns:a="http://schemas.openxmlformats.org/drawingml/2006/main">
            <a:r>
              <a:t>C:/project/personal/FSD/server/src/app.js</a:t>
            </a:r>
            <a:endParaRPr/>
          </a:p>
          <a:p xmlns:a="http://schemas.openxmlformats.org/drawingml/2006/main">
            <a:r>
              <a:t>C:/project/personal/FSD/server/src/modules/bookings/routes.js</a:t>
            </a:r>
            <a:endParaRPr/>
          </a:p>
          <a:p xmlns:a="http://schemas.openxmlformats.org/drawingml/2006/main">
            <a:r>
              <a:t>C:/project/personal/FSD/server/src/modules/bookings/booking.model.js</a:t>
            </a:r>
            <a:endParaRPr/>
          </a:p>
          <a:p xmlns:a="http://schemas.openxmlformats.org/drawingml/2006/main">
            <a:r>
              <a:t>C:/project/personal/FSD/server/src/modules/providers/provider.model.js</a:t>
            </a:r>
            <a:endParaRPr/>
          </a:p>
          <a:p xmlns:a="http://schemas.openxmlformats.org/drawingml/2006/main">
            <a:r>
              <a:t>C:/project/personal/FSD/server/src/modules/services/service.model.js</a:t>
            </a:r>
            <a:endParaRPr/>
          </a:p>
          <a:p xmlns:a="http://schemas.openxmlformats.org/drawingml/2006/main">
            <a:r>
              <a:t>C:/project/personal/FSD/server/src/modules/payments/routes.js</a:t>
            </a:r>
            <a:endParaRPr/>
          </a:p>
          <a:p xmlns:a="http://schemas.openxmlformats.org/drawingml/2006/main">
            <a:r>
              <a:t>C:/project/personal/FSD/server/src/modules/payments/payment.model.js</a:t>
            </a:r>
            <a:endParaRPr/>
          </a:p>
          <a:p xmlns:a="http://schemas.openxmlformats.org/drawingml/2006/main">
            <a:r>
              <a:t>C:/project/personal/FSD/server/src/modules/reviews/review.model.js</a:t>
            </a:r>
            <a:endParaRPr/>
          </a:p>
          <a:p xmlns:a="http://schemas.openxmlformats.org/drawingml/2006/main">
            <a:r>
              <a:t>C:/project/personal/FSD/server/src/modules/messaging/message.model.js</a:t>
            </a:r>
            <a:endParaRPr/>
          </a:p>
          <a:p xmlns:a="http://schemas.openxmlformats.org/drawingml/2006/main">
            <a:r>
              <a:t>C:/project/personal/FSD/server/src/modules/disputes/dispute.model.js</a:t>
            </a:r>
            <a:endParaRPr/>
          </a:p>
          <a:p xmlns:a="http://schemas.openxmlformats.org/drawingml/2006/main">
            <a:r>
              <a:t>Future enhancements are proposed. Production integrations are not claimed as live-validated.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 inspected on 14 October 2026:</a:t>
            </a:r>
            <a:endParaRPr/>
          </a:p>
          <a:p xmlns:a="http://schemas.openxmlformats.org/drawingml/2006/main">
            <a:r>
              <a:t>C:/project/personal/FSD/README.md</a:t>
            </a:r>
            <a:endParaRPr/>
          </a:p>
          <a:p xmlns:a="http://schemas.openxmlformats.org/drawingml/2006/main">
            <a:r>
              <a:t>C:/project/personal/FSD/website/src/App.jsx</a:t>
            </a:r>
            <a:endParaRPr/>
          </a:p>
          <a:p xmlns:a="http://schemas.openxmlformats.org/drawingml/2006/main">
            <a:r>
              <a:t>C:/project/personal/FSD/server/src/app.js</a:t>
            </a:r>
            <a:endParaRPr/>
          </a:p>
          <a:p xmlns:a="http://schemas.openxmlformats.org/drawingml/2006/main">
            <a:r>
              <a:t>C:/project/personal/FSD/server/src/modules/bookings/routes.js</a:t>
            </a:r>
            <a:endParaRPr/>
          </a:p>
          <a:p xmlns:a="http://schemas.openxmlformats.org/drawingml/2006/main">
            <a:r>
              <a:t>C:/project/personal/FSD/server/src/modules/bookings/booking.model.js</a:t>
            </a:r>
            <a:endParaRPr/>
          </a:p>
          <a:p xmlns:a="http://schemas.openxmlformats.org/drawingml/2006/main">
            <a:r>
              <a:t>C:/project/personal/FSD/server/src/modules/providers/provider.model.js</a:t>
            </a:r>
            <a:endParaRPr/>
          </a:p>
          <a:p xmlns:a="http://schemas.openxmlformats.org/drawingml/2006/main">
            <a:r>
              <a:t>C:/project/personal/FSD/server/src/modules/services/service.model.js</a:t>
            </a:r>
            <a:endParaRPr/>
          </a:p>
          <a:p xmlns:a="http://schemas.openxmlformats.org/drawingml/2006/main">
            <a:r>
              <a:t>C:/project/personal/FSD/server/src/modules/payments/routes.js</a:t>
            </a:r>
            <a:endParaRPr/>
          </a:p>
          <a:p xmlns:a="http://schemas.openxmlformats.org/drawingml/2006/main">
            <a:r>
              <a:t>C:/project/personal/FSD/server/src/modules/payments/payment.model.js</a:t>
            </a:r>
            <a:endParaRPr/>
          </a:p>
          <a:p xmlns:a="http://schemas.openxmlformats.org/drawingml/2006/main">
            <a:r>
              <a:t>C:/project/personal/FSD/server/src/modules/reviews/review.model.js</a:t>
            </a:r>
            <a:endParaRPr/>
          </a:p>
          <a:p xmlns:a="http://schemas.openxmlformats.org/drawingml/2006/main">
            <a:r>
              <a:t>C:/project/personal/FSD/server/src/modules/messaging/message.model.js</a:t>
            </a:r>
            <a:endParaRPr/>
          </a:p>
          <a:p xmlns:a="http://schemas.openxmlformats.org/drawingml/2006/main">
            <a:r>
              <a:t>C:/project/personal/FSD/server/src/modules/disputes/dispute.model.js</a:t>
            </a:r>
            <a:endParaRPr/>
          </a:p>
          <a:p xmlns:a="http://schemas.openxmlformats.org/drawingml/2006/main">
            <a:r>
              <a:t>Future enhancements are proposed. Production integrations are not claimed as live-validated.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 inspected on 14 October 2026:</a:t>
            </a:r>
            <a:endParaRPr/>
          </a:p>
          <a:p xmlns:a="http://schemas.openxmlformats.org/drawingml/2006/main">
            <a:r>
              <a:t>C:/project/personal/FSD/README.md</a:t>
            </a:r>
            <a:endParaRPr/>
          </a:p>
          <a:p xmlns:a="http://schemas.openxmlformats.org/drawingml/2006/main">
            <a:r>
              <a:t>C:/project/personal/FSD/website/src/App.jsx</a:t>
            </a:r>
            <a:endParaRPr/>
          </a:p>
          <a:p xmlns:a="http://schemas.openxmlformats.org/drawingml/2006/main">
            <a:r>
              <a:t>C:/project/personal/FSD/server/src/app.js</a:t>
            </a:r>
            <a:endParaRPr/>
          </a:p>
          <a:p xmlns:a="http://schemas.openxmlformats.org/drawingml/2006/main">
            <a:r>
              <a:t>C:/project/personal/FSD/server/src/modules/bookings/routes.js</a:t>
            </a:r>
            <a:endParaRPr/>
          </a:p>
          <a:p xmlns:a="http://schemas.openxmlformats.org/drawingml/2006/main">
            <a:r>
              <a:t>C:/project/personal/FSD/server/src/modules/bookings/booking.model.js</a:t>
            </a:r>
            <a:endParaRPr/>
          </a:p>
          <a:p xmlns:a="http://schemas.openxmlformats.org/drawingml/2006/main">
            <a:r>
              <a:t>C:/project/personal/FSD/server/src/modules/providers/provider.model.js</a:t>
            </a:r>
            <a:endParaRPr/>
          </a:p>
          <a:p xmlns:a="http://schemas.openxmlformats.org/drawingml/2006/main">
            <a:r>
              <a:t>C:/project/personal/FSD/server/src/modules/services/service.model.js</a:t>
            </a:r>
            <a:endParaRPr/>
          </a:p>
          <a:p xmlns:a="http://schemas.openxmlformats.org/drawingml/2006/main">
            <a:r>
              <a:t>C:/project/personal/FSD/server/src/modules/payments/routes.js</a:t>
            </a:r>
            <a:endParaRPr/>
          </a:p>
          <a:p xmlns:a="http://schemas.openxmlformats.org/drawingml/2006/main">
            <a:r>
              <a:t>C:/project/personal/FSD/server/src/modules/payments/payment.model.js</a:t>
            </a:r>
            <a:endParaRPr/>
          </a:p>
          <a:p xmlns:a="http://schemas.openxmlformats.org/drawingml/2006/main">
            <a:r>
              <a:t>C:/project/personal/FSD/server/src/modules/reviews/review.model.js</a:t>
            </a:r>
            <a:endParaRPr/>
          </a:p>
          <a:p xmlns:a="http://schemas.openxmlformats.org/drawingml/2006/main">
            <a:r>
              <a:t>C:/project/personal/FSD/server/src/modules/messaging/message.model.js</a:t>
            </a:r>
            <a:endParaRPr/>
          </a:p>
          <a:p xmlns:a="http://schemas.openxmlformats.org/drawingml/2006/main">
            <a:r>
              <a:t>C:/project/personal/FSD/server/src/modules/disputes/dispute.model.js</a:t>
            </a:r>
            <a:endParaRPr/>
          </a:p>
          <a:p xmlns:a="http://schemas.openxmlformats.org/drawingml/2006/main">
            <a:r>
              <a:t>Future enhancements are proposed. Production integrations are not claimed as live-validated.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 inspected on 14 October 2026:</a:t>
            </a:r>
            <a:endParaRPr/>
          </a:p>
          <a:p xmlns:a="http://schemas.openxmlformats.org/drawingml/2006/main">
            <a:r>
              <a:t>C:/project/personal/FSD/README.md</a:t>
            </a:r>
            <a:endParaRPr/>
          </a:p>
          <a:p xmlns:a="http://schemas.openxmlformats.org/drawingml/2006/main">
            <a:r>
              <a:t>C:/project/personal/FSD/website/src/App.jsx</a:t>
            </a:r>
            <a:endParaRPr/>
          </a:p>
          <a:p xmlns:a="http://schemas.openxmlformats.org/drawingml/2006/main">
            <a:r>
              <a:t>C:/project/personal/FSD/server/src/app.js</a:t>
            </a:r>
            <a:endParaRPr/>
          </a:p>
          <a:p xmlns:a="http://schemas.openxmlformats.org/drawingml/2006/main">
            <a:r>
              <a:t>C:/project/personal/FSD/server/src/modules/bookings/routes.js</a:t>
            </a:r>
            <a:endParaRPr/>
          </a:p>
          <a:p xmlns:a="http://schemas.openxmlformats.org/drawingml/2006/main">
            <a:r>
              <a:t>C:/project/personal/FSD/server/src/modules/bookings/booking.model.js</a:t>
            </a:r>
            <a:endParaRPr/>
          </a:p>
          <a:p xmlns:a="http://schemas.openxmlformats.org/drawingml/2006/main">
            <a:r>
              <a:t>C:/project/personal/FSD/server/src/modules/providers/provider.model.js</a:t>
            </a:r>
            <a:endParaRPr/>
          </a:p>
          <a:p xmlns:a="http://schemas.openxmlformats.org/drawingml/2006/main">
            <a:r>
              <a:t>C:/project/personal/FSD/server/src/modules/services/service.model.js</a:t>
            </a:r>
            <a:endParaRPr/>
          </a:p>
          <a:p xmlns:a="http://schemas.openxmlformats.org/drawingml/2006/main">
            <a:r>
              <a:t>C:/project/personal/FSD/server/src/modules/payments/routes.js</a:t>
            </a:r>
            <a:endParaRPr/>
          </a:p>
          <a:p xmlns:a="http://schemas.openxmlformats.org/drawingml/2006/main">
            <a:r>
              <a:t>C:/project/personal/FSD/server/src/modules/payments/payment.model.js</a:t>
            </a:r>
            <a:endParaRPr/>
          </a:p>
          <a:p xmlns:a="http://schemas.openxmlformats.org/drawingml/2006/main">
            <a:r>
              <a:t>C:/project/personal/FSD/server/src/modules/reviews/review.model.js</a:t>
            </a:r>
            <a:endParaRPr/>
          </a:p>
          <a:p xmlns:a="http://schemas.openxmlformats.org/drawingml/2006/main">
            <a:r>
              <a:t>C:/project/personal/FSD/server/src/modules/messaging/message.model.js</a:t>
            </a:r>
            <a:endParaRPr/>
          </a:p>
          <a:p xmlns:a="http://schemas.openxmlformats.org/drawingml/2006/main">
            <a:r>
              <a:t>C:/project/personal/FSD/server/src/modules/disputes/dispute.model.js</a:t>
            </a:r>
            <a:endParaRPr/>
          </a:p>
          <a:p xmlns:a="http://schemas.openxmlformats.org/drawingml/2006/main">
            <a:r>
              <a:t>Future enhancements are proposed. Production integrations are not claimed as live-validated.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 inspected on 14 October 2026:</a:t>
            </a:r>
            <a:endParaRPr/>
          </a:p>
          <a:p xmlns:a="http://schemas.openxmlformats.org/drawingml/2006/main">
            <a:r>
              <a:t>C:/project/personal/FSD/README.md</a:t>
            </a:r>
            <a:endParaRPr/>
          </a:p>
          <a:p xmlns:a="http://schemas.openxmlformats.org/drawingml/2006/main">
            <a:r>
              <a:t>C:/project/personal/FSD/website/src/App.jsx</a:t>
            </a:r>
            <a:endParaRPr/>
          </a:p>
          <a:p xmlns:a="http://schemas.openxmlformats.org/drawingml/2006/main">
            <a:r>
              <a:t>C:/project/personal/FSD/server/src/app.js</a:t>
            </a:r>
            <a:endParaRPr/>
          </a:p>
          <a:p xmlns:a="http://schemas.openxmlformats.org/drawingml/2006/main">
            <a:r>
              <a:t>C:/project/personal/FSD/server/src/modules/bookings/routes.js</a:t>
            </a:r>
            <a:endParaRPr/>
          </a:p>
          <a:p xmlns:a="http://schemas.openxmlformats.org/drawingml/2006/main">
            <a:r>
              <a:t>C:/project/personal/FSD/server/src/modules/bookings/booking.model.js</a:t>
            </a:r>
            <a:endParaRPr/>
          </a:p>
          <a:p xmlns:a="http://schemas.openxmlformats.org/drawingml/2006/main">
            <a:r>
              <a:t>C:/project/personal/FSD/server/src/modules/providers/provider.model.js</a:t>
            </a:r>
            <a:endParaRPr/>
          </a:p>
          <a:p xmlns:a="http://schemas.openxmlformats.org/drawingml/2006/main">
            <a:r>
              <a:t>C:/project/personal/FSD/server/src/modules/services/service.model.js</a:t>
            </a:r>
            <a:endParaRPr/>
          </a:p>
          <a:p xmlns:a="http://schemas.openxmlformats.org/drawingml/2006/main">
            <a:r>
              <a:t>C:/project/personal/FSD/server/src/modules/payments/routes.js</a:t>
            </a:r>
            <a:endParaRPr/>
          </a:p>
          <a:p xmlns:a="http://schemas.openxmlformats.org/drawingml/2006/main">
            <a:r>
              <a:t>C:/project/personal/FSD/server/src/modules/payments/payment.model.js</a:t>
            </a:r>
            <a:endParaRPr/>
          </a:p>
          <a:p xmlns:a="http://schemas.openxmlformats.org/drawingml/2006/main">
            <a:r>
              <a:t>C:/project/personal/FSD/server/src/modules/reviews/review.model.js</a:t>
            </a:r>
            <a:endParaRPr/>
          </a:p>
          <a:p xmlns:a="http://schemas.openxmlformats.org/drawingml/2006/main">
            <a:r>
              <a:t>C:/project/personal/FSD/server/src/modules/messaging/message.model.js</a:t>
            </a:r>
            <a:endParaRPr/>
          </a:p>
          <a:p xmlns:a="http://schemas.openxmlformats.org/drawingml/2006/main">
            <a:r>
              <a:t>C:/project/personal/FSD/server/src/modules/disputes/dispute.model.js</a:t>
            </a:r>
            <a:endParaRPr/>
          </a:p>
          <a:p xmlns:a="http://schemas.openxmlformats.org/drawingml/2006/main">
            <a:r>
              <a:t>Future enhancements are proposed. Production integrations are not claimed as live-validated.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 inspected on 14 October 2026:</a:t>
            </a:r>
            <a:endParaRPr/>
          </a:p>
          <a:p xmlns:a="http://schemas.openxmlformats.org/drawingml/2006/main">
            <a:r>
              <a:t>C:/project/personal/FSD/README.md</a:t>
            </a:r>
            <a:endParaRPr/>
          </a:p>
          <a:p xmlns:a="http://schemas.openxmlformats.org/drawingml/2006/main">
            <a:r>
              <a:t>C:/project/personal/FSD/website/src/App.jsx</a:t>
            </a:r>
            <a:endParaRPr/>
          </a:p>
          <a:p xmlns:a="http://schemas.openxmlformats.org/drawingml/2006/main">
            <a:r>
              <a:t>C:/project/personal/FSD/server/src/app.js</a:t>
            </a:r>
            <a:endParaRPr/>
          </a:p>
          <a:p xmlns:a="http://schemas.openxmlformats.org/drawingml/2006/main">
            <a:r>
              <a:t>C:/project/personal/FSD/server/src/modules/bookings/routes.js</a:t>
            </a:r>
            <a:endParaRPr/>
          </a:p>
          <a:p xmlns:a="http://schemas.openxmlformats.org/drawingml/2006/main">
            <a:r>
              <a:t>C:/project/personal/FSD/server/src/modules/bookings/booking.model.js</a:t>
            </a:r>
            <a:endParaRPr/>
          </a:p>
          <a:p xmlns:a="http://schemas.openxmlformats.org/drawingml/2006/main">
            <a:r>
              <a:t>C:/project/personal/FSD/server/src/modules/providers/provider.model.js</a:t>
            </a:r>
            <a:endParaRPr/>
          </a:p>
          <a:p xmlns:a="http://schemas.openxmlformats.org/drawingml/2006/main">
            <a:r>
              <a:t>C:/project/personal/FSD/server/src/modules/services/service.model.js</a:t>
            </a:r>
            <a:endParaRPr/>
          </a:p>
          <a:p xmlns:a="http://schemas.openxmlformats.org/drawingml/2006/main">
            <a:r>
              <a:t>C:/project/personal/FSD/server/src/modules/payments/routes.js</a:t>
            </a:r>
            <a:endParaRPr/>
          </a:p>
          <a:p xmlns:a="http://schemas.openxmlformats.org/drawingml/2006/main">
            <a:r>
              <a:t>C:/project/personal/FSD/server/src/modules/payments/payment.model.js</a:t>
            </a:r>
            <a:endParaRPr/>
          </a:p>
          <a:p xmlns:a="http://schemas.openxmlformats.org/drawingml/2006/main">
            <a:r>
              <a:t>C:/project/personal/FSD/server/src/modules/reviews/review.model.js</a:t>
            </a:r>
            <a:endParaRPr/>
          </a:p>
          <a:p xmlns:a="http://schemas.openxmlformats.org/drawingml/2006/main">
            <a:r>
              <a:t>C:/project/personal/FSD/server/src/modules/messaging/message.model.js</a:t>
            </a:r>
            <a:endParaRPr/>
          </a:p>
          <a:p xmlns:a="http://schemas.openxmlformats.org/drawingml/2006/main">
            <a:r>
              <a:t>C:/project/personal/FSD/server/src/modules/disputes/dispute.model.js</a:t>
            </a:r>
            <a:endParaRPr/>
          </a:p>
          <a:p xmlns:a="http://schemas.openxmlformats.org/drawingml/2006/main">
            <a:r>
              <a:t>Future enhancements are proposed. Production integrations are not claimed as live-validated.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 inspected on 14 October 2026:</a:t>
            </a:r>
            <a:endParaRPr/>
          </a:p>
          <a:p xmlns:a="http://schemas.openxmlformats.org/drawingml/2006/main">
            <a:r>
              <a:t>C:/project/personal/FSD/README.md</a:t>
            </a:r>
            <a:endParaRPr/>
          </a:p>
          <a:p xmlns:a="http://schemas.openxmlformats.org/drawingml/2006/main">
            <a:r>
              <a:t>C:/project/personal/FSD/website/src/App.jsx</a:t>
            </a:r>
            <a:endParaRPr/>
          </a:p>
          <a:p xmlns:a="http://schemas.openxmlformats.org/drawingml/2006/main">
            <a:r>
              <a:t>C:/project/personal/FSD/server/src/app.js</a:t>
            </a:r>
            <a:endParaRPr/>
          </a:p>
          <a:p xmlns:a="http://schemas.openxmlformats.org/drawingml/2006/main">
            <a:r>
              <a:t>C:/project/personal/FSD/server/src/modules/bookings/routes.js</a:t>
            </a:r>
            <a:endParaRPr/>
          </a:p>
          <a:p xmlns:a="http://schemas.openxmlformats.org/drawingml/2006/main">
            <a:r>
              <a:t>C:/project/personal/FSD/server/src/modules/bookings/booking.model.js</a:t>
            </a:r>
            <a:endParaRPr/>
          </a:p>
          <a:p xmlns:a="http://schemas.openxmlformats.org/drawingml/2006/main">
            <a:r>
              <a:t>C:/project/personal/FSD/server/src/modules/providers/provider.model.js</a:t>
            </a:r>
            <a:endParaRPr/>
          </a:p>
          <a:p xmlns:a="http://schemas.openxmlformats.org/drawingml/2006/main">
            <a:r>
              <a:t>C:/project/personal/FSD/server/src/modules/services/service.model.js</a:t>
            </a:r>
            <a:endParaRPr/>
          </a:p>
          <a:p xmlns:a="http://schemas.openxmlformats.org/drawingml/2006/main">
            <a:r>
              <a:t>C:/project/personal/FSD/server/src/modules/payments/routes.js</a:t>
            </a:r>
            <a:endParaRPr/>
          </a:p>
          <a:p xmlns:a="http://schemas.openxmlformats.org/drawingml/2006/main">
            <a:r>
              <a:t>C:/project/personal/FSD/server/src/modules/payments/payment.model.js</a:t>
            </a:r>
            <a:endParaRPr/>
          </a:p>
          <a:p xmlns:a="http://schemas.openxmlformats.org/drawingml/2006/main">
            <a:r>
              <a:t>C:/project/personal/FSD/server/src/modules/reviews/review.model.js</a:t>
            </a:r>
            <a:endParaRPr/>
          </a:p>
          <a:p xmlns:a="http://schemas.openxmlformats.org/drawingml/2006/main">
            <a:r>
              <a:t>C:/project/personal/FSD/server/src/modules/messaging/message.model.js</a:t>
            </a:r>
            <a:endParaRPr/>
          </a:p>
          <a:p xmlns:a="http://schemas.openxmlformats.org/drawingml/2006/main">
            <a:r>
              <a:t>C:/project/personal/FSD/server/src/modules/disputes/dispute.model.js</a:t>
            </a:r>
            <a:endParaRPr/>
          </a:p>
          <a:p xmlns:a="http://schemas.openxmlformats.org/drawingml/2006/main">
            <a:r>
              <a:t>Future enhancements are proposed. Production integrations are not claimed as live-validated.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 inspected on 14 October 2026:</a:t>
            </a:r>
            <a:endParaRPr/>
          </a:p>
          <a:p xmlns:a="http://schemas.openxmlformats.org/drawingml/2006/main">
            <a:r>
              <a:t>C:/project/personal/FSD/README.md</a:t>
            </a:r>
            <a:endParaRPr/>
          </a:p>
          <a:p xmlns:a="http://schemas.openxmlformats.org/drawingml/2006/main">
            <a:r>
              <a:t>C:/project/personal/FSD/website/src/App.jsx</a:t>
            </a:r>
            <a:endParaRPr/>
          </a:p>
          <a:p xmlns:a="http://schemas.openxmlformats.org/drawingml/2006/main">
            <a:r>
              <a:t>C:/project/personal/FSD/server/src/app.js</a:t>
            </a:r>
            <a:endParaRPr/>
          </a:p>
          <a:p xmlns:a="http://schemas.openxmlformats.org/drawingml/2006/main">
            <a:r>
              <a:t>C:/project/personal/FSD/server/src/modules/bookings/routes.js</a:t>
            </a:r>
            <a:endParaRPr/>
          </a:p>
          <a:p xmlns:a="http://schemas.openxmlformats.org/drawingml/2006/main">
            <a:r>
              <a:t>C:/project/personal/FSD/server/src/modules/bookings/booking.model.js</a:t>
            </a:r>
            <a:endParaRPr/>
          </a:p>
          <a:p xmlns:a="http://schemas.openxmlformats.org/drawingml/2006/main">
            <a:r>
              <a:t>C:/project/personal/FSD/server/src/modules/providers/provider.model.js</a:t>
            </a:r>
            <a:endParaRPr/>
          </a:p>
          <a:p xmlns:a="http://schemas.openxmlformats.org/drawingml/2006/main">
            <a:r>
              <a:t>C:/project/personal/FSD/server/src/modules/services/service.model.js</a:t>
            </a:r>
            <a:endParaRPr/>
          </a:p>
          <a:p xmlns:a="http://schemas.openxmlformats.org/drawingml/2006/main">
            <a:r>
              <a:t>C:/project/personal/FSD/server/src/modules/payments/routes.js</a:t>
            </a:r>
            <a:endParaRPr/>
          </a:p>
          <a:p xmlns:a="http://schemas.openxmlformats.org/drawingml/2006/main">
            <a:r>
              <a:t>C:/project/personal/FSD/server/src/modules/payments/payment.model.js</a:t>
            </a:r>
            <a:endParaRPr/>
          </a:p>
          <a:p xmlns:a="http://schemas.openxmlformats.org/drawingml/2006/main">
            <a:r>
              <a:t>C:/project/personal/FSD/server/src/modules/reviews/review.model.js</a:t>
            </a:r>
            <a:endParaRPr/>
          </a:p>
          <a:p xmlns:a="http://schemas.openxmlformats.org/drawingml/2006/main">
            <a:r>
              <a:t>C:/project/personal/FSD/server/src/modules/messaging/message.model.js</a:t>
            </a:r>
            <a:endParaRPr/>
          </a:p>
          <a:p xmlns:a="http://schemas.openxmlformats.org/drawingml/2006/main">
            <a:r>
              <a:t>C:/project/personal/FSD/server/src/modules/disputes/dispute.model.js</a:t>
            </a:r>
            <a:endParaRPr/>
          </a:p>
          <a:p xmlns:a="http://schemas.openxmlformats.org/drawingml/2006/main">
            <a:r>
              <a:t>Future enhancements are proposed. Production integrations are not claimed as live-validated.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 inspected on 14 October 2026:</a:t>
            </a:r>
            <a:endParaRPr/>
          </a:p>
          <a:p xmlns:a="http://schemas.openxmlformats.org/drawingml/2006/main">
            <a:r>
              <a:t>C:/project/personal/FSD/README.md</a:t>
            </a:r>
            <a:endParaRPr/>
          </a:p>
          <a:p xmlns:a="http://schemas.openxmlformats.org/drawingml/2006/main">
            <a:r>
              <a:t>C:/project/personal/FSD/website/src/App.jsx</a:t>
            </a:r>
            <a:endParaRPr/>
          </a:p>
          <a:p xmlns:a="http://schemas.openxmlformats.org/drawingml/2006/main">
            <a:r>
              <a:t>C:/project/personal/FSD/server/src/app.js</a:t>
            </a:r>
            <a:endParaRPr/>
          </a:p>
          <a:p xmlns:a="http://schemas.openxmlformats.org/drawingml/2006/main">
            <a:r>
              <a:t>C:/project/personal/FSD/server/src/modules/bookings/routes.js</a:t>
            </a:r>
            <a:endParaRPr/>
          </a:p>
          <a:p xmlns:a="http://schemas.openxmlformats.org/drawingml/2006/main">
            <a:r>
              <a:t>C:/project/personal/FSD/server/src/modules/bookings/booking.model.js</a:t>
            </a:r>
            <a:endParaRPr/>
          </a:p>
          <a:p xmlns:a="http://schemas.openxmlformats.org/drawingml/2006/main">
            <a:r>
              <a:t>C:/project/personal/FSD/server/src/modules/providers/provider.model.js</a:t>
            </a:r>
            <a:endParaRPr/>
          </a:p>
          <a:p xmlns:a="http://schemas.openxmlformats.org/drawingml/2006/main">
            <a:r>
              <a:t>C:/project/personal/FSD/server/src/modules/services/service.model.js</a:t>
            </a:r>
            <a:endParaRPr/>
          </a:p>
          <a:p xmlns:a="http://schemas.openxmlformats.org/drawingml/2006/main">
            <a:r>
              <a:t>C:/project/personal/FSD/server/src/modules/payments/routes.js</a:t>
            </a:r>
            <a:endParaRPr/>
          </a:p>
          <a:p xmlns:a="http://schemas.openxmlformats.org/drawingml/2006/main">
            <a:r>
              <a:t>C:/project/personal/FSD/server/src/modules/payments/payment.model.js</a:t>
            </a:r>
            <a:endParaRPr/>
          </a:p>
          <a:p xmlns:a="http://schemas.openxmlformats.org/drawingml/2006/main">
            <a:r>
              <a:t>C:/project/personal/FSD/server/src/modules/reviews/review.model.js</a:t>
            </a:r>
            <a:endParaRPr/>
          </a:p>
          <a:p xmlns:a="http://schemas.openxmlformats.org/drawingml/2006/main">
            <a:r>
              <a:t>C:/project/personal/FSD/server/src/modules/messaging/message.model.js</a:t>
            </a:r>
            <a:endParaRPr/>
          </a:p>
          <a:p xmlns:a="http://schemas.openxmlformats.org/drawingml/2006/main">
            <a:r>
              <a:t>C:/project/personal/FSD/server/src/modules/disputes/dispute.model.js</a:t>
            </a:r>
            <a:endParaRPr/>
          </a:p>
          <a:p xmlns:a="http://schemas.openxmlformats.org/drawingml/2006/main">
            <a:r>
              <a:t>Future enhancements are proposed. Production integrations are not claimed as live-validated.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7392c0d583491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ffb687a9f54c0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671f0dfa6041c7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LIGHT">
    <p:bg>
      <p:bgPr>
        <a:solidFill xmlns:a="http://schemas.openxmlformats.org/drawingml/2006/main">
          <a:srgbClr val="EEF2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6FB2C8C-843A-4ACF-BA97-F0B405294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716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7FF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3F776E7-7EC5-4A60-8533-61043547E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00600"/>
            <a:ext cx="548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25F54"/>
                </a:solidFill>
              </a:rPr>
              <a:t>Nearby  |  Local Services Marketplace</a:t>
            </a:r>
            <a:endParaRPr sz="9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4733713-1D1A-429E-9B61-518540D2087A}"/>
              </a:ext>
            </a:extLst>
          </p:cNvPr>
          <p:cNvSpPr>
            <a:spLocks xmlns:a="http://schemas.openxmlformats.org/drawingml/2006/main" noGrp="1"/>
          </p:cNvSpPr>
          <p:nvPr>
            <p:ph type="title" idx="102" hasCustomPrompt="1"/>
          </p:nvPr>
        </p:nvSpPr>
        <p:spPr>
          <a:xfrm xmlns:a="http://schemas.openxmlformats.org/drawingml/2006/main">
            <a:off x="502920" y="228600"/>
            <a:ext cx="81381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>
            <a:lvl1pPr marL="0" indent="0" algn="l">
              <a:buNone/>
              <a:defRPr sz="2400" b="1">
                <a:solidFill>
                  <a:srgbClr val="15191D"/>
                </a:solidFill>
              </a:defRPr>
            </a:lvl1pPr>
          </a:lstStyle>
          <a:p xmlns:a="http://schemas.openxmlformats.org/drawingml/2006/main">
            <a:pPr marL="0" indent="0" algn="l">
              <a:buNone/>
            </a:pPr>
            <a:endParaRPr sz="24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E6FF4025-D606-4A49-96CB-4BB66CE3976A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21040" y="480060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625F54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>
  <p:cSld name="DARK">
    <p:bg>
      <p:bgPr>
        <a:solidFill xmlns:a="http://schemas.openxmlformats.org/drawingml/2006/main">
          <a:srgbClr val="FFDA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080B21F-53D7-4ECC-BDA9-11D1BD531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7FF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B1D9B3F-6AF6-4CF9-97CD-633EE56AD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109728"/>
            <a:ext cx="731520" cy="50337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1D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405532F-448E-4A6C-9FF9-170069032319}"/>
              </a:ext>
            </a:extLst>
          </p:cNvPr>
          <p:cNvSpPr>
            <a:spLocks xmlns:a="http://schemas.openxmlformats.org/drawingml/2006/main" noGrp="1"/>
          </p:cNvSpPr>
          <p:nvPr>
            <p:ph type="title" idx="102" hasCustomPrompt="1"/>
          </p:nvPr>
        </p:nvSpPr>
        <p:spPr>
          <a:xfrm xmlns:a="http://schemas.openxmlformats.org/drawingml/2006/main">
            <a:off x="640080" y="1417320"/>
            <a:ext cx="722376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>
            <a:lvl1pPr marL="0" indent="0" algn="l">
              <a:buNone/>
              <a:defRPr sz="3400" b="1">
                <a:solidFill>
                  <a:srgbClr val="FFFFFF"/>
                </a:solidFill>
              </a:defRPr>
            </a:lvl1pPr>
          </a:lstStyle>
          <a:p xmlns:a="http://schemas.openxmlformats.org/drawingml/2006/main">
            <a:pPr marL="0" indent="0" algn="l">
              <a:buNone/>
            </a:pPr>
            <a:endParaRPr sz="3400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badde96f86b460f" /><Relationship Type="http://schemas.openxmlformats.org/officeDocument/2006/relationships/slideLayout" Target="/ppt/slideLayouts/slideLayout1.xml" Id="R9903d01e62474b82" /><Relationship Type="http://schemas.openxmlformats.org/officeDocument/2006/relationships/slideLayout" Target="/ppt/slideLayouts/slideLayout2.xml" Id="R0fb33b911e784554" /><Relationship Type="http://schemas.openxmlformats.org/officeDocument/2006/relationships/slideLayout" Target="/ppt/slideLayouts/slideLayout3.xml" Id="Rc83014514fce426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7BEBF81E-48CC-44B3-B6C3-9F9C63444D77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21040" y="480060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625F54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03d01e62474b82"/>
    <p:sldLayoutId xmlns:r="http://schemas.openxmlformats.org/officeDocument/2006/relationships" id="2147483650" r:id="R0fb33b911e784554"/>
    <p:sldLayoutId xmlns:r="http://schemas.openxmlformats.org/officeDocument/2006/relationships" id="2147483651" r:id="Rc83014514fce4265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f89fa50427a48c1" /><Relationship Type="http://schemas.openxmlformats.org/officeDocument/2006/relationships/notesSlide" Target="/ppt/notesSlides/notesSlide1.xml" Id="Rd3579e668dab47b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77abac34d004172" /><Relationship Type="http://schemas.openxmlformats.org/officeDocument/2006/relationships/notesSlide" Target="/ppt/notesSlides/notesSlide2.xml" Id="R23410639fc5f4ef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8e25c0e34184969" /><Relationship Type="http://schemas.openxmlformats.org/officeDocument/2006/relationships/notesSlide" Target="/ppt/notesSlides/notesSlide3.xml" Id="R8d98dc2fa030441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6cf8ce56f794b3c" /><Relationship Type="http://schemas.openxmlformats.org/officeDocument/2006/relationships/notesSlide" Target="/ppt/notesSlides/notesSlide4.xml" Id="R1ad00e3acde045e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5674704fc64292" /><Relationship Type="http://schemas.openxmlformats.org/officeDocument/2006/relationships/notesSlide" Target="/ppt/notesSlides/notesSlide5.xml" Id="R6fb3e05d8990417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0e7d23da8374801" /><Relationship Type="http://schemas.openxmlformats.org/officeDocument/2006/relationships/notesSlide" Target="/ppt/notesSlides/notesSlide6.xml" Id="R114c55fc5c22482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a627d5f07954f3b" /><Relationship Type="http://schemas.openxmlformats.org/officeDocument/2006/relationships/notesSlide" Target="/ppt/notesSlides/notesSlide7.xml" Id="R2ee76ab187694f9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e42316c805432c" /><Relationship Type="http://schemas.openxmlformats.org/officeDocument/2006/relationships/notesSlide" Target="/ppt/notesSlides/notesSlide8.xml" Id="Ra419a5c477864e9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4ad46a74e5b4b4b" /><Relationship Type="http://schemas.openxmlformats.org/officeDocument/2006/relationships/notesSlide" Target="/ppt/notesSlides/notesSlide9.xml" Id="R6374673356a2452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dac9e2cba31498a" /><Relationship Type="http://schemas.openxmlformats.org/officeDocument/2006/relationships/notesSlide" Target="/ppt/notesSlides/notesSlide10.xml" Id="R3fd2095ed6884ef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e4e03c9d8a4878" /><Relationship Type="http://schemas.openxmlformats.org/officeDocument/2006/relationships/notesSlide" Target="/ppt/notesSlides/notesSlide11.xml" Id="R0df0b0bd57504f1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7eddcd6b9447f0" /><Relationship Type="http://schemas.openxmlformats.org/officeDocument/2006/relationships/notesSlide" Target="/ppt/notesSlides/notesSlide12.xml" Id="R59a50704548c4c4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DA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91E1B3A-C9E5-474A-89E6-C896694D7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A35"/>
          </a:solidFill>
          <a:ln xmlns:a="http://schemas.openxmlformats.org/drawingml/2006/main" w="0">
            <a:solidFill>
              <a:srgbClr val="FFDA3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8442F03-AE5B-43B5-B67A-426A5996E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97280" y="3291840"/>
            <a:ext cx="3291840" cy="329184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E7F7F37-AFB9-4DC3-8D3A-8F1CD9993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-1463040"/>
            <a:ext cx="3108960" cy="310896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DF01ED0A-F2BF-4E98-A50B-6BD269036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7FF"/>
          </a:solidFill>
          <a:ln xmlns:a="http://schemas.openxmlformats.org/drawingml/2006/main" w="0">
            <a:solidFill>
              <a:srgbClr val="1557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125DE612-25F7-4D61-84E9-AE30C822E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457200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7FF"/>
          </a:solidFill>
          <a:ln xmlns:a="http://schemas.openxmlformats.org/drawingml/2006/main" w="0">
            <a:solidFill>
              <a:srgbClr val="1557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F30AD396-FEDA-471D-AC46-DAB6832F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384048" cy="384048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557FF"/>
          </a:solidFill>
          <a:ln xmlns:a="http://schemas.openxmlformats.org/drawingml/2006/main" w="0">
            <a:solidFill>
              <a:srgbClr val="1557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B02C06B-C8BF-48D3-B5A7-34896FFA5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</a:rPr>
              <a:t>N</a:t>
            </a:r>
            <a:endParaRPr sz="16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F382093-26B4-49A5-A612-84B89F1B8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5760"/>
            <a:ext cx="3931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>
                <a:solidFill>
                  <a:srgbClr val="1557FF"/>
                </a:solidFill>
              </a:defRPr>
            </a:defPPr>
          </a:lstStyle>
          <a:p xmlns:a="http://schemas.openxmlformats.org/drawingml/2006/main">
            <a:pPr marL="0" indent="0">
              <a:buNone/>
            </a:pPr>
            <a:r>
              <a:rPr sz="1150" b="1" spc="200">
                <a:solidFill>
                  <a:srgbClr val="1557FF"/>
                </a:solidFill>
              </a:rPr>
              <a:t>EASWARI ENGINEERING COLLEGE</a:t>
            </a:r>
            <a:endParaRPr sz="11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023B726-A308-4694-BE36-2AC93DE2F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5216"/>
            <a:ext cx="3931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>
                <a:solidFill>
                  <a:srgbClr val="15191D"/>
                </a:solidFill>
              </a:defRPr>
            </a:defPPr>
          </a:lstStyle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5191D"/>
                </a:solidFill>
              </a:rPr>
              <a:t>Department of Computer Science and Engineering</a:t>
            </a:r>
            <a:endParaRPr sz="10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638E7A44-AE83-46C9-B0E4-0C515691D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097280"/>
            <a:ext cx="2103120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57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F8D1C1B-120F-4C22-96C3-F71162FE4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097280"/>
            <a:ext cx="2103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>
                <a:solidFill>
                  <a:srgbClr val="15191D"/>
                </a:solidFill>
              </a:defRPr>
            </a:defPPr>
          </a:lstStyle>
          <a:p xmlns:a="http://schemas.openxmlformats.org/drawingml/2006/main">
            <a:pPr marL="0" indent="0" algn="ctr">
              <a:buNone/>
            </a:pPr>
            <a:r>
              <a:rPr sz="750" b="1" spc="100">
                <a:solidFill>
                  <a:srgbClr val="15191D"/>
                </a:solidFill>
              </a:rPr>
              <a:t>NEARBY  ·  PROJECT REVIEW</a:t>
            </a:r>
            <a:endParaRPr sz="750"/>
          </a:p>
        </p:txBody>
      </p:sp>
      <p:sp>
        <p:nvSpPr>
          <p:cNvPr id="14" name="Text 2">
            <a:extLst xmlns:a="http://schemas.openxmlformats.org/drawingml/2006/main">
              <a:ext uri="{FF2B5EF4-FFF2-40B4-BE49-F238E27FC236}">
                <a16:creationId xmlns:a16="http://schemas.microsoft.com/office/drawing/2014/main" id="{31D809E6-C28C-4708-B77C-28915B440D31}"/>
              </a:ext>
            </a:extLst>
          </p:cNvPr>
          <p:cNvSpPr>
            <a:spLocks xmlns:a="http://schemas.openxmlformats.org/drawingml/2006/main" noGrp="1"/>
          </p:cNvSpPr>
          <p:nvPr>
            <p:ph type="title" idx="102" hasCustomPrompt="1"/>
          </p:nvPr>
        </p:nvSpPr>
        <p:spPr>
          <a:xfrm xmlns:a="http://schemas.openxmlformats.org/drawingml/2006/main">
            <a:off x="640080" y="1417320"/>
            <a:ext cx="466725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850" b="1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 marL="0" indent="0"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15191D"/>
                </a:solidFill>
              </a:rPr>
              <a:t>Nearby</a:t>
            </a:r>
            <a:endParaRPr sz="3400"/>
          </a:p>
          <a:p xmlns:a="http://schemas.openxmlformats.org/drawingml/2006/main">
            <a:pPr marL="0" indent="0"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15191D"/>
                </a:solidFill>
              </a:rPr>
              <a:t>Local Services Marketplace</a:t>
            </a:r>
            <a:endParaRPr sz="34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BB66307-1B8F-46D1-81C9-3D9CC8C2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97480"/>
            <a:ext cx="42976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>
                <a:solidFill>
                  <a:srgbClr val="15191D"/>
                </a:solidFill>
              </a:defRPr>
            </a:defPPr>
          </a:lstStyle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15191D"/>
                </a:solidFill>
              </a:rPr>
              <a:t>A web platform for local service discovery, booking and provider management</a:t>
            </a:r>
            <a:endParaRPr sz="13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4090AAD9-FD6E-4D01-84E2-2215297E6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74720"/>
            <a:ext cx="4480560" cy="109728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EFA2B5D3-89BA-40E1-B112-BE524208F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611880"/>
            <a:ext cx="64008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A35"/>
          </a:solidFill>
          <a:ln xmlns:a="http://schemas.openxmlformats.org/drawingml/2006/main" w="12700">
            <a:solidFill>
              <a:srgbClr val="FFDA3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C175FC27-C1FE-4C9D-8306-727089CE5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9312"/>
            <a:ext cx="1280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>
                <a:solidFill>
                  <a:srgbClr val="15191D"/>
                </a:solidFill>
              </a:defRPr>
            </a:defPPr>
          </a:lstStyle>
          <a:p xmlns:a="http://schemas.openxmlformats.org/drawingml/2006/main">
            <a:pPr marL="0" indent="0">
              <a:buNone/>
            </a:pPr>
            <a:r>
              <a:rPr sz="850" b="1" spc="100">
                <a:solidFill>
                  <a:srgbClr val="15191D"/>
                </a:solidFill>
              </a:rPr>
              <a:t>STUDENT</a:t>
            </a:r>
            <a:endParaRPr sz="8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D9B314C7-AD88-43F1-A7D5-4184CAA76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3639312"/>
            <a:ext cx="28346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>
                <a:solidFill>
                  <a:srgbClr val="15191D"/>
                </a:solidFill>
              </a:defRPr>
            </a:defPPr>
          </a:lstStyle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5191D"/>
                </a:solidFill>
              </a:rPr>
              <a:t>Susindran D</a:t>
            </a:r>
            <a:endParaRPr sz="12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786A8B5-1EB8-4007-9917-09AABCC9D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13632"/>
            <a:ext cx="1280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>
                <a:solidFill>
                  <a:srgbClr val="15191D"/>
                </a:solidFill>
              </a:defRPr>
            </a:defPPr>
          </a:lstStyle>
          <a:p xmlns:a="http://schemas.openxmlformats.org/drawingml/2006/main">
            <a:pPr marL="0" indent="0">
              <a:buNone/>
            </a:pPr>
            <a:r>
              <a:rPr sz="850" b="1" spc="100">
                <a:solidFill>
                  <a:srgbClr val="15191D"/>
                </a:solidFill>
              </a:rPr>
              <a:t>REGISTER NO</a:t>
            </a:r>
            <a:endParaRPr sz="8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EFA06BC6-905F-49B5-B565-F7BE9EA55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3913632"/>
            <a:ext cx="28346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>
                <a:solidFill>
                  <a:srgbClr val="15191D"/>
                </a:solidFill>
              </a:defRPr>
            </a:defPPr>
          </a:lstStyle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5191D"/>
                </a:solidFill>
              </a:rPr>
              <a:t>310624104342</a:t>
            </a:r>
            <a:endParaRPr sz="12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063B2A5C-E776-486F-A624-FDF8434D6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87952"/>
            <a:ext cx="1280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>
                <a:solidFill>
                  <a:srgbClr val="15191D"/>
                </a:solidFill>
              </a:defRPr>
            </a:defPPr>
          </a:lstStyle>
          <a:p xmlns:a="http://schemas.openxmlformats.org/drawingml/2006/main">
            <a:pPr marL="0" indent="0">
              <a:buNone/>
            </a:pPr>
            <a:r>
              <a:rPr sz="850" b="1" spc="100">
                <a:solidFill>
                  <a:srgbClr val="15191D"/>
                </a:solidFill>
              </a:rPr>
              <a:t>FACULTY GUIDE</a:t>
            </a:r>
            <a:endParaRPr sz="8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7AA9AAAB-DA18-43F8-8D93-ADD5AE629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4187952"/>
            <a:ext cx="28346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>
                <a:solidFill>
                  <a:srgbClr val="15191D"/>
                </a:solidFill>
              </a:defRPr>
            </a:defPPr>
          </a:lstStyle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5191D"/>
                </a:solidFill>
              </a:rPr>
              <a:t>Swapna Duggi</a:t>
            </a:r>
            <a:endParaRPr sz="1250"/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F378B7-BB70-49E9-839A-BCE316B6B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428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557FF"/>
                </a:solidFill>
              </a:defRPr>
            </a:defPPr>
          </a:lstStyle>
          <a:p xmlns:a="http://schemas.openxmlformats.org/drawingml/2006/main">
            <a:pPr>
              <a:buNone/>
              <a:defRPr sz="1500" b="1">
                <a:solidFill>
                  <a:srgbClr val="FFDA35"/>
                </a:solidFill>
              </a:defRPr>
            </a:pPr>
            <a:r>
              <a:rPr sz="1500" b="1">
                <a:solidFill>
                  <a:srgbClr val="1557FF"/>
                </a:solidFill>
              </a:rPr>
              <a:t>CUSTOMER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A16969-6F52-476C-B41C-75E53D88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762125"/>
            <a:ext cx="2476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15191D"/>
                </a:solidFill>
              </a:rPr>
              <a:t>Find services by pincode</a:t>
            </a:r>
          </a:p>
          <a:p xmlns:a="http://schemas.openxmlformats.org/drawingml/2006/main">
            <a:pPr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15191D"/>
                </a:solidFill>
              </a:rPr>
              <a:t>Request a suitable time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F13EBC-7D0C-414C-987C-589C53506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571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557FF"/>
                </a:solidFill>
              </a:defRPr>
            </a:defPPr>
          </a:lstStyle>
          <a:p xmlns:a="http://schemas.openxmlformats.org/drawingml/2006/main">
            <a:pPr>
              <a:buNone/>
              <a:defRPr sz="1500" b="1">
                <a:solidFill>
                  <a:srgbClr val="FFDA35"/>
                </a:solidFill>
              </a:defRPr>
            </a:pPr>
            <a:r>
              <a:rPr sz="1500" b="1">
                <a:solidFill>
                  <a:srgbClr val="1557FF"/>
                </a:solidFill>
              </a:rPr>
              <a:t>PROVIDER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C7248F-232E-42F1-A131-20D18395F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905125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15191D"/>
                </a:solidFill>
              </a:rPr>
              <a:t>Manage listings and availability</a:t>
            </a:r>
          </a:p>
          <a:p xmlns:a="http://schemas.openxmlformats.org/drawingml/2006/main">
            <a:pPr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15191D"/>
                </a:solidFill>
              </a:rPr>
              <a:t>Accept and fulfil bookings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FFE9EA-AE8B-4D49-8375-0262E669E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714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557FF"/>
                </a:solidFill>
              </a:defRPr>
            </a:defPPr>
          </a:lstStyle>
          <a:p xmlns:a="http://schemas.openxmlformats.org/drawingml/2006/main">
            <a:pPr>
              <a:buNone/>
              <a:defRPr sz="1500" b="1">
                <a:solidFill>
                  <a:srgbClr val="FFDA35"/>
                </a:solidFill>
              </a:defRPr>
            </a:pPr>
            <a:r>
              <a:rPr sz="1500" b="1">
                <a:solidFill>
                  <a:srgbClr val="1557FF"/>
                </a:solidFill>
              </a:rPr>
              <a:t>ADMIN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35027D-42C0-41EF-92D5-53A1A97FC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048125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15191D"/>
                </a:solidFill>
              </a:rPr>
              <a:t>Review providers</a:t>
            </a:r>
          </a:p>
          <a:p xmlns:a="http://schemas.openxmlformats.org/drawingml/2006/main">
            <a:pPr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15191D"/>
                </a:solidFill>
              </a:rPr>
              <a:t>Manage policies and disputes</a:t>
            </a:r>
          </a:p>
        </p:txBody>
      </p:sp>
    </p:spTree>
    <p:extLst>
      <p:ext uri="{BB962C8B-B14F-4D97-AF65-F5344CB8AC3E}">
        <p14:creationId xmlns:p14="http://schemas.microsoft.com/office/powerpoint/2010/main" val="11996023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DA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2">
            <a:extLst xmlns:a="http://schemas.openxmlformats.org/drawingml/2006/main">
              <a:ext uri="{FF2B5EF4-FFF2-40B4-BE49-F238E27FC236}">
                <a16:creationId xmlns:a16="http://schemas.microsoft.com/office/drawing/2014/main" id="{37F560A4-03DF-4E58-97EE-D644173EC053}"/>
              </a:ext>
            </a:extLst>
          </p:cNvPr>
          <p:cNvSpPr>
            <a:spLocks xmlns:a="http://schemas.openxmlformats.org/drawingml/2006/main" noGrp="1"/>
          </p:cNvSpPr>
          <p:nvPr>
            <p:ph type="title" idx="102" hasCustomPrompt="1"/>
          </p:nvPr>
        </p:nvSpPr>
        <p:spPr>
          <a:xfrm xmlns:a="http://schemas.openxmlformats.org/drawingml/2006/main">
            <a:off x="502920" y="228600"/>
            <a:ext cx="81381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00" b="1">
                <a:solidFill>
                  <a:srgbClr val="15191D"/>
                </a:solidFill>
              </a:rPr>
              <a:t>Agenda &amp; Project Overview</a:t>
            </a:r>
            <a:endParaRPr sz="24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393387B-B701-435D-A129-BC186845D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22960"/>
            <a:ext cx="6400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A35"/>
          </a:solidFill>
          <a:ln xmlns:a="http://schemas.openxmlformats.org/drawingml/2006/main" w="12700">
            <a:solidFill>
              <a:srgbClr val="FFDA3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D933C97-7FAA-4B29-BDFB-F988FEA62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97280"/>
            <a:ext cx="3931920" cy="603504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0D6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15191D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B481556-91F2-46CC-A20F-169EF8272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88720"/>
            <a:ext cx="420624" cy="420624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557FF"/>
          </a:solidFill>
          <a:ln xmlns:a="http://schemas.openxmlformats.org/drawingml/2006/main" w="12700">
            <a:solidFill>
              <a:srgbClr val="155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A91C462-C313-4372-8C5F-F26692ED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88720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</a:rPr>
              <a:t>01</a:t>
            </a:r>
            <a:endParaRPr sz="13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1F5A127-7956-4613-98B1-463D7B57F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1124712"/>
            <a:ext cx="31089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5191D"/>
                </a:solidFill>
              </a:rPr>
              <a:t>Problem &amp; Proposed System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9A41DA48-FFDA-4F88-8CC8-4A6FA60B9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097280"/>
            <a:ext cx="3931920" cy="603504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0D6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15191D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80F822D6-DC13-47A6-B3AB-A1611B0C0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188720"/>
            <a:ext cx="420624" cy="420624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557FF"/>
          </a:solidFill>
          <a:ln xmlns:a="http://schemas.openxmlformats.org/drawingml/2006/main" w="12700">
            <a:solidFill>
              <a:srgbClr val="155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38E2D6A-AF7C-4081-AC03-28114E495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188720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</a:rPr>
              <a:t>02</a:t>
            </a:r>
            <a:endParaRPr sz="13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9A8BF4B-76A8-4E49-918F-7C2359724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1124712"/>
            <a:ext cx="31089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5191D"/>
                </a:solidFill>
              </a:rPr>
              <a:t>System Requirements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F90DF72A-6A5A-47D4-A170-D6BAAF025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10512"/>
            <a:ext cx="3931920" cy="603504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0D6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15191D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28770548-2641-4CE3-AC3E-82D527422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01952"/>
            <a:ext cx="420624" cy="420624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557FF"/>
          </a:solidFill>
          <a:ln xmlns:a="http://schemas.openxmlformats.org/drawingml/2006/main" w="12700">
            <a:solidFill>
              <a:srgbClr val="155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737A57E-A142-4991-AD47-4A4CF1DC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01952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</a:rPr>
              <a:t>03</a:t>
            </a:r>
            <a:endParaRPr sz="13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AC49390-BD79-461E-AF0F-65A88E4B0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1837944"/>
            <a:ext cx="31089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5191D"/>
                </a:solidFill>
              </a:rPr>
              <a:t>Architecture &amp; Technology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C860F61C-8773-4D2C-B845-7C9AA9354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810512"/>
            <a:ext cx="3931920" cy="603504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0D6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15191D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2344945C-24AB-451C-9269-5B022F4D9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901952"/>
            <a:ext cx="420624" cy="420624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557FF"/>
          </a:solidFill>
          <a:ln xmlns:a="http://schemas.openxmlformats.org/drawingml/2006/main" w="12700">
            <a:solidFill>
              <a:srgbClr val="155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E2D9A9A-CE5C-4A50-A4D9-8C8CAF68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901952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</a:rPr>
              <a:t>04</a:t>
            </a:r>
            <a:endParaRPr sz="13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0075D5FD-CE1B-4AC3-87F2-A88C3CE7C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1837944"/>
            <a:ext cx="31089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5191D"/>
                </a:solidFill>
              </a:rPr>
              <a:t>Customer, Provider &amp; Admin</a:t>
            </a:r>
            <a:endParaRPr sz="12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660CF51D-A964-4824-AC1D-67C9BCA1A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23744"/>
            <a:ext cx="3931920" cy="603504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0D6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15191D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8891D95F-C414-4261-902B-D60B9BC8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15184"/>
            <a:ext cx="420624" cy="420624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557FF"/>
          </a:solidFill>
          <a:ln xmlns:a="http://schemas.openxmlformats.org/drawingml/2006/main" w="12700">
            <a:solidFill>
              <a:srgbClr val="155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9B78F58A-316D-4482-97F2-6DD835DB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15184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</a:rPr>
              <a:t>05</a:t>
            </a:r>
            <a:endParaRPr sz="13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887E7DF5-9C4C-4817-8395-82988493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551176"/>
            <a:ext cx="31089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5191D"/>
                </a:solidFill>
              </a:rPr>
              <a:t>Database Relationships</a:t>
            </a:r>
            <a:endParaRPr sz="12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F88AEE34-9FA2-47D4-9696-24FA8A462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523744"/>
            <a:ext cx="3931920" cy="603504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0D6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15191D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BED8A0B6-7B5B-4DFD-855A-C58EBC9B4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615184"/>
            <a:ext cx="420624" cy="420624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557FF"/>
          </a:solidFill>
          <a:ln xmlns:a="http://schemas.openxmlformats.org/drawingml/2006/main" w="12700">
            <a:solidFill>
              <a:srgbClr val="155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21A850DB-1F2E-42D6-8D84-6E88AE3F7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615184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</a:rPr>
              <a:t>06</a:t>
            </a:r>
            <a:endParaRPr sz="13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3B58C145-556B-4229-AF41-AC4B8B068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2551176"/>
            <a:ext cx="31089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5191D"/>
                </a:solidFill>
              </a:rPr>
              <a:t>Modules &amp; Workspaces</a:t>
            </a:r>
            <a:endParaRPr sz="125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225F0255-09FD-43D5-A681-4A885F9AC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36976"/>
            <a:ext cx="3931920" cy="603504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0D6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15191D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0F2EC8B5-CAE0-41BB-B99F-6AE9AA036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328416"/>
            <a:ext cx="420624" cy="420624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557FF"/>
          </a:solidFill>
          <a:ln xmlns:a="http://schemas.openxmlformats.org/drawingml/2006/main" w="12700">
            <a:solidFill>
              <a:srgbClr val="155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EBB7CBF7-2E76-4896-B9A6-4696AE84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328416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</a:rPr>
              <a:t>07</a:t>
            </a:r>
            <a:endParaRPr sz="13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28D742CB-F6C3-40D9-A7F5-CB555DCD6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264408"/>
            <a:ext cx="31089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5191D"/>
                </a:solidFill>
              </a:rPr>
              <a:t>Frontend &amp; Backend</a:t>
            </a:r>
            <a:endParaRPr sz="1250"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F46D06AB-6452-417F-A506-B7C515FB7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3236976"/>
            <a:ext cx="3931920" cy="603504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0D6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15191D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88822802-0EE1-48A0-B94B-F27169231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328416"/>
            <a:ext cx="420624" cy="420624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557FF"/>
          </a:solidFill>
          <a:ln xmlns:a="http://schemas.openxmlformats.org/drawingml/2006/main" w="12700">
            <a:solidFill>
              <a:srgbClr val="155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5192EFE6-9291-4D91-8811-4EF21EED9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328416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</a:rPr>
              <a:t>08</a:t>
            </a:r>
            <a:endParaRPr sz="130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C934929F-9E0C-4EF6-B091-09A6D9A0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3264408"/>
            <a:ext cx="31089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5191D"/>
                </a:solidFill>
              </a:rPr>
              <a:t>APIs &amp; Booking Workflow</a:t>
            </a:r>
            <a:endParaRPr sz="1250"/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D2AC2B07-994E-4E7D-BBAB-CB70CD210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50208"/>
            <a:ext cx="3931920" cy="603504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0D6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15191D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76D11D66-1852-4456-AACE-0D7473B54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041648"/>
            <a:ext cx="420624" cy="420624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557FF"/>
          </a:solidFill>
          <a:ln xmlns:a="http://schemas.openxmlformats.org/drawingml/2006/main" w="12700">
            <a:solidFill>
              <a:srgbClr val="155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1ACD08A0-AAD7-4440-9F5B-D43B52787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041648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</a:rPr>
              <a:t>09</a:t>
            </a:r>
            <a:endParaRPr sz="1300"/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852867A9-DEC6-4848-910B-D76725B59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977640"/>
            <a:ext cx="31089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5191D"/>
                </a:solidFill>
              </a:rPr>
              <a:t>Challenges &amp; Limitations</a:t>
            </a:r>
            <a:endParaRPr sz="1250"/>
          </a:p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94DF8677-4C1E-42B1-BB2A-5FDB82E19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3950208"/>
            <a:ext cx="3931920" cy="603504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0D6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15191D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FF3A0F54-B059-4BA2-BC2A-ECC45EEED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4041648"/>
            <a:ext cx="420624" cy="420624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557FF"/>
          </a:solidFill>
          <a:ln xmlns:a="http://schemas.openxmlformats.org/drawingml/2006/main" w="12700">
            <a:solidFill>
              <a:srgbClr val="155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AEDD9F02-C270-4113-9C7B-602C8239D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4041648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</a:rPr>
              <a:t>10</a:t>
            </a:r>
            <a:endParaRPr sz="1300"/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581EB6FD-2B10-4C26-AB72-D3130C3F6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3977640"/>
            <a:ext cx="31089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5191D"/>
                </a:solidFill>
              </a:rPr>
              <a:t>Conclusion &amp; Future Scope</a:t>
            </a:r>
            <a:endParaRPr sz="1250"/>
          </a:p>
        </p:txBody>
      </p:sp>
      <p:sp>
        <p:nvSpPr>
          <p:cNvPr id="44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4E926CEB-931C-47BC-BC77-D43FE314BB37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21040" y="480060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625F54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E2598689-54C9-18A7-3A19-ED76AA08988F}" type="slidenum">
              <a:rPr b="0"/>
              <a:t>2</a:t>
            </a:fld>
            <a:endParaRPr/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2C104DE-F7DD-4898-9FD1-55A7EA981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581525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25F54"/>
                </a:solidFill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25F54"/>
                </a:solidFill>
              </a:defRPr>
            </a:pPr>
            <a:r>
              <a:rPr sz="1050" b="0">
                <a:solidFill>
                  <a:srgbClr val="625F54"/>
                </a:solidFill>
              </a:rPr>
              <a:t>Nearby connects customers with local providers through exact six-digit pincode discovery.</a:t>
            </a:r>
          </a:p>
        </p:txBody>
      </p:sp>
    </p:spTree>
    <p:extLst>
      <p:ext uri="{BB962C8B-B14F-4D97-AF65-F5344CB8AC3E}">
        <p14:creationId xmlns:p14="http://schemas.microsoft.com/office/powerpoint/2010/main" val="571740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DA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2">
            <a:extLst xmlns:a="http://schemas.openxmlformats.org/drawingml/2006/main">
              <a:ext uri="{FF2B5EF4-FFF2-40B4-BE49-F238E27FC236}">
                <a16:creationId xmlns:a16="http://schemas.microsoft.com/office/drawing/2014/main" id="{CF83B4D0-5180-4FF4-87C9-3BF0B5946657}"/>
              </a:ext>
            </a:extLst>
          </p:cNvPr>
          <p:cNvSpPr>
            <a:spLocks xmlns:a="http://schemas.openxmlformats.org/drawingml/2006/main" noGrp="1"/>
          </p:cNvSpPr>
          <p:nvPr>
            <p:ph type="title" idx="102" hasCustomPrompt="1"/>
          </p:nvPr>
        </p:nvSpPr>
        <p:spPr>
          <a:xfrm xmlns:a="http://schemas.openxmlformats.org/drawingml/2006/main">
            <a:off x="502920" y="228600"/>
            <a:ext cx="81381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00" b="1">
                <a:solidFill>
                  <a:srgbClr val="15191D"/>
                </a:solidFill>
              </a:rPr>
              <a:t>Problem &amp; Existing vs Proposed System</a:t>
            </a:r>
            <a:endParaRPr sz="24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D821555-249E-415B-B44B-00842DAA2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22960"/>
            <a:ext cx="6400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A35"/>
          </a:solidFill>
          <a:ln xmlns:a="http://schemas.openxmlformats.org/drawingml/2006/main" w="12700">
            <a:solidFill>
              <a:srgbClr val="FFDA3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ED835F3-72EA-42EB-BADA-62461E489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97280"/>
            <a:ext cx="393192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F54"/>
          </a:solidFill>
          <a:ln xmlns:a="http://schemas.openxmlformats.org/drawingml/2006/main" w="12700">
            <a:solidFill>
              <a:srgbClr val="625F5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0DA70A9-7D61-45EC-AA35-52D76F5D7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097280"/>
            <a:ext cx="393192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7FF"/>
          </a:solidFill>
          <a:ln xmlns:a="http://schemas.openxmlformats.org/drawingml/2006/main" w="12700">
            <a:solidFill>
              <a:srgbClr val="155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FB316EC-9498-4121-B0DD-97CFC3C97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97280"/>
            <a:ext cx="3931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</a:rPr>
              <a:t>Fragmented Service Process</a:t>
            </a:r>
            <a:endParaRPr sz="13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3503B15-7E43-4C61-A06B-4E588649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097280"/>
            <a:ext cx="3931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</a:rPr>
              <a:t>Nearby Platform</a:t>
            </a:r>
            <a:endParaRPr sz="13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BCD80C81-C33B-4974-AC4F-A9D01A4E6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00200"/>
            <a:ext cx="393192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5E0D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750058DB-077C-425D-9A35-9D8C2EE7B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600200"/>
            <a:ext cx="393192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5E0D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63AD3D3-8E2E-41AA-9E7F-57D98AD73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00200"/>
            <a:ext cx="36576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25F54"/>
                </a:solidFill>
              </a:rPr>
              <a:t>Search across listings and contacts</a:t>
            </a:r>
            <a:endParaRPr sz="12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5C4A3AD-14AC-4DCE-9975-832F3DED6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600200"/>
            <a:ext cx="36576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5191D"/>
                </a:solidFill>
              </a:rPr>
              <a:t>Discover services by exact pincode</a:t>
            </a:r>
            <a:endParaRPr sz="12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B97B664B-AAB8-4F30-9E9A-312BA3D75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148840"/>
            <a:ext cx="393192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5E0D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C517A3FE-8549-4E33-ACDD-C3AC6D0D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148840"/>
            <a:ext cx="393192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5E0D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36833D2-FF83-4465-A800-064297F7F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48840"/>
            <a:ext cx="36576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25F54"/>
                </a:solidFill>
              </a:rPr>
              <a:t>Confirm coverage through calls</a:t>
            </a:r>
            <a:endParaRPr sz="12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E7785E1-BA49-4450-81BD-760B64A37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148840"/>
            <a:ext cx="36576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5191D"/>
                </a:solidFill>
              </a:rPr>
              <a:t>Check published service areas</a:t>
            </a:r>
            <a:endParaRPr sz="12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5F7E808E-0581-4AC8-A7E8-18B63577D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97480"/>
            <a:ext cx="393192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5E0D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EEEB7F42-82CB-42C8-86A6-68D25ED6C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697480"/>
            <a:ext cx="393192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5E0D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C71CF357-7C3D-4413-924F-663B92071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97480"/>
            <a:ext cx="36576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25F54"/>
                </a:solidFill>
              </a:rPr>
              <a:t>Arrange time through separate chats</a:t>
            </a:r>
            <a:endParaRPr sz="12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F1E51CED-BAA1-4EDE-AE4F-150CD07B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697480"/>
            <a:ext cx="36576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5191D"/>
                </a:solidFill>
              </a:rPr>
              <a:t>Request a published availability slot</a:t>
            </a:r>
            <a:endParaRPr sz="12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7CCDA327-A47D-4BF6-84BD-98123B3C4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46120"/>
            <a:ext cx="393192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5E0D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0111FA6D-F318-435C-B1EA-9AAFA1418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246120"/>
            <a:ext cx="393192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5E0D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48ED4259-BE8D-4894-8C50-27A9CD394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246120"/>
            <a:ext cx="36576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25F54"/>
                </a:solidFill>
              </a:rPr>
              <a:t>Track booking and payment separately</a:t>
            </a:r>
            <a:endParaRPr sz="12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8CB0171A-6A9C-4D92-978D-BDDD62F12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46120"/>
            <a:ext cx="36576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5191D"/>
                </a:solidFill>
              </a:rPr>
              <a:t>Manage booking and INR checkout together</a:t>
            </a:r>
            <a:endParaRPr sz="12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1C530482-2168-425C-ADA4-0E0032600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94760"/>
            <a:ext cx="393192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5E0D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CAED6154-03C9-46A7-8238-16F2BACE1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794760"/>
            <a:ext cx="393192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5E0D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86F28D3D-66AD-4C53-8F83-AD417AC53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794760"/>
            <a:ext cx="36576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25F54"/>
                </a:solidFill>
              </a:rPr>
              <a:t>Resolve issues through informal follow-up</a:t>
            </a:r>
            <a:endParaRPr sz="12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9AB5D85C-05B5-4677-AA11-3AA263752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794760"/>
            <a:ext cx="36576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5191D"/>
                </a:solidFill>
              </a:rPr>
              <a:t>Use booking-linked chat, reviews and disputes</a:t>
            </a:r>
            <a:endParaRPr sz="1200"/>
          </a:p>
        </p:txBody>
      </p:sp>
      <p:sp>
        <p:nvSpPr>
          <p:cNvPr id="28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4DD34A5C-289F-4434-B80A-20C0BA5E4CE3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21040" y="480060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625F54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202359C0-8A7A-196E-DD58-8E6569619F09}" type="slidenum">
              <a:rPr b="0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986609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DA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2">
            <a:extLst xmlns:a="http://schemas.openxmlformats.org/drawingml/2006/main">
              <a:ext uri="{FF2B5EF4-FFF2-40B4-BE49-F238E27FC236}">
                <a16:creationId xmlns:a16="http://schemas.microsoft.com/office/drawing/2014/main" id="{1EDD2805-AA3D-4F05-B36A-E86E779C192F}"/>
              </a:ext>
            </a:extLst>
          </p:cNvPr>
          <p:cNvSpPr>
            <a:spLocks xmlns:a="http://schemas.openxmlformats.org/drawingml/2006/main" noGrp="1"/>
          </p:cNvSpPr>
          <p:nvPr>
            <p:ph type="title" idx="102" hasCustomPrompt="1"/>
          </p:nvPr>
        </p:nvSpPr>
        <p:spPr>
          <a:xfrm xmlns:a="http://schemas.openxmlformats.org/drawingml/2006/main">
            <a:off x="502920" y="228600"/>
            <a:ext cx="81381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00" b="1">
                <a:solidFill>
                  <a:srgbClr val="15191D"/>
                </a:solidFill>
              </a:rPr>
              <a:t>Functional &amp; Non-Functional Requirements</a:t>
            </a:r>
            <a:endParaRPr sz="24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D9E9E452-EE9E-4320-A682-64D89C273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22960"/>
            <a:ext cx="6400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A35"/>
          </a:solidFill>
          <a:ln xmlns:a="http://schemas.openxmlformats.org/drawingml/2006/main" w="12700">
            <a:solidFill>
              <a:srgbClr val="FFDA3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556F117-2DCF-4FA6-B464-50F2AAA9A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51560"/>
            <a:ext cx="4206240" cy="3611880"/>
          </a:xfrm>
          <a:prstGeom xmlns:a="http://schemas.openxmlformats.org/drawingml/2006/main" prst="roundRect">
            <a:avLst>
              <a:gd name="adj" fmla="val 20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0D6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15191D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1EB13C5-1938-4362-8338-8D98CE19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1051560"/>
            <a:ext cx="3749040" cy="3611880"/>
          </a:xfrm>
          <a:prstGeom xmlns:a="http://schemas.openxmlformats.org/drawingml/2006/main" prst="roundRect">
            <a:avLst>
              <a:gd name="adj" fmla="val 20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0D6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15191D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EB842F5-A5AE-4EFF-967B-F0F9E638D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1288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557FF"/>
                </a:solidFill>
              </a:rPr>
              <a:t>Functional Requirements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DAC88C9-CB76-443D-93EE-C90D589DD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54480"/>
            <a:ext cx="3886200" cy="3063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250">
                <a:solidFill>
                  <a:srgbClr val="15191D"/>
                </a:solidFill>
              </a:rPr>
              <a:t>Login for customer, provider and admin roles</a:t>
            </a:r>
            <a:endParaRPr sz="125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250">
                <a:solidFill>
                  <a:srgbClr val="15191D"/>
                </a:solidFill>
              </a:rPr>
              <a:t>Search services by six-digit pincode</a:t>
            </a:r>
            <a:endParaRPr sz="125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250">
                <a:solidFill>
                  <a:srgbClr val="15191D"/>
                </a:solidFill>
              </a:rPr>
              <a:t>Manage provider profiles and service listings</a:t>
            </a:r>
            <a:endParaRPr sz="125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250">
                <a:solidFill>
                  <a:srgbClr val="15191D"/>
                </a:solidFill>
              </a:rPr>
              <a:t>Publish availability and request bookings</a:t>
            </a:r>
            <a:endParaRPr sz="125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250">
                <a:solidFill>
                  <a:srgbClr val="15191D"/>
                </a:solidFill>
              </a:rPr>
              <a:t>Accept requests before customer checkout</a:t>
            </a:r>
            <a:endParaRPr sz="125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250">
                <a:solidFill>
                  <a:srgbClr val="15191D"/>
                </a:solidFill>
              </a:rPr>
              <a:t>Exchange booking-linked messages</a:t>
            </a:r>
            <a:endParaRPr sz="125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250">
                <a:solidFill>
                  <a:srgbClr val="15191D"/>
                </a:solidFill>
              </a:rPr>
              <a:t>Submit reviews and raise disputes</a:t>
            </a:r>
            <a:endParaRPr sz="12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B979828-DAE9-433C-B46E-299E285C9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1161288"/>
            <a:ext cx="3474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557FF"/>
                </a:solidFill>
              </a:rPr>
              <a:t>Non-Functional Requirements</a:t>
            </a:r>
            <a:endParaRPr sz="14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427F385-3415-4356-BB54-2C8D21CF7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1554480"/>
            <a:ext cx="338328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5191D"/>
                </a:solidFill>
              </a:rPr>
              <a:t>Security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25F54"/>
                </a:solidFill>
              </a:rPr>
              <a:t>JWT, hashed passwords and role checks</a:t>
            </a:r>
            <a:endParaRPr sz="11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2FC7E56-0685-47BB-81C2-8BD4C0C75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057400"/>
            <a:ext cx="338328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5191D"/>
                </a:solidFill>
              </a:rPr>
              <a:t>Usability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25F54"/>
                </a:solidFill>
              </a:rPr>
              <a:t>Responsive pages and role-based navigation</a:t>
            </a:r>
            <a:endParaRPr sz="11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DA562A8-AD9C-4380-BAC9-00136D9B0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560320"/>
            <a:ext cx="338328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5191D"/>
                </a:solidFill>
              </a:rPr>
              <a:t>Integrity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25F54"/>
                </a:solidFill>
              </a:rPr>
              <a:t>Validated fields and unique booking records</a:t>
            </a:r>
            <a:endParaRPr sz="11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2C7288D-F18F-495A-B2EA-A80E8F7B3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3063240"/>
            <a:ext cx="338328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5191D"/>
                </a:solidFill>
              </a:rPr>
              <a:t>Performance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25F54"/>
                </a:solidFill>
              </a:rPr>
              <a:t>Indexed searches and paginated results</a:t>
            </a:r>
            <a:endParaRPr sz="11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EA6BADE-9CD9-4BD1-AFBF-F0813E323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3566160"/>
            <a:ext cx="338328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5191D"/>
                </a:solidFill>
              </a:rPr>
              <a:t>Maintainability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25F54"/>
                </a:solidFill>
              </a:rPr>
              <a:t>Modular API routes and Mongoose models</a:t>
            </a:r>
            <a:endParaRPr sz="11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570C5D4A-A605-42BB-B7D5-3FACBAF6E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4069080"/>
            <a:ext cx="338328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5191D"/>
                </a:solidFill>
              </a:rPr>
              <a:t>Reliability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25F54"/>
                </a:solidFill>
              </a:rPr>
              <a:t>Database health checks and signed webhooks</a:t>
            </a:r>
            <a:endParaRPr sz="11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BC1BFA8C-EBB4-4C2F-A7A6-F8BE9F0B9D45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21040" y="480060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625F54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EFD6AB9A-5F9E-5F59-51AB-3C8734130965}" type="slidenum">
              <a:rPr b="0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9960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DA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2">
            <a:extLst xmlns:a="http://schemas.openxmlformats.org/drawingml/2006/main">
              <a:ext uri="{FF2B5EF4-FFF2-40B4-BE49-F238E27FC236}">
                <a16:creationId xmlns:a16="http://schemas.microsoft.com/office/drawing/2014/main" id="{714E5339-593A-42A9-B4E2-8752240E2068}"/>
              </a:ext>
            </a:extLst>
          </p:cNvPr>
          <p:cNvSpPr>
            <a:spLocks xmlns:a="http://schemas.openxmlformats.org/drawingml/2006/main" noGrp="1"/>
          </p:cNvSpPr>
          <p:nvPr>
            <p:ph type="title" idx="102" hasCustomPrompt="1"/>
          </p:nvPr>
        </p:nvSpPr>
        <p:spPr>
          <a:xfrm xmlns:a="http://schemas.openxmlformats.org/drawingml/2006/main">
            <a:off x="502920" y="228600"/>
            <a:ext cx="81381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00" b="1">
                <a:solidFill>
                  <a:srgbClr val="15191D"/>
                </a:solidFill>
              </a:rPr>
              <a:t>System Architecture &amp; Technology Stack</a:t>
            </a:r>
            <a:endParaRPr sz="24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3F17C1F-46F9-48D9-AC21-47D61A370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22960"/>
            <a:ext cx="6400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A35"/>
          </a:solidFill>
          <a:ln xmlns:a="http://schemas.openxmlformats.org/drawingml/2006/main" w="12700">
            <a:solidFill>
              <a:srgbClr val="FFDA3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59B68F09-E210-4150-BA5E-668B08D4FAF9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21040" y="480060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625F54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EE5B3003-2C54-13C6-9832-7637201064DE}" type="slidenum">
              <a:rPr b="0"/>
              <a:t>5</a:t>
            </a:fld>
            <a:endParaRPr/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10AF09-62F2-4485-9368-7ED1529E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33500"/>
            <a:ext cx="223837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57FF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00" b="1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 algn="ctr">
              <a:buNone/>
              <a:defRPr sz="1200" b="1">
                <a:solidFill>
                  <a:srgbClr val="15191D"/>
                </a:solidFill>
              </a:defRPr>
            </a:pPr>
            <a:r>
              <a:rPr sz="1200" b="1">
                <a:solidFill>
                  <a:srgbClr val="15191D"/>
                </a:solidFill>
              </a:rPr>
              <a:t>Presentation Tier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15191D"/>
                </a:solidFill>
              </a:defRPr>
            </a:pPr>
            <a:r>
              <a:rPr sz="1200" b="1">
                <a:solidFill>
                  <a:srgbClr val="15191D"/>
                </a:solidFill>
              </a:rPr>
              <a:t>React + Vite + Tailwind CSS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F53554-DA42-4D18-BFA4-A0BF27752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333500"/>
            <a:ext cx="223837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57FF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00" b="1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 algn="ctr">
              <a:buNone/>
              <a:defRPr sz="1200" b="1">
                <a:solidFill>
                  <a:srgbClr val="15191D"/>
                </a:solidFill>
              </a:defRPr>
            </a:pPr>
            <a:r>
              <a:rPr sz="1200" b="1">
                <a:solidFill>
                  <a:srgbClr val="15191D"/>
                </a:solidFill>
              </a:rPr>
              <a:t>Application Tier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15191D"/>
                </a:solidFill>
              </a:defRPr>
            </a:pPr>
            <a:r>
              <a:rPr sz="1200" b="1">
                <a:solidFill>
                  <a:srgbClr val="15191D"/>
                </a:solidFill>
              </a:rPr>
              <a:t>Node.js + Express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15191D"/>
                </a:solidFill>
              </a:defRPr>
            </a:pPr>
            <a:r>
              <a:rPr sz="1200" b="1">
                <a:solidFill>
                  <a:srgbClr val="15191D"/>
                </a:solidFill>
              </a:rPr>
              <a:t>JWT + REST APIs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41A75A-4E91-4E38-8A44-8306E913B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333500"/>
            <a:ext cx="223837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57FF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00" b="1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 algn="ctr">
              <a:buNone/>
              <a:defRPr sz="1200" b="1">
                <a:solidFill>
                  <a:srgbClr val="15191D"/>
                </a:solidFill>
              </a:defRPr>
            </a:pPr>
            <a:r>
              <a:rPr sz="1200" b="1">
                <a:solidFill>
                  <a:srgbClr val="15191D"/>
                </a:solidFill>
              </a:rPr>
              <a:t>Data Tier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15191D"/>
                </a:solidFill>
              </a:defRPr>
            </a:pPr>
            <a:r>
              <a:rPr sz="1200" b="1">
                <a:solidFill>
                  <a:srgbClr val="15191D"/>
                </a:solidFill>
              </a:rPr>
              <a:t>MongoDB + Mongoose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15191D"/>
                </a:solidFill>
              </a:defRPr>
            </a:pPr>
            <a:r>
              <a:rPr sz="1200" b="1">
                <a:solidFill>
                  <a:srgbClr val="15191D"/>
                </a:solidFill>
              </a:rPr>
              <a:t>Referenced collections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6D6953-B4E7-401B-AE68-93AEB3493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57375"/>
            <a:ext cx="619125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1557F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52715A-9165-4E7C-8B9F-0EA12AF8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857375"/>
            <a:ext cx="619125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1557F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0C77EC-F899-4CAB-927C-905D34610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155257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25" b="0">
                <a:solidFill>
                  <a:srgbClr val="625F54"/>
                </a:solidFill>
              </a:defRPr>
            </a:defPPr>
          </a:lstStyle>
          <a:p xmlns:a="http://schemas.openxmlformats.org/drawingml/2006/main">
            <a:pPr>
              <a:buNone/>
              <a:defRPr sz="825" b="0">
                <a:solidFill>
                  <a:srgbClr val="625F54"/>
                </a:solidFill>
              </a:defRPr>
            </a:pPr>
            <a:r>
              <a:rPr sz="825" b="0">
                <a:solidFill>
                  <a:srgbClr val="625F54"/>
                </a:solidFill>
              </a:rPr>
              <a:t>HTTPS / JSON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BD8ED6-1878-4F6D-9070-1F9AE30ED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5525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25" b="0">
                <a:solidFill>
                  <a:srgbClr val="625F54"/>
                </a:solidFill>
              </a:defRPr>
            </a:defPPr>
          </a:lstStyle>
          <a:p xmlns:a="http://schemas.openxmlformats.org/drawingml/2006/main">
            <a:pPr>
              <a:buNone/>
              <a:defRPr sz="825" b="0">
                <a:solidFill>
                  <a:srgbClr val="625F54"/>
                </a:solidFill>
              </a:defRPr>
            </a:pPr>
            <a:r>
              <a:rPr sz="825" b="0">
                <a:solidFill>
                  <a:srgbClr val="625F54"/>
                </a:solidFill>
              </a:rPr>
              <a:t>Queries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110DF5-B76D-4646-9A71-F46B6D281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95625"/>
            <a:ext cx="223837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57FF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00" b="1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 algn="ctr">
              <a:buNone/>
              <a:defRPr sz="1200" b="1">
                <a:solidFill>
                  <a:srgbClr val="15191D"/>
                </a:solidFill>
              </a:defRPr>
            </a:pPr>
            <a:r>
              <a:rPr sz="1200" b="1">
                <a:solidFill>
                  <a:srgbClr val="15191D"/>
                </a:solidFill>
              </a:rPr>
              <a:t>Socket.IO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15191D"/>
                </a:solidFill>
              </a:defRPr>
            </a:pPr>
            <a:r>
              <a:rPr sz="1200" b="1">
                <a:solidFill>
                  <a:srgbClr val="15191D"/>
                </a:solidFill>
              </a:rPr>
              <a:t>Booking-linked live chat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DA1A83F-901C-462B-8E99-3FF43E3C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95625"/>
            <a:ext cx="2667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57FF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00" b="1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 algn="ctr">
              <a:buNone/>
              <a:defRPr sz="1200" b="1">
                <a:solidFill>
                  <a:srgbClr val="15191D"/>
                </a:solidFill>
              </a:defRPr>
            </a:pPr>
            <a:r>
              <a:rPr sz="1200" b="1">
                <a:solidFill>
                  <a:srgbClr val="15191D"/>
                </a:solidFill>
              </a:rPr>
              <a:t>Razorpay Checkout + Route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15191D"/>
                </a:solidFill>
              </a:defRPr>
            </a:pPr>
            <a:r>
              <a:rPr sz="1200" b="1">
                <a:solidFill>
                  <a:srgbClr val="15191D"/>
                </a:solidFill>
              </a:rPr>
              <a:t>Payments and provider transfers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CE7CD5B-8B21-426F-86F1-A169169AE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095625"/>
            <a:ext cx="214312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57FF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00" b="1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 algn="ctr">
              <a:buNone/>
              <a:defRPr sz="1200" b="1">
                <a:solidFill>
                  <a:srgbClr val="15191D"/>
                </a:solidFill>
              </a:defRPr>
            </a:pPr>
            <a:r>
              <a:rPr sz="1200" b="1">
                <a:solidFill>
                  <a:srgbClr val="15191D"/>
                </a:solidFill>
              </a:rPr>
              <a:t>KYC vendor + Email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15191D"/>
                </a:solidFill>
              </a:defRPr>
            </a:pPr>
            <a:r>
              <a:rPr sz="1200" b="1">
                <a:solidFill>
                  <a:srgbClr val="15191D"/>
                </a:solidFill>
              </a:rPr>
              <a:t>External service adapters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9E459A9-35FC-4D43-AF36-DCE333970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81250"/>
            <a:ext cx="0" cy="714375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1557FF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92A4A6B-33FD-43BA-A166-0AB26482F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05300"/>
            <a:ext cx="7953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625F54"/>
                </a:solidFill>
              </a:defRPr>
            </a:defPPr>
          </a:lstStyle>
          <a:p xmlns:a="http://schemas.openxmlformats.org/drawingml/2006/main">
            <a:pPr>
              <a:buNone/>
              <a:defRPr sz="1125" b="0">
                <a:solidFill>
                  <a:srgbClr val="625F54"/>
                </a:solidFill>
              </a:defRPr>
            </a:pPr>
            <a:r>
              <a:rPr sz="1125" b="0">
                <a:solidFill>
                  <a:srgbClr val="625F54"/>
                </a:solidFill>
              </a:rPr>
              <a:t>Production payments and KYC require configured external accounts and vendor approval.</a:t>
            </a:r>
          </a:p>
        </p:txBody>
      </p:sp>
    </p:spTree>
    <p:extLst>
      <p:ext uri="{BB962C8B-B14F-4D97-AF65-F5344CB8AC3E}">
        <p14:creationId xmlns:p14="http://schemas.microsoft.com/office/powerpoint/2010/main" val="8833856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DA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2">
            <a:extLst xmlns:a="http://schemas.openxmlformats.org/drawingml/2006/main">
              <a:ext uri="{FF2B5EF4-FFF2-40B4-BE49-F238E27FC236}">
                <a16:creationId xmlns:a16="http://schemas.microsoft.com/office/drawing/2014/main" id="{AD82C115-FC9B-4CE4-8DEE-796B8A86962F}"/>
              </a:ext>
            </a:extLst>
          </p:cNvPr>
          <p:cNvSpPr>
            <a:spLocks xmlns:a="http://schemas.openxmlformats.org/drawingml/2006/main" noGrp="1"/>
          </p:cNvSpPr>
          <p:nvPr>
            <p:ph type="title" idx="102" hasCustomPrompt="1"/>
          </p:nvPr>
        </p:nvSpPr>
        <p:spPr>
          <a:xfrm xmlns:a="http://schemas.openxmlformats.org/drawingml/2006/main">
            <a:off x="502920" y="228600"/>
            <a:ext cx="81381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00" b="1">
                <a:solidFill>
                  <a:srgbClr val="15191D"/>
                </a:solidFill>
              </a:rPr>
              <a:t>Use Cases: Customer, Provider &amp; Admin</a:t>
            </a:r>
            <a:endParaRPr sz="24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98B986E-0713-458A-A44F-7CB5DFB94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22960"/>
            <a:ext cx="6400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A35"/>
          </a:solidFill>
          <a:ln xmlns:a="http://schemas.openxmlformats.org/drawingml/2006/main" w="12700">
            <a:solidFill>
              <a:srgbClr val="FFDA3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44E0F5FC-A907-4045-B608-D48CFA27081A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21040" y="480060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625F54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8C630A04-5A25-9E0C-9436-126091DB86B3}" type="slidenum">
              <a:rPr b="0"/>
              <a:t>6</a:t>
            </a:fld>
            <a:endParaRPr/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614FBF-EFB7-47E3-B97D-F5EEDBE9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38250"/>
            <a:ext cx="1619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57FF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00" b="1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 algn="ctr">
              <a:buNone/>
              <a:defRPr sz="1200" b="1">
                <a:solidFill>
                  <a:srgbClr val="15191D"/>
                </a:solidFill>
              </a:defRPr>
            </a:pPr>
            <a:r>
              <a:rPr sz="1200" b="1">
                <a:solidFill>
                  <a:srgbClr val="15191D"/>
                </a:solidFill>
              </a:rPr>
              <a:t>Customer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163AE1-041B-492F-862A-F358ED0C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609725"/>
            <a:ext cx="619125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1557F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83EC7A-5E5F-4610-83DD-E62089BA5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238250"/>
            <a:ext cx="5238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15191D"/>
                </a:solidFill>
              </a:defRPr>
            </a:pPr>
            <a:r>
              <a:rPr sz="1350" b="0">
                <a:solidFill>
                  <a:srgbClr val="15191D"/>
                </a:solidFill>
              </a:rPr>
              <a:t>Discover services</a:t>
            </a:r>
          </a:p>
          <a:p xmlns:a="http://schemas.openxmlformats.org/drawingml/2006/main">
            <a:pPr>
              <a:buNone/>
              <a:defRPr sz="1350" b="0">
                <a:solidFill>
                  <a:srgbClr val="15191D"/>
                </a:solidFill>
              </a:defRPr>
            </a:pPr>
            <a:r>
              <a:rPr sz="1350" b="0">
                <a:solidFill>
                  <a:srgbClr val="15191D"/>
                </a:solidFill>
              </a:rPr>
              <a:t>Request and pay for bookings</a:t>
            </a:r>
          </a:p>
          <a:p xmlns:a="http://schemas.openxmlformats.org/drawingml/2006/main">
            <a:pPr>
              <a:buNone/>
              <a:defRPr sz="1350" b="0">
                <a:solidFill>
                  <a:srgbClr val="15191D"/>
                </a:solidFill>
              </a:defRPr>
            </a:pPr>
            <a:r>
              <a:rPr sz="1350" b="0">
                <a:solidFill>
                  <a:srgbClr val="15191D"/>
                </a:solidFill>
              </a:rPr>
              <a:t>Chat, review and raise disputes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83139F-974E-4FB2-91CA-15BCF5ACB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1619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57FF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00" b="1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 algn="ctr">
              <a:buNone/>
              <a:defRPr sz="1200" b="1">
                <a:solidFill>
                  <a:srgbClr val="15191D"/>
                </a:solidFill>
              </a:defRPr>
            </a:pPr>
            <a:r>
              <a:rPr sz="1200" b="1">
                <a:solidFill>
                  <a:srgbClr val="15191D"/>
                </a:solidFill>
              </a:rPr>
              <a:t>Provider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48FA94-28B9-467C-A2DF-F5C41DE84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705100"/>
            <a:ext cx="619125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1557F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44E838-859F-4A0C-BFF9-D80743156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333625"/>
            <a:ext cx="5238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15191D"/>
                </a:solidFill>
              </a:defRPr>
            </a:pPr>
            <a:r>
              <a:rPr sz="1350" b="0">
                <a:solidFill>
                  <a:srgbClr val="15191D"/>
                </a:solidFill>
              </a:rPr>
              <a:t>Maintain profile and listings</a:t>
            </a:r>
          </a:p>
          <a:p xmlns:a="http://schemas.openxmlformats.org/drawingml/2006/main">
            <a:pPr>
              <a:buNone/>
              <a:defRPr sz="1350" b="0">
                <a:solidFill>
                  <a:srgbClr val="15191D"/>
                </a:solidFill>
              </a:defRPr>
            </a:pPr>
            <a:r>
              <a:rPr sz="1350" b="0">
                <a:solidFill>
                  <a:srgbClr val="15191D"/>
                </a:solidFill>
              </a:rPr>
              <a:t>Publish availability</a:t>
            </a:r>
          </a:p>
          <a:p xmlns:a="http://schemas.openxmlformats.org/drawingml/2006/main">
            <a:pPr>
              <a:buNone/>
              <a:defRPr sz="1350" b="0">
                <a:solidFill>
                  <a:srgbClr val="15191D"/>
                </a:solidFill>
              </a:defRPr>
            </a:pPr>
            <a:r>
              <a:rPr sz="1350" b="0">
                <a:solidFill>
                  <a:srgbClr val="15191D"/>
                </a:solidFill>
              </a:rPr>
              <a:t>Accept and complete bookings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84918C-9BB8-4363-A19D-56BC71BC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29000"/>
            <a:ext cx="1619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57FF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00" b="1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 algn="ctr">
              <a:buNone/>
              <a:defRPr sz="1200" b="1">
                <a:solidFill>
                  <a:srgbClr val="15191D"/>
                </a:solidFill>
              </a:defRPr>
            </a:pPr>
            <a:r>
              <a:rPr sz="1200" b="1">
                <a:solidFill>
                  <a:srgbClr val="15191D"/>
                </a:solidFill>
              </a:rPr>
              <a:t>Admin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C009CD-C66E-4814-ABC3-77427CF2F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800475"/>
            <a:ext cx="619125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1557FF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F562696-E0AB-4D78-BC96-CBA969083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429000"/>
            <a:ext cx="5238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15191D"/>
                </a:solidFill>
              </a:defRPr>
            </a:pPr>
            <a:r>
              <a:rPr sz="1350" b="0">
                <a:solidFill>
                  <a:srgbClr val="15191D"/>
                </a:solidFill>
              </a:rPr>
              <a:t>Review provider status</a:t>
            </a:r>
          </a:p>
          <a:p xmlns:a="http://schemas.openxmlformats.org/drawingml/2006/main">
            <a:pPr>
              <a:buNone/>
              <a:defRPr sz="1350" b="0">
                <a:solidFill>
                  <a:srgbClr val="15191D"/>
                </a:solidFill>
              </a:defRPr>
            </a:pPr>
            <a:r>
              <a:rPr sz="1350" b="0">
                <a:solidFill>
                  <a:srgbClr val="15191D"/>
                </a:solidFill>
              </a:rPr>
              <a:t>Configure marketplace policies</a:t>
            </a:r>
          </a:p>
          <a:p xmlns:a="http://schemas.openxmlformats.org/drawingml/2006/main">
            <a:pPr>
              <a:buNone/>
              <a:defRPr sz="1350" b="0">
                <a:solidFill>
                  <a:srgbClr val="15191D"/>
                </a:solidFill>
              </a:defRPr>
            </a:pPr>
            <a:r>
              <a:rPr sz="1350" b="0">
                <a:solidFill>
                  <a:srgbClr val="15191D"/>
                </a:solidFill>
              </a:rPr>
              <a:t>Resolve disputes and refunds</a:t>
            </a:r>
          </a:p>
        </p:txBody>
      </p:sp>
    </p:spTree>
    <p:extLst>
      <p:ext uri="{BB962C8B-B14F-4D97-AF65-F5344CB8AC3E}">
        <p14:creationId xmlns:p14="http://schemas.microsoft.com/office/powerpoint/2010/main" val="15219017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DA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2">
            <a:extLst xmlns:a="http://schemas.openxmlformats.org/drawingml/2006/main">
              <a:ext uri="{FF2B5EF4-FFF2-40B4-BE49-F238E27FC236}">
                <a16:creationId xmlns:a16="http://schemas.microsoft.com/office/drawing/2014/main" id="{DB591859-5C91-40FD-810A-7E95100F300D}"/>
              </a:ext>
            </a:extLst>
          </p:cNvPr>
          <p:cNvSpPr>
            <a:spLocks xmlns:a="http://schemas.openxmlformats.org/drawingml/2006/main" noGrp="1"/>
          </p:cNvSpPr>
          <p:nvPr>
            <p:ph type="title" idx="102" hasCustomPrompt="1"/>
          </p:nvPr>
        </p:nvSpPr>
        <p:spPr>
          <a:xfrm xmlns:a="http://schemas.openxmlformats.org/drawingml/2006/main">
            <a:off x="502920" y="228600"/>
            <a:ext cx="81381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00" b="1">
                <a:solidFill>
                  <a:srgbClr val="15191D"/>
                </a:solidFill>
              </a:rPr>
              <a:t>Database Design &amp; Key Relationships</a:t>
            </a:r>
            <a:endParaRPr sz="24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7C9C2B6-4FAC-4EA8-AC2A-FAF451461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22960"/>
            <a:ext cx="6400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A35"/>
          </a:solidFill>
          <a:ln xmlns:a="http://schemas.openxmlformats.org/drawingml/2006/main" w="12700">
            <a:solidFill>
              <a:srgbClr val="FFDA3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5F1D7FE6-66ED-4B10-A879-E71EB01EDFA5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21040" y="480060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625F54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D3D7D1C8-AE23-AA48-DF65-C742588DBE47}" type="slidenum">
              <a:rPr b="0"/>
              <a:t>7</a:t>
            </a:fld>
            <a:endParaRPr/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F20C31-C636-4F79-8639-EF796D5FF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9050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57FF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00" b="1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 algn="ctr">
              <a:buNone/>
              <a:defRPr sz="1200" b="1">
                <a:solidFill>
                  <a:srgbClr val="15191D"/>
                </a:solidFill>
              </a:defRPr>
            </a:pPr>
            <a:r>
              <a:rPr sz="1200" b="1">
                <a:solidFill>
                  <a:srgbClr val="15191D"/>
                </a:solidFill>
              </a:rPr>
              <a:t>User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15191D"/>
                </a:solidFill>
              </a:defRPr>
            </a:pPr>
            <a:r>
              <a:rPr sz="1200" b="1">
                <a:solidFill>
                  <a:srgbClr val="15191D"/>
                </a:solidFill>
              </a:rPr>
              <a:t>name, email, role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A26E08-4BB1-4DF7-B07E-9ABABD61F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238250"/>
            <a:ext cx="219075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57FF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00" b="1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 algn="ctr">
              <a:buNone/>
              <a:defRPr sz="1200" b="1">
                <a:solidFill>
                  <a:srgbClr val="15191D"/>
                </a:solidFill>
              </a:defRPr>
            </a:pPr>
            <a:r>
              <a:rPr sz="1200" b="1">
                <a:solidFill>
                  <a:srgbClr val="15191D"/>
                </a:solidFill>
              </a:rPr>
              <a:t>ProviderProfile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15191D"/>
                </a:solidFill>
              </a:defRPr>
            </a:pPr>
            <a:r>
              <a:rPr sz="1200" b="1">
                <a:solidFill>
                  <a:srgbClr val="15191D"/>
                </a:solidFill>
              </a:rPr>
              <a:t>user, servicePincodes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3A1BDA-2BCE-4ECA-B57C-135B8C6AB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238250"/>
            <a:ext cx="19050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57FF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00" b="1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 algn="ctr">
              <a:buNone/>
              <a:defRPr sz="1200" b="1">
                <a:solidFill>
                  <a:srgbClr val="15191D"/>
                </a:solidFill>
              </a:defRPr>
            </a:pPr>
            <a:r>
              <a:rPr sz="1200" b="1">
                <a:solidFill>
                  <a:srgbClr val="15191D"/>
                </a:solidFill>
              </a:rPr>
              <a:t>Service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15191D"/>
                </a:solidFill>
              </a:defRPr>
            </a:pPr>
            <a:r>
              <a:rPr sz="1200" b="1">
                <a:solidFill>
                  <a:srgbClr val="15191D"/>
                </a:solidFill>
              </a:rPr>
              <a:t>provider, pricePaise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1376FA-E7BC-4338-888F-935565B36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590675"/>
            <a:ext cx="1000125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1557F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D5461B-A441-4EAE-B37A-6222EFE23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590675"/>
            <a:ext cx="1000125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1557F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683A9E-2E39-4C1A-BE40-4AA6712AA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3430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00" b="0">
                <a:solidFill>
                  <a:srgbClr val="625F54"/>
                </a:solidFill>
              </a:defRPr>
            </a:defPPr>
          </a:lstStyle>
          <a:p xmlns:a="http://schemas.openxmlformats.org/drawingml/2006/main">
            <a:pPr>
              <a:buNone/>
              <a:defRPr sz="900" b="0">
                <a:solidFill>
                  <a:srgbClr val="625F54"/>
                </a:solidFill>
              </a:defRPr>
            </a:pPr>
            <a:r>
              <a:rPr sz="900" b="0">
                <a:solidFill>
                  <a:srgbClr val="625F54"/>
                </a:solidFill>
              </a:rPr>
              <a:t>1 to 0..1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B9AE8C-8A85-48F9-A5E1-0BE2280FF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343025"/>
            <a:ext cx="809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00" b="0">
                <a:solidFill>
                  <a:srgbClr val="625F54"/>
                </a:solidFill>
              </a:defRPr>
            </a:defPPr>
          </a:lstStyle>
          <a:p xmlns:a="http://schemas.openxmlformats.org/drawingml/2006/main">
            <a:pPr>
              <a:buNone/>
              <a:defRPr sz="900" b="0">
                <a:solidFill>
                  <a:srgbClr val="625F54"/>
                </a:solidFill>
              </a:defRPr>
            </a:pPr>
            <a:r>
              <a:rPr sz="900" b="0">
                <a:solidFill>
                  <a:srgbClr val="625F54"/>
                </a:solidFill>
              </a:rPr>
              <a:t>1 to many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030C88-C61D-493E-BBBB-0C4CADD34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524125"/>
            <a:ext cx="21907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57FF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00" b="1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 algn="ctr">
              <a:buNone/>
              <a:defRPr sz="1200" b="1">
                <a:solidFill>
                  <a:srgbClr val="15191D"/>
                </a:solidFill>
              </a:defRPr>
            </a:pPr>
            <a:r>
              <a:rPr sz="1200" b="1">
                <a:solidFill>
                  <a:srgbClr val="15191D"/>
                </a:solidFill>
              </a:rPr>
              <a:t>Booking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15191D"/>
                </a:solidFill>
              </a:defRPr>
            </a:pPr>
            <a:r>
              <a:rPr sz="1200" b="1">
                <a:solidFill>
                  <a:srgbClr val="15191D"/>
                </a:solidFill>
              </a:rPr>
              <a:t>customer, provider, service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15191D"/>
                </a:solidFill>
              </a:defRPr>
            </a:pPr>
            <a:r>
              <a:rPr sz="1200" b="1">
                <a:solidFill>
                  <a:srgbClr val="15191D"/>
                </a:solidFill>
              </a:rPr>
              <a:t>scheduledAt, status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3736660-B788-4E04-8F1E-F6AC51B73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52625"/>
            <a:ext cx="0" cy="57150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1557FF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472540E-8FC2-4ED5-AA73-5018249EB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52625"/>
            <a:ext cx="0" cy="100965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1557FF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667795C-F004-4227-AEBA-99F76335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62275"/>
            <a:ext cx="1952625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1557FF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BA367F4-EE4D-4B33-9FB0-0FCE396A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52625"/>
            <a:ext cx="0" cy="100965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1557FF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66E4CBB-357F-4D12-A12A-74EEFEFF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962275"/>
            <a:ext cx="1952625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1557FF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B10FF45-E142-476A-9A73-8A6F06A2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05250"/>
            <a:ext cx="17145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57FF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00" b="1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 algn="ctr">
              <a:buNone/>
              <a:defRPr sz="1200" b="1">
                <a:solidFill>
                  <a:srgbClr val="15191D"/>
                </a:solidFill>
              </a:defRPr>
            </a:pPr>
            <a:r>
              <a:rPr sz="1200" b="1">
                <a:solidFill>
                  <a:srgbClr val="15191D"/>
                </a:solidFill>
              </a:rPr>
              <a:t>Payment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15191D"/>
                </a:solidFill>
              </a:defRPr>
            </a:pPr>
            <a:r>
              <a:rPr sz="1200" b="1">
                <a:solidFill>
                  <a:srgbClr val="15191D"/>
                </a:solidFill>
              </a:rPr>
              <a:t>booking, amountPaise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0483F18-FF42-4EA6-AE95-FD3F9C7C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00" b="0">
                <a:solidFill>
                  <a:srgbClr val="625F54"/>
                </a:solidFill>
              </a:defRPr>
            </a:defPPr>
          </a:lstStyle>
          <a:p xmlns:a="http://schemas.openxmlformats.org/drawingml/2006/main">
            <a:pPr>
              <a:buNone/>
              <a:defRPr sz="900" b="0">
                <a:solidFill>
                  <a:srgbClr val="625F54"/>
                </a:solidFill>
              </a:defRPr>
            </a:pPr>
            <a:r>
              <a:rPr sz="900" b="0">
                <a:solidFill>
                  <a:srgbClr val="625F54"/>
                </a:solidFill>
              </a:rPr>
              <a:t>0..1 per booking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28432F2-D1F2-45E4-A9AC-6696D016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905250"/>
            <a:ext cx="17145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57FF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00" b="1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 algn="ctr">
              <a:buNone/>
              <a:defRPr sz="1200" b="1">
                <a:solidFill>
                  <a:srgbClr val="15191D"/>
                </a:solidFill>
              </a:defRPr>
            </a:pPr>
            <a:r>
              <a:rPr sz="1200" b="1">
                <a:solidFill>
                  <a:srgbClr val="15191D"/>
                </a:solidFill>
              </a:rPr>
              <a:t>Review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15191D"/>
                </a:solidFill>
              </a:defRPr>
            </a:pPr>
            <a:r>
              <a:rPr sz="1200" b="1">
                <a:solidFill>
                  <a:srgbClr val="15191D"/>
                </a:solidFill>
              </a:rPr>
              <a:t>booking, rating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F47ABB8-AEFD-44FC-9AD4-E7F5E8D3E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5720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00" b="0">
                <a:solidFill>
                  <a:srgbClr val="625F54"/>
                </a:solidFill>
              </a:defRPr>
            </a:defPPr>
          </a:lstStyle>
          <a:p xmlns:a="http://schemas.openxmlformats.org/drawingml/2006/main">
            <a:pPr>
              <a:buNone/>
              <a:defRPr sz="900" b="0">
                <a:solidFill>
                  <a:srgbClr val="625F54"/>
                </a:solidFill>
              </a:defRPr>
            </a:pPr>
            <a:r>
              <a:rPr sz="900" b="0">
                <a:solidFill>
                  <a:srgbClr val="625F54"/>
                </a:solidFill>
              </a:rPr>
              <a:t>0..1 per booking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2DAADF1-6712-4592-9D2D-67E0FE23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05250"/>
            <a:ext cx="17145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57FF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00" b="1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 algn="ctr">
              <a:buNone/>
              <a:defRPr sz="1200" b="1">
                <a:solidFill>
                  <a:srgbClr val="15191D"/>
                </a:solidFill>
              </a:defRPr>
            </a:pPr>
            <a:r>
              <a:rPr sz="1200" b="1">
                <a:solidFill>
                  <a:srgbClr val="15191D"/>
                </a:solidFill>
              </a:rPr>
              <a:t>Message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15191D"/>
                </a:solidFill>
              </a:defRPr>
            </a:pPr>
            <a:r>
              <a:rPr sz="1200" b="1">
                <a:solidFill>
                  <a:srgbClr val="15191D"/>
                </a:solidFill>
              </a:rPr>
              <a:t>booking, sender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F63D910-BFA2-491E-8343-FCB924E3B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5720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00" b="0">
                <a:solidFill>
                  <a:srgbClr val="625F54"/>
                </a:solidFill>
              </a:defRPr>
            </a:defPPr>
          </a:lstStyle>
          <a:p xmlns:a="http://schemas.openxmlformats.org/drawingml/2006/main">
            <a:pPr>
              <a:buNone/>
              <a:defRPr sz="900" b="0">
                <a:solidFill>
                  <a:srgbClr val="625F54"/>
                </a:solidFill>
              </a:defRPr>
            </a:pPr>
            <a:r>
              <a:rPr sz="900" b="0">
                <a:solidFill>
                  <a:srgbClr val="625F54"/>
                </a:solidFill>
              </a:rPr>
              <a:t>Many per booking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8BC355D-9970-4555-B888-E921C392A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05250"/>
            <a:ext cx="17145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57FF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00" b="1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 algn="ctr">
              <a:buNone/>
              <a:defRPr sz="1200" b="1">
                <a:solidFill>
                  <a:srgbClr val="15191D"/>
                </a:solidFill>
              </a:defRPr>
            </a:pPr>
            <a:r>
              <a:rPr sz="1200" b="1">
                <a:solidFill>
                  <a:srgbClr val="15191D"/>
                </a:solidFill>
              </a:rPr>
              <a:t>Dispute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15191D"/>
                </a:solidFill>
              </a:defRPr>
            </a:pPr>
            <a:r>
              <a:rPr sz="1200" b="1">
                <a:solidFill>
                  <a:srgbClr val="15191D"/>
                </a:solidFill>
              </a:rPr>
              <a:t>booking, status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E38BABB-87EF-4026-9045-52800FDC9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720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00" b="0">
                <a:solidFill>
                  <a:srgbClr val="625F54"/>
                </a:solidFill>
              </a:defRPr>
            </a:defPPr>
          </a:lstStyle>
          <a:p xmlns:a="http://schemas.openxmlformats.org/drawingml/2006/main">
            <a:pPr>
              <a:buNone/>
              <a:defRPr sz="900" b="0">
                <a:solidFill>
                  <a:srgbClr val="625F54"/>
                </a:solidFill>
              </a:defRPr>
            </a:pPr>
            <a:r>
              <a:rPr sz="900" b="0">
                <a:solidFill>
                  <a:srgbClr val="625F54"/>
                </a:solidFill>
              </a:rPr>
              <a:t>0..1 per booking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B3528ED-4E3D-46E9-A45D-3DA96350C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29000"/>
            <a:ext cx="0" cy="26670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1557FF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22BAC3A-ADFF-4C87-8A2C-B4D168AC3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95700"/>
            <a:ext cx="628650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1557FF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5BDBAFE-F017-489E-A65B-85389545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95700"/>
            <a:ext cx="0" cy="20955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1557FF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B85195D-A127-49E4-A11A-A0AC15A8B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695700"/>
            <a:ext cx="0" cy="20955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1557FF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71A9057-8898-485D-A3C3-C7878EB6C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695700"/>
            <a:ext cx="0" cy="20955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1557FF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B557FBB-7C9E-423B-8E33-1EA9C0BF8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95700"/>
            <a:ext cx="0" cy="20955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1557FF"/>
            </a:solidFill>
          </a:ln>
        </p:spPr>
      </p:sp>
    </p:spTree>
    <p:extLst>
      <p:ext uri="{BB962C8B-B14F-4D97-AF65-F5344CB8AC3E}">
        <p14:creationId xmlns:p14="http://schemas.microsoft.com/office/powerpoint/2010/main" val="5233045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DA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2">
            <a:extLst xmlns:a="http://schemas.openxmlformats.org/drawingml/2006/main">
              <a:ext uri="{FF2B5EF4-FFF2-40B4-BE49-F238E27FC236}">
                <a16:creationId xmlns:a16="http://schemas.microsoft.com/office/drawing/2014/main" id="{430B75E9-053B-4700-B66E-6564F31214BD}"/>
              </a:ext>
            </a:extLst>
          </p:cNvPr>
          <p:cNvSpPr>
            <a:spLocks xmlns:a="http://schemas.openxmlformats.org/drawingml/2006/main" noGrp="1"/>
          </p:cNvSpPr>
          <p:nvPr>
            <p:ph type="title" idx="102" hasCustomPrompt="1"/>
          </p:nvPr>
        </p:nvSpPr>
        <p:spPr>
          <a:xfrm xmlns:a="http://schemas.openxmlformats.org/drawingml/2006/main">
            <a:off x="502920" y="228600"/>
            <a:ext cx="81381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00" b="1">
                <a:solidFill>
                  <a:srgbClr val="15191D"/>
                </a:solidFill>
              </a:rPr>
              <a:t>Modules &amp; Role-Based Workspaces</a:t>
            </a:r>
            <a:endParaRPr sz="24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ECB0682-7EC7-493A-A5B3-DDCF31930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22960"/>
            <a:ext cx="6400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A35"/>
          </a:solidFill>
          <a:ln xmlns:a="http://schemas.openxmlformats.org/drawingml/2006/main" w="12700">
            <a:solidFill>
              <a:srgbClr val="FFDA3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9E979A5-024B-4369-A986-9B94EC20E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97280"/>
            <a:ext cx="2651760" cy="310896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0D6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15191D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DDDE2BD-7A91-4652-9F0C-9C3C598CC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97280"/>
            <a:ext cx="265176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7FF"/>
          </a:solidFill>
          <a:ln xmlns:a="http://schemas.openxmlformats.org/drawingml/2006/main" w="12700">
            <a:solidFill>
              <a:srgbClr val="155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4297AD1-56A7-46D9-87C3-EF20A9D8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8448"/>
            <a:ext cx="2286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5191D"/>
                </a:solidFill>
              </a:rPr>
              <a:t>Customer Workspace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AE7D805-EDB4-4282-8857-1D0C3D04B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91056"/>
            <a:ext cx="2286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1557FF"/>
                </a:solidFill>
              </a:rPr>
              <a:t>Find and manage local services</a:t>
            </a:r>
            <a:endParaRPr sz="11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71910E5-9385-4052-A69E-7DC5F4602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1680"/>
            <a:ext cx="2286000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250">
                <a:solidFill>
                  <a:srgbClr val="15191D"/>
                </a:solidFill>
              </a:rPr>
              <a:t>Exact-pincode search</a:t>
            </a:r>
            <a:endParaRPr sz="1250"/>
          </a:p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250">
                <a:solidFill>
                  <a:srgbClr val="15191D"/>
                </a:solidFill>
              </a:rPr>
              <a:t>Service detail and time selection</a:t>
            </a:r>
            <a:endParaRPr sz="1250"/>
          </a:p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250">
                <a:solidFill>
                  <a:srgbClr val="15191D"/>
                </a:solidFill>
              </a:rPr>
              <a:t>Bookings and checkout</a:t>
            </a:r>
            <a:endParaRPr sz="1250"/>
          </a:p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250">
                <a:solidFill>
                  <a:srgbClr val="15191D"/>
                </a:solidFill>
              </a:rPr>
              <a:t>Messages, reviews and disputes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12C3C52D-26FE-4B08-BF9F-B8C6B22DD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1097280"/>
            <a:ext cx="2651760" cy="310896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0D6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15191D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3FC9F1A-80FA-4D2D-810A-DF03D67CA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1097280"/>
            <a:ext cx="265176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A35"/>
          </a:solidFill>
          <a:ln xmlns:a="http://schemas.openxmlformats.org/drawingml/2006/main" w="12700">
            <a:solidFill>
              <a:srgbClr val="FFDA3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7EA8B59-C1AB-4F3C-9217-E56B4A228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298448"/>
            <a:ext cx="2286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5191D"/>
                </a:solidFill>
              </a:rPr>
              <a:t>Provider Workspace</a:t>
            </a:r>
            <a:endParaRPr sz="14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227611F-45E6-4B34-9E9B-A11F70429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591056"/>
            <a:ext cx="2286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1557FF"/>
                </a:solidFill>
              </a:rPr>
              <a:t>Manage service delivery</a:t>
            </a:r>
            <a:endParaRPr sz="11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9981685-7D08-4916-99DF-CB0C7A44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11680"/>
            <a:ext cx="2286000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250">
                <a:solidFill>
                  <a:srgbClr val="15191D"/>
                </a:solidFill>
              </a:rPr>
              <a:t>Profile and service areas</a:t>
            </a:r>
            <a:endParaRPr sz="1250"/>
          </a:p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250">
                <a:solidFill>
                  <a:srgbClr val="15191D"/>
                </a:solidFill>
              </a:rPr>
              <a:t>Listings and availability</a:t>
            </a:r>
            <a:endParaRPr sz="1250"/>
          </a:p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250">
                <a:solidFill>
                  <a:srgbClr val="15191D"/>
                </a:solidFill>
              </a:rPr>
              <a:t>Accept or reject requests</a:t>
            </a:r>
            <a:endParaRPr sz="1250"/>
          </a:p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250">
                <a:solidFill>
                  <a:srgbClr val="15191D"/>
                </a:solidFill>
              </a:rPr>
              <a:t>Booking chat and completion</a:t>
            </a:r>
            <a:endParaRPr sz="12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8757F856-5BE7-44D6-A935-52386414F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1097280"/>
            <a:ext cx="2651760" cy="310896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0D6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15191D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CFD258E2-F6D2-4324-A59E-FF19A9FEE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1097280"/>
            <a:ext cx="265176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FF9"/>
          </a:solidFill>
          <a:ln xmlns:a="http://schemas.openxmlformats.org/drawingml/2006/main" w="12700">
            <a:solidFill>
              <a:srgbClr val="2D7FF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25C30C9A-2029-4470-BBA8-88E61D6D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298448"/>
            <a:ext cx="2286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5191D"/>
                </a:solidFill>
              </a:rPr>
              <a:t>Admin Workspace</a:t>
            </a:r>
            <a:endParaRPr sz="14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2C44C44-42AB-4DC4-AFEF-34614FD3A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591056"/>
            <a:ext cx="2286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1557FF"/>
                </a:solidFill>
              </a:rPr>
              <a:t>Oversee marketplace operations</a:t>
            </a:r>
            <a:endParaRPr sz="11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F0722A0-C87C-4E9B-889E-7DC536E00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11680"/>
            <a:ext cx="2286000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250">
                <a:solidFill>
                  <a:srgbClr val="15191D"/>
                </a:solidFill>
              </a:rPr>
              <a:t>Provider review and verification status</a:t>
            </a:r>
            <a:endParaRPr sz="1250"/>
          </a:p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250">
                <a:solidFill>
                  <a:srgbClr val="15191D"/>
                </a:solidFill>
              </a:rPr>
              <a:t>Marketplace policy settings</a:t>
            </a:r>
            <a:endParaRPr sz="1250"/>
          </a:p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250">
                <a:solidFill>
                  <a:srgbClr val="15191D"/>
                </a:solidFill>
              </a:rPr>
              <a:t>Linked payout account management</a:t>
            </a:r>
            <a:endParaRPr sz="1250"/>
          </a:p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250">
                <a:solidFill>
                  <a:srgbClr val="15191D"/>
                </a:solidFill>
              </a:rPr>
              <a:t>Dispute resolution and audit records</a:t>
            </a:r>
            <a:endParaRPr sz="12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46E6A670-A757-43B2-9639-70F2852252E3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21040" y="480060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625F54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BA58DA2A-B818-18A9-29C1-B697728D5BCE}" type="slidenum">
              <a:rPr b="0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476981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DA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2">
            <a:extLst xmlns:a="http://schemas.openxmlformats.org/drawingml/2006/main">
              <a:ext uri="{FF2B5EF4-FFF2-40B4-BE49-F238E27FC236}">
                <a16:creationId xmlns:a16="http://schemas.microsoft.com/office/drawing/2014/main" id="{D5DE130D-9B1C-4296-97AB-57C5B4DA1EBA}"/>
              </a:ext>
            </a:extLst>
          </p:cNvPr>
          <p:cNvSpPr>
            <a:spLocks xmlns:a="http://schemas.openxmlformats.org/drawingml/2006/main" noGrp="1"/>
          </p:cNvSpPr>
          <p:nvPr>
            <p:ph type="title" idx="102" hasCustomPrompt="1"/>
          </p:nvPr>
        </p:nvSpPr>
        <p:spPr>
          <a:xfrm xmlns:a="http://schemas.openxmlformats.org/drawingml/2006/main">
            <a:off x="502920" y="228600"/>
            <a:ext cx="81381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00" b="1">
                <a:solidFill>
                  <a:srgbClr val="15191D"/>
                </a:solidFill>
              </a:rPr>
              <a:t>Frontend &amp; Backend Development</a:t>
            </a:r>
            <a:endParaRPr sz="24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923360A-0941-4FFC-BDB6-1D4F0118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22960"/>
            <a:ext cx="6400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A35"/>
          </a:solidFill>
          <a:ln xmlns:a="http://schemas.openxmlformats.org/drawingml/2006/main" w="12700">
            <a:solidFill>
              <a:srgbClr val="FFDA3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3812FD53-4114-4134-9E65-A80F19A040EB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21040" y="480060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625F54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388657AE-30A1-5A7A-6A7F-315D84436430}" type="slidenum">
              <a:rPr b="0"/>
              <a:t>9</a:t>
            </a:fld>
            <a:endParaRPr/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C26C24F-488B-4C69-BE7D-A23A8B4F6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90625"/>
            <a:ext cx="3667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557FF"/>
                </a:solidFill>
              </a:defRPr>
            </a:defPPr>
          </a:lstStyle>
          <a:p xmlns:a="http://schemas.openxmlformats.org/drawingml/2006/main">
            <a:pPr>
              <a:buNone/>
              <a:defRPr sz="1650" b="1">
                <a:solidFill>
                  <a:srgbClr val="1557FF"/>
                </a:solidFill>
              </a:defRPr>
            </a:pPr>
            <a:r>
              <a:rPr sz="1650" b="1">
                <a:solidFill>
                  <a:srgbClr val="1557FF"/>
                </a:solidFill>
              </a:rPr>
              <a:t>Frontend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052DCBC-77D7-4CEC-8312-17260814F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190625"/>
            <a:ext cx="3667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557FF"/>
                </a:solidFill>
              </a:defRPr>
            </a:defPPr>
          </a:lstStyle>
          <a:p xmlns:a="http://schemas.openxmlformats.org/drawingml/2006/main">
            <a:pPr>
              <a:buNone/>
              <a:defRPr sz="1650" b="1">
                <a:solidFill>
                  <a:srgbClr val="1557FF"/>
                </a:solidFill>
              </a:defRPr>
            </a:pPr>
            <a:r>
              <a:rPr sz="1650" b="1">
                <a:solidFill>
                  <a:srgbClr val="1557FF"/>
                </a:solidFill>
              </a:rPr>
              <a:t>Backend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CA6CF5E-786C-4277-98B3-748794D5A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14500"/>
            <a:ext cx="3714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15191D"/>
                </a:solidFill>
              </a:defRPr>
            </a:pPr>
            <a:r>
              <a:rPr sz="1275" b="0">
                <a:solidFill>
                  <a:srgbClr val="15191D"/>
                </a:solidFill>
              </a:rPr>
              <a:t>React components and reusable forms</a:t>
            </a:r>
          </a:p>
          <a:p xmlns:a="http://schemas.openxmlformats.org/drawingml/2006/main">
            <a:pPr>
              <a:buNone/>
              <a:defRPr sz="1275" b="0">
                <a:solidFill>
                  <a:srgbClr val="15191D"/>
                </a:solidFill>
              </a:defRPr>
            </a:pPr>
            <a:r>
              <a:rPr sz="1275" b="0">
                <a:solidFill>
                  <a:srgbClr val="15191D"/>
                </a:solidFill>
              </a:rPr>
              <a:t>React Router for public and protected pages</a:t>
            </a:r>
          </a:p>
          <a:p xmlns:a="http://schemas.openxmlformats.org/drawingml/2006/main">
            <a:pPr>
              <a:buNone/>
              <a:defRPr sz="1275" b="0">
                <a:solidFill>
                  <a:srgbClr val="15191D"/>
                </a:solidFill>
              </a:defRPr>
            </a:pPr>
            <a:r>
              <a:rPr sz="1275" b="0">
                <a:solidFill>
                  <a:srgbClr val="15191D"/>
                </a:solidFill>
              </a:rPr>
              <a:t>Role-based customer, provider and admin views</a:t>
            </a:r>
          </a:p>
          <a:p xmlns:a="http://schemas.openxmlformats.org/drawingml/2006/main">
            <a:pPr>
              <a:buNone/>
              <a:defRPr sz="1275" b="0">
                <a:solidFill>
                  <a:srgbClr val="15191D"/>
                </a:solidFill>
              </a:defRPr>
            </a:pPr>
            <a:r>
              <a:rPr sz="1275" b="0">
                <a:solidFill>
                  <a:srgbClr val="15191D"/>
                </a:solidFill>
              </a:rPr>
              <a:t>Session state and API client integration</a:t>
            </a:r>
          </a:p>
          <a:p xmlns:a="http://schemas.openxmlformats.org/drawingml/2006/main">
            <a:pPr>
              <a:buNone/>
              <a:defRPr sz="1275" b="0">
                <a:solidFill>
                  <a:srgbClr val="15191D"/>
                </a:solidFill>
              </a:defRPr>
            </a:pPr>
            <a:r>
              <a:rPr sz="1275" b="0">
                <a:solidFill>
                  <a:srgbClr val="15191D"/>
                </a:solidFill>
              </a:rPr>
              <a:t>Responsive Tailwind CSS layouts</a:t>
            </a:r>
          </a:p>
          <a:p xmlns:a="http://schemas.openxmlformats.org/drawingml/2006/main">
            <a:pPr>
              <a:buNone/>
              <a:defRPr sz="1275" b="0">
                <a:solidFill>
                  <a:srgbClr val="15191D"/>
                </a:solidFill>
              </a:defRPr>
            </a:pPr>
            <a:r>
              <a:rPr sz="1275" b="0">
                <a:solidFill>
                  <a:srgbClr val="15191D"/>
                </a:solidFill>
              </a:rPr>
              <a:t>Socket.IO client for booking chat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D5B6310-7584-49B6-91F6-D562105CB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714500"/>
            <a:ext cx="3714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15191D"/>
                </a:solidFill>
              </a:defRPr>
            </a:pPr>
            <a:r>
              <a:rPr sz="1275" b="0">
                <a:solidFill>
                  <a:srgbClr val="15191D"/>
                </a:solidFill>
              </a:rPr>
              <a:t>Express routes under /api/v1</a:t>
            </a:r>
          </a:p>
          <a:p xmlns:a="http://schemas.openxmlformats.org/drawingml/2006/main">
            <a:pPr>
              <a:buNone/>
              <a:defRPr sz="1275" b="0">
                <a:solidFill>
                  <a:srgbClr val="15191D"/>
                </a:solidFill>
              </a:defRPr>
            </a:pPr>
            <a:r>
              <a:rPr sz="1275" b="0">
                <a:solidFill>
                  <a:srgbClr val="15191D"/>
                </a:solidFill>
              </a:rPr>
              <a:t>JWT authentication and access checks</a:t>
            </a:r>
          </a:p>
          <a:p xmlns:a="http://schemas.openxmlformats.org/drawingml/2006/main">
            <a:pPr>
              <a:buNone/>
              <a:defRPr sz="1275" b="0">
                <a:solidFill>
                  <a:srgbClr val="15191D"/>
                </a:solidFill>
              </a:defRPr>
            </a:pPr>
            <a:r>
              <a:rPr sz="1275" b="0">
                <a:solidFill>
                  <a:srgbClr val="15191D"/>
                </a:solidFill>
              </a:rPr>
              <a:t>Mongoose models and input validation</a:t>
            </a:r>
          </a:p>
          <a:p xmlns:a="http://schemas.openxmlformats.org/drawingml/2006/main">
            <a:pPr>
              <a:buNone/>
              <a:defRPr sz="1275" b="0">
                <a:solidFill>
                  <a:srgbClr val="15191D"/>
                </a:solidFill>
              </a:defRPr>
            </a:pPr>
            <a:r>
              <a:rPr sz="1275" b="0">
                <a:solidFill>
                  <a:srgbClr val="15191D"/>
                </a:solidFill>
              </a:rPr>
              <a:t>Booking and payment lifecycle services</a:t>
            </a:r>
          </a:p>
          <a:p xmlns:a="http://schemas.openxmlformats.org/drawingml/2006/main">
            <a:pPr>
              <a:buNone/>
              <a:defRPr sz="1275" b="0">
                <a:solidFill>
                  <a:srgbClr val="15191D"/>
                </a:solidFill>
              </a:defRPr>
            </a:pPr>
            <a:r>
              <a:rPr sz="1275" b="0">
                <a:solidFill>
                  <a:srgbClr val="15191D"/>
                </a:solidFill>
              </a:rPr>
              <a:t>Signed webhook processing and audit records</a:t>
            </a:r>
          </a:p>
          <a:p xmlns:a="http://schemas.openxmlformats.org/drawingml/2006/main">
            <a:pPr>
              <a:buNone/>
              <a:defRPr sz="1275" b="0">
                <a:solidFill>
                  <a:srgbClr val="15191D"/>
                </a:solidFill>
              </a:defRPr>
            </a:pPr>
            <a:r>
              <a:rPr sz="1275" b="0">
                <a:solidFill>
                  <a:srgbClr val="15191D"/>
                </a:solidFill>
              </a:rPr>
              <a:t>Socket.IO server and background worker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F85E79C-2FB2-4F13-AAE7-3BA2DA324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1557FF"/>
                </a:solidFill>
              </a:defRPr>
            </a:defPPr>
          </a:lstStyle>
          <a:p xmlns:a="http://schemas.openxmlformats.org/drawingml/2006/main">
            <a:pPr>
              <a:buNone/>
              <a:defRPr sz="1200" b="1">
                <a:solidFill>
                  <a:srgbClr val="1557FF"/>
                </a:solidFill>
              </a:defRPr>
            </a:pPr>
            <a:r>
              <a:rPr sz="1200" b="1">
                <a:solidFill>
                  <a:srgbClr val="1557FF"/>
                </a:solidFill>
              </a:rPr>
              <a:t>Client request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C2C0361-0F53-4A49-A250-747300BB8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1910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1557FF"/>
                </a:solidFill>
              </a:defRPr>
            </a:defPPr>
          </a:lstStyle>
          <a:p xmlns:a="http://schemas.openxmlformats.org/drawingml/2006/main">
            <a:pPr>
              <a:buNone/>
              <a:defRPr sz="1200" b="1">
                <a:solidFill>
                  <a:srgbClr val="1557FF"/>
                </a:solidFill>
              </a:defRPr>
            </a:pPr>
            <a:r>
              <a:rPr sz="1200" b="1">
                <a:solidFill>
                  <a:srgbClr val="1557FF"/>
                </a:solidFill>
              </a:rPr>
              <a:t>Auth &amp; validation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C73001A-B08E-4144-9ECF-BC387BF39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1910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1557FF"/>
                </a:solidFill>
              </a:defRPr>
            </a:defPPr>
          </a:lstStyle>
          <a:p xmlns:a="http://schemas.openxmlformats.org/drawingml/2006/main">
            <a:pPr>
              <a:buNone/>
              <a:defRPr sz="1200" b="1">
                <a:solidFill>
                  <a:srgbClr val="1557FF"/>
                </a:solidFill>
              </a:defRPr>
            </a:pPr>
            <a:r>
              <a:rPr sz="1200" b="1">
                <a:solidFill>
                  <a:srgbClr val="1557FF"/>
                </a:solidFill>
              </a:rPr>
              <a:t>Business logic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62D3857-893D-46AF-8FD9-19223162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1910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1557FF"/>
                </a:solidFill>
              </a:defRPr>
            </a:defPPr>
          </a:lstStyle>
          <a:p xmlns:a="http://schemas.openxmlformats.org/drawingml/2006/main">
            <a:pPr>
              <a:buNone/>
              <a:defRPr sz="1200" b="1">
                <a:solidFill>
                  <a:srgbClr val="1557FF"/>
                </a:solidFill>
              </a:defRPr>
            </a:pPr>
            <a:r>
              <a:rPr sz="1200" b="1">
                <a:solidFill>
                  <a:srgbClr val="1557FF"/>
                </a:solidFill>
              </a:rPr>
              <a:t>MongoDB / JSON</a:t>
            </a:r>
          </a:p>
        </p:txBody>
      </p:sp>
    </p:spTree>
    <p:extLst>
      <p:ext uri="{BB962C8B-B14F-4D97-AF65-F5344CB8AC3E}">
        <p14:creationId xmlns:p14="http://schemas.microsoft.com/office/powerpoint/2010/main" val="31050551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DA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2">
            <a:extLst xmlns:a="http://schemas.openxmlformats.org/drawingml/2006/main">
              <a:ext uri="{FF2B5EF4-FFF2-40B4-BE49-F238E27FC236}">
                <a16:creationId xmlns:a16="http://schemas.microsoft.com/office/drawing/2014/main" id="{3AD6EEE3-0039-4F78-B0D1-6B7D2C15B206}"/>
              </a:ext>
            </a:extLst>
          </p:cNvPr>
          <p:cNvSpPr>
            <a:spLocks xmlns:a="http://schemas.openxmlformats.org/drawingml/2006/main" noGrp="1"/>
          </p:cNvSpPr>
          <p:nvPr>
            <p:ph type="title" idx="102" hasCustomPrompt="1"/>
          </p:nvPr>
        </p:nvSpPr>
        <p:spPr>
          <a:xfrm xmlns:a="http://schemas.openxmlformats.org/drawingml/2006/main">
            <a:off x="502920" y="228600"/>
            <a:ext cx="81381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00" b="1">
                <a:solidFill>
                  <a:srgbClr val="15191D"/>
                </a:solidFill>
              </a:rPr>
              <a:t>API Development &amp; Booking Workflow</a:t>
            </a:r>
            <a:endParaRPr sz="24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524A0EA-418C-4911-A2B9-06A3A3CC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22960"/>
            <a:ext cx="6400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A35"/>
          </a:solidFill>
          <a:ln xmlns:a="http://schemas.openxmlformats.org/drawingml/2006/main" w="12700">
            <a:solidFill>
              <a:srgbClr val="FFDA3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4B4CD059-A657-4F6F-A504-D3629F9E64AB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21040" y="480060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625F54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DB7BEEEC-A170-5376-2B6E-CB54687B0CB1}" type="slidenum">
              <a:rPr b="0"/>
              <a:t>10</a:t>
            </a:fld>
            <a:endParaRPr/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31B007-100D-4825-AD15-9E8F37B22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4300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1557FF"/>
                </a:solidFill>
              </a:defRPr>
            </a:defPPr>
          </a:lstStyle>
          <a:p xmlns:a="http://schemas.openxmlformats.org/drawingml/2006/main">
            <a:pPr>
              <a:buNone/>
              <a:defRPr sz="1125" b="1">
                <a:solidFill>
                  <a:srgbClr val="1557FF"/>
                </a:solidFill>
              </a:defRPr>
            </a:pPr>
            <a:r>
              <a:rPr sz="1125" b="1">
                <a:solidFill>
                  <a:srgbClr val="1557FF"/>
                </a:solidFill>
              </a:rPr>
              <a:t>METHOD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5FC86D-7F40-4014-9223-9726DB37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143000"/>
            <a:ext cx="447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1557FF"/>
                </a:solidFill>
              </a:defRPr>
            </a:defPPr>
          </a:lstStyle>
          <a:p xmlns:a="http://schemas.openxmlformats.org/drawingml/2006/main">
            <a:pPr>
              <a:buNone/>
              <a:defRPr sz="1125" b="1">
                <a:solidFill>
                  <a:srgbClr val="1557FF"/>
                </a:solidFill>
              </a:defRPr>
            </a:pPr>
            <a:r>
              <a:rPr sz="1125" b="1">
                <a:solidFill>
                  <a:srgbClr val="1557FF"/>
                </a:solidFill>
              </a:rPr>
              <a:t>ENDPOINT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4B3A5E-B8D0-4AF6-86E1-F109C6D71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143000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1557FF"/>
                </a:solidFill>
              </a:defRPr>
            </a:defPPr>
          </a:lstStyle>
          <a:p xmlns:a="http://schemas.openxmlformats.org/drawingml/2006/main">
            <a:pPr>
              <a:buNone/>
              <a:defRPr sz="1125" b="1">
                <a:solidFill>
                  <a:srgbClr val="1557FF"/>
                </a:solidFill>
              </a:defRPr>
            </a:pPr>
            <a:r>
              <a:rPr sz="1125" b="1">
                <a:solidFill>
                  <a:srgbClr val="1557FF"/>
                </a:solidFill>
              </a:rPr>
              <a:t>PURPOSE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76E407-8338-49BF-802F-C46476351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811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buNone/>
              <a:defRPr sz="1125" b="0">
                <a:solidFill>
                  <a:srgbClr val="15191D"/>
                </a:solidFill>
              </a:defRPr>
            </a:pPr>
            <a:r>
              <a:rPr sz="1125" b="0">
                <a:solidFill>
                  <a:srgbClr val="15191D"/>
                </a:solidFill>
              </a:rPr>
              <a:t>POST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AF8C70-4147-4DDA-9E04-D27320F85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5811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15191D"/>
                </a:solidFill>
              </a:defRPr>
            </a:pPr>
            <a:r>
              <a:rPr sz="1050" b="0">
                <a:solidFill>
                  <a:srgbClr val="15191D"/>
                </a:solidFill>
              </a:rPr>
              <a:t>/api/v1/auth/login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ED39B7-D851-4C99-B135-42161BB3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811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buNone/>
              <a:defRPr sz="1125" b="0">
                <a:solidFill>
                  <a:srgbClr val="15191D"/>
                </a:solidFill>
              </a:defRPr>
            </a:pPr>
            <a:r>
              <a:rPr sz="1125" b="0">
                <a:solidFill>
                  <a:srgbClr val="15191D"/>
                </a:solidFill>
              </a:rPr>
              <a:t>Authenticate user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E424B8-72E5-405F-AFFD-89E905DBA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621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buNone/>
              <a:defRPr sz="1125" b="0">
                <a:solidFill>
                  <a:srgbClr val="15191D"/>
                </a:solidFill>
              </a:defRPr>
            </a:pPr>
            <a:r>
              <a:rPr sz="1125" b="0">
                <a:solidFill>
                  <a:srgbClr val="15191D"/>
                </a:solidFill>
              </a:rPr>
              <a:t>GET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EDAC2DD-04F0-4D12-81AE-A83C653DA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9621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15191D"/>
                </a:solidFill>
              </a:defRPr>
            </a:pPr>
            <a:r>
              <a:rPr sz="1050" b="0">
                <a:solidFill>
                  <a:srgbClr val="15191D"/>
                </a:solidFill>
              </a:rPr>
              <a:t>/api/v1/services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70306BB-2201-4985-9371-A0D730F31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621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buNone/>
              <a:defRPr sz="1125" b="0">
                <a:solidFill>
                  <a:srgbClr val="15191D"/>
                </a:solidFill>
              </a:defRPr>
            </a:pPr>
            <a:r>
              <a:rPr sz="1125" b="0">
                <a:solidFill>
                  <a:srgbClr val="15191D"/>
                </a:solidFill>
              </a:rPr>
              <a:t>Discover listed services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56B72A-26E7-4810-B1EA-EB655F25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431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buNone/>
              <a:defRPr sz="1125" b="0">
                <a:solidFill>
                  <a:srgbClr val="15191D"/>
                </a:solidFill>
              </a:defRPr>
            </a:pPr>
            <a:r>
              <a:rPr sz="1125" b="0">
                <a:solidFill>
                  <a:srgbClr val="15191D"/>
                </a:solidFill>
              </a:rPr>
              <a:t>POST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6625690-1D12-4D06-942B-63F91CEC6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3431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15191D"/>
                </a:solidFill>
              </a:defRPr>
            </a:pPr>
            <a:r>
              <a:rPr sz="1050" b="0">
                <a:solidFill>
                  <a:srgbClr val="15191D"/>
                </a:solidFill>
              </a:rPr>
              <a:t>/api/v1/bookings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630DD3C-A0C7-47FE-B040-B1917BA11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431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buNone/>
              <a:defRPr sz="1125" b="0">
                <a:solidFill>
                  <a:srgbClr val="15191D"/>
                </a:solidFill>
              </a:defRPr>
            </a:pPr>
            <a:r>
              <a:rPr sz="1125" b="0">
                <a:solidFill>
                  <a:srgbClr val="15191D"/>
                </a:solidFill>
              </a:rPr>
              <a:t>Request a booking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31D37BE-9ACC-46D3-B3A6-09AFBA7A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241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buNone/>
              <a:defRPr sz="1125" b="0">
                <a:solidFill>
                  <a:srgbClr val="15191D"/>
                </a:solidFill>
              </a:defRPr>
            </a:pPr>
            <a:r>
              <a:rPr sz="1125" b="0">
                <a:solidFill>
                  <a:srgbClr val="15191D"/>
                </a:solidFill>
              </a:rPr>
              <a:t>POST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A516F0D-C241-4107-A6D0-50E0002FF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241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15191D"/>
                </a:solidFill>
              </a:defRPr>
            </a:pPr>
            <a:r>
              <a:rPr sz="1050" b="0">
                <a:solidFill>
                  <a:srgbClr val="15191D"/>
                </a:solidFill>
              </a:rPr>
              <a:t>/api/v1/bookings/:bookingId/accept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A6DBCFB-46E4-4D36-B3EA-B97E3FCDC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241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buNone/>
              <a:defRPr sz="1125" b="0">
                <a:solidFill>
                  <a:srgbClr val="15191D"/>
                </a:solidFill>
              </a:defRPr>
            </a:pPr>
            <a:r>
              <a:rPr sz="1125" b="0">
                <a:solidFill>
                  <a:srgbClr val="15191D"/>
                </a:solidFill>
              </a:rPr>
              <a:t>Provider accepts request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5E945DF-95A9-4D95-BB6D-83F202BF5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051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buNone/>
              <a:defRPr sz="1125" b="0">
                <a:solidFill>
                  <a:srgbClr val="15191D"/>
                </a:solidFill>
              </a:defRPr>
            </a:pPr>
            <a:r>
              <a:rPr sz="1125" b="0">
                <a:solidFill>
                  <a:srgbClr val="15191D"/>
                </a:solidFill>
              </a:rPr>
              <a:t>POST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EBD5D4D-94E6-4BF4-9115-43A0DCD9F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1051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15191D"/>
                </a:solidFill>
              </a:defRPr>
            </a:pPr>
            <a:r>
              <a:rPr sz="1050" b="0">
                <a:solidFill>
                  <a:srgbClr val="15191D"/>
                </a:solidFill>
              </a:rPr>
              <a:t>/api/v1/bookings/:bookingId/checkout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F1227B5-AE79-47D1-9498-47E4F2542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051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buNone/>
              <a:defRPr sz="1125" b="0">
                <a:solidFill>
                  <a:srgbClr val="15191D"/>
                </a:solidFill>
              </a:defRPr>
            </a:pPr>
            <a:r>
              <a:rPr sz="1125" b="0">
                <a:solidFill>
                  <a:srgbClr val="15191D"/>
                </a:solidFill>
              </a:rPr>
              <a:t>Create payment checkout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B977B41-1C31-41F2-A69A-C362494C7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861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buNone/>
              <a:defRPr sz="1125" b="0">
                <a:solidFill>
                  <a:srgbClr val="15191D"/>
                </a:solidFill>
              </a:defRPr>
            </a:pPr>
            <a:r>
              <a:rPr sz="1125" b="0">
                <a:solidFill>
                  <a:srgbClr val="15191D"/>
                </a:solidFill>
              </a:rPr>
              <a:t>POST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5EE37D5-F0CD-4501-B680-B239FC420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861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15191D"/>
                </a:solidFill>
              </a:defRPr>
            </a:pPr>
            <a:r>
              <a:rPr sz="1050" b="0">
                <a:solidFill>
                  <a:srgbClr val="15191D"/>
                </a:solidFill>
              </a:rPr>
              <a:t>/api/v1/payments/:bookingId/verify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E7BE543-E3E1-41EA-96C2-318FC4CDF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861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buNone/>
              <a:defRPr sz="1125" b="0">
                <a:solidFill>
                  <a:srgbClr val="15191D"/>
                </a:solidFill>
              </a:defRPr>
            </a:pPr>
            <a:r>
              <a:rPr sz="1125" b="0">
                <a:solidFill>
                  <a:srgbClr val="15191D"/>
                </a:solidFill>
              </a:rPr>
              <a:t>Verify customer payment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56179C5-1583-4D07-932E-1CFA373AE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10025"/>
            <a:ext cx="790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557FF"/>
                </a:solidFill>
              </a:defRPr>
            </a:defPPr>
          </a:lstStyle>
          <a:p xmlns:a="http://schemas.openxmlformats.org/drawingml/2006/main">
            <a:pPr>
              <a:buNone/>
              <a:defRPr sz="1500" b="1">
                <a:solidFill>
                  <a:srgbClr val="1557FF"/>
                </a:solidFill>
              </a:defRPr>
            </a:pPr>
            <a:r>
              <a:rPr sz="1500" b="1">
                <a:solidFill>
                  <a:srgbClr val="1557FF"/>
                </a:solidFill>
              </a:rPr>
              <a:t>Booking lifecycle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8B1A53D-3BDF-4B06-A0F6-452E7AC27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71975"/>
            <a:ext cx="795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15191D"/>
                </a:solidFill>
              </a:defRPr>
            </a:pPr>
            <a:r>
              <a:rPr sz="1200" b="0">
                <a:solidFill>
                  <a:srgbClr val="15191D"/>
                </a:solidFill>
              </a:rPr>
              <a:t>Request → Provider acceptance → Checkout → Confirmed booking → Completion review</a:t>
            </a:r>
          </a:p>
        </p:txBody>
      </p:sp>
    </p:spTree>
    <p:extLst>
      <p:ext uri="{BB962C8B-B14F-4D97-AF65-F5344CB8AC3E}">
        <p14:creationId xmlns:p14="http://schemas.microsoft.com/office/powerpoint/2010/main" val="15436691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DA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2">
            <a:extLst xmlns:a="http://schemas.openxmlformats.org/drawingml/2006/main">
              <a:ext uri="{FF2B5EF4-FFF2-40B4-BE49-F238E27FC236}">
                <a16:creationId xmlns:a16="http://schemas.microsoft.com/office/drawing/2014/main" id="{6758A4E3-DEDD-4D63-9F0B-747D924191B4}"/>
              </a:ext>
            </a:extLst>
          </p:cNvPr>
          <p:cNvSpPr>
            <a:spLocks xmlns:a="http://schemas.openxmlformats.org/drawingml/2006/main" noGrp="1"/>
          </p:cNvSpPr>
          <p:nvPr>
            <p:ph type="title" idx="102" hasCustomPrompt="1"/>
          </p:nvPr>
        </p:nvSpPr>
        <p:spPr>
          <a:xfrm xmlns:a="http://schemas.openxmlformats.org/drawingml/2006/main">
            <a:off x="502920" y="228600"/>
            <a:ext cx="81381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00" b="1">
                <a:solidFill>
                  <a:srgbClr val="15191D"/>
                </a:solidFill>
              </a:rPr>
              <a:t>Challenges &amp; Current Limitations</a:t>
            </a:r>
            <a:endParaRPr sz="24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E5B824C-7B4D-4043-AB19-B46A7E183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22960"/>
            <a:ext cx="6400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A35"/>
          </a:solidFill>
          <a:ln xmlns:a="http://schemas.openxmlformats.org/drawingml/2006/main" w="12700">
            <a:solidFill>
              <a:srgbClr val="FFDA3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9D6128E-003F-484C-AD15-8B686F7F6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51560"/>
            <a:ext cx="2651760" cy="169164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0D6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15191D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D2E498B-B8B1-4CBC-9A3D-4BED6729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887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7FF"/>
          </a:solidFill>
          <a:ln xmlns:a="http://schemas.openxmlformats.org/drawingml/2006/main" w="12700">
            <a:solidFill>
              <a:srgbClr val="155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252FC51-8038-4256-A3BD-706DC3E3A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887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</a:rPr>
              <a:t>1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88A30D4-15F9-468B-B914-B330FAE9B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1188720"/>
            <a:ext cx="20116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5191D"/>
                </a:solidFill>
              </a:rPr>
              <a:t>Slot Conflicts</a:t>
            </a:r>
            <a:endParaRPr sz="12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A4E81DC-19B9-470F-BEF4-C7A1D6071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3352"/>
            <a:ext cx="2331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25F54"/>
                </a:solidFill>
              </a:rPr>
              <a:t>Concurrent requests can target the same time.</a:t>
            </a:r>
            <a:endParaRPr sz="10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407989C-4E40-4A3A-8B7F-EB8E5C4EE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03120"/>
            <a:ext cx="23317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557FF"/>
                </a:solidFill>
              </a:rPr>
              <a:t>Availability holds and conflict checks protect booking slots.</a:t>
            </a:r>
            <a:endParaRPr sz="10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4560A158-0DBF-4A29-B08A-9390B7F00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1051560"/>
            <a:ext cx="2651760" cy="169164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0D6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15191D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26E421E2-EDDD-4526-A218-2DCB0D2F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11887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7FF"/>
          </a:solidFill>
          <a:ln xmlns:a="http://schemas.openxmlformats.org/drawingml/2006/main" w="12700">
            <a:solidFill>
              <a:srgbClr val="155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A3DD950-D446-4304-932B-60427BFB7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11887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</a:rPr>
              <a:t>2</a:t>
            </a:r>
            <a:endParaRPr sz="12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7652583-1C4E-4CC8-BE82-DE13FF16E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048" y="1188720"/>
            <a:ext cx="20116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5191D"/>
                </a:solidFill>
              </a:rPr>
              <a:t>Payment Events</a:t>
            </a:r>
            <a:endParaRPr sz="12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EBD86AA-1C35-4448-AAD2-DAFA12726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73352"/>
            <a:ext cx="2331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25F54"/>
                </a:solidFill>
              </a:rPr>
              <a:t>Checkout retries and webhooks can repeat.</a:t>
            </a:r>
            <a:endParaRPr sz="10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07E7A9B-9F88-40C7-8DE7-1FA78A94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03120"/>
            <a:ext cx="23317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557FF"/>
                </a:solidFill>
              </a:rPr>
              <a:t>Signature checks and event records support safe processing.</a:t>
            </a:r>
            <a:endParaRPr sz="10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C961615D-F64A-4240-B856-13089529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1051560"/>
            <a:ext cx="2651760" cy="169164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0D6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15191D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559A7457-6423-4AF2-90EF-54E3869C4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1887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7FF"/>
          </a:solidFill>
          <a:ln xmlns:a="http://schemas.openxmlformats.org/drawingml/2006/main" w="12700">
            <a:solidFill>
              <a:srgbClr val="155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99B569F-59A3-49B3-B660-9BBB48886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1887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</a:rPr>
              <a:t>3</a:t>
            </a:r>
            <a:endParaRPr sz="12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D8043FA7-2638-48E7-9728-C02B491DA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1188720"/>
            <a:ext cx="20116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5191D"/>
                </a:solidFill>
              </a:rPr>
              <a:t>Role Isolation</a:t>
            </a:r>
            <a:endParaRPr sz="12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7751F9CD-EAB1-42CD-967B-24251E3D9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73352"/>
            <a:ext cx="2331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25F54"/>
                </a:solidFill>
              </a:rPr>
              <a:t>Users need different data and permissions.</a:t>
            </a:r>
            <a:endParaRPr sz="10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51ADF2D1-C5F0-46B2-A689-D3EDD9BB5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03120"/>
            <a:ext cx="23317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557FF"/>
                </a:solidFill>
              </a:rPr>
              <a:t>Role and participant checks guard protected operations.</a:t>
            </a:r>
            <a:endParaRPr sz="105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E3FF4D64-BA58-4C23-8CD2-FB89C19A2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80360"/>
            <a:ext cx="2651760" cy="169164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0D6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15191D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2C7A2201-62B6-4EF8-9AC9-6BF6EC372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0175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7FF"/>
          </a:solidFill>
          <a:ln xmlns:a="http://schemas.openxmlformats.org/drawingml/2006/main" w="12700">
            <a:solidFill>
              <a:srgbClr val="155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2FDA11C-0BB3-4AB3-97C6-9B8715C8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0175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</a:rPr>
              <a:t>4</a:t>
            </a:r>
            <a:endParaRPr sz="12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4E2CF271-6E34-4736-A942-56EC11D7D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3017520"/>
            <a:ext cx="20116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5191D"/>
                </a:solidFill>
              </a:rPr>
              <a:t>Provider KYC</a:t>
            </a:r>
            <a:endParaRPr sz="12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46195F45-FF4E-4D63-A564-C47ACEDA9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2152"/>
            <a:ext cx="2331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25F54"/>
                </a:solidFill>
              </a:rPr>
              <a:t>Live identity verification needs a vendor.</a:t>
            </a:r>
            <a:endParaRPr sz="10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67B7D727-E47C-48CF-98F1-0BDCB3AAA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31920"/>
            <a:ext cx="23317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557FF"/>
                </a:solidFill>
              </a:rPr>
              <a:t>Production adapter and vendor configuration remain pending.</a:t>
            </a:r>
            <a:endParaRPr sz="105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84345AA8-3B8C-4AC0-B4CF-1C83F3786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2880360"/>
            <a:ext cx="2651760" cy="169164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0D6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15191D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5BF3FCD9-FD5D-4704-9716-7B704E10C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30175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7FF"/>
          </a:solidFill>
          <a:ln xmlns:a="http://schemas.openxmlformats.org/drawingml/2006/main" w="12700">
            <a:solidFill>
              <a:srgbClr val="155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BD6434FF-458D-4F5D-ACCD-9DC9F42D2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30175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</a:rPr>
              <a:t>5</a:t>
            </a:r>
            <a:endParaRPr sz="12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216AD1A4-B51C-4802-A734-EB20F68F7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048" y="3017520"/>
            <a:ext cx="20116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5191D"/>
                </a:solidFill>
              </a:rPr>
              <a:t>Live Payments</a:t>
            </a:r>
            <a:endParaRPr sz="125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F92E15C9-902B-446C-B038-8F467F1B2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502152"/>
            <a:ext cx="2331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25F54"/>
                </a:solidFill>
              </a:rPr>
              <a:t>Real checkout and payouts need approval.</a:t>
            </a:r>
            <a:endParaRPr sz="105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7E737DFD-FB3C-4E5E-B190-17EA98F6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31920"/>
            <a:ext cx="23317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557FF"/>
                </a:solidFill>
              </a:rPr>
              <a:t>Configure Razorpay credentials and linked accounts.</a:t>
            </a:r>
            <a:endParaRPr sz="1050"/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9AE9D5FE-F55B-4E68-AF19-21BCAF031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2880360"/>
            <a:ext cx="2651760" cy="169164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0D6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15191D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F1BA2EE0-5DA5-4D3D-AFAA-EDEDAEC6B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0175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7FF"/>
          </a:solidFill>
          <a:ln xmlns:a="http://schemas.openxmlformats.org/drawingml/2006/main" w="12700">
            <a:solidFill>
              <a:srgbClr val="155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EA02A9FA-7A06-4D11-906B-290530BE4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0175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</a:rPr>
              <a:t>6</a:t>
            </a:r>
            <a:endParaRPr sz="1200"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B12A712D-5BEA-493B-801E-121705F2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3017520"/>
            <a:ext cx="20116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5191D"/>
                </a:solidFill>
              </a:rPr>
              <a:t>Production Readiness</a:t>
            </a:r>
            <a:endParaRPr sz="1250"/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E211E427-2924-452E-B0E9-73BC23318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502152"/>
            <a:ext cx="2331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25F54"/>
                </a:solidFill>
              </a:rPr>
              <a:t>Local functionality does not prove launch readiness.</a:t>
            </a:r>
            <a:endParaRPr sz="1050"/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BBF62204-5930-44C8-8B5C-E3DB0C735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31920"/>
            <a:ext cx="23317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557FF"/>
                </a:solidFill>
              </a:rPr>
              <a:t>Hosting, email, monitoring and live acceptance testing remain.</a:t>
            </a:r>
            <a:endParaRPr sz="1050"/>
          </a:p>
        </p:txBody>
      </p:sp>
      <p:sp>
        <p:nvSpPr>
          <p:cNvPr id="40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F4B98CCD-5D68-4F65-823D-A5C0AABA5737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21040" y="480060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625F54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30394428-F1DC-E5F6-DB0C-7DE31F3D8A23}" type="slidenum">
              <a:rPr b="0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0016298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DA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2">
            <a:extLst xmlns:a="http://schemas.openxmlformats.org/drawingml/2006/main">
              <a:ext uri="{FF2B5EF4-FFF2-40B4-BE49-F238E27FC236}">
                <a16:creationId xmlns:a16="http://schemas.microsoft.com/office/drawing/2014/main" id="{CC47500D-92A4-4E65-B153-48B97AB14DF0}"/>
              </a:ext>
            </a:extLst>
          </p:cNvPr>
          <p:cNvSpPr>
            <a:spLocks xmlns:a="http://schemas.openxmlformats.org/drawingml/2006/main" noGrp="1"/>
          </p:cNvSpPr>
          <p:nvPr>
            <p:ph type="title" idx="102" hasCustomPrompt="1"/>
          </p:nvPr>
        </p:nvSpPr>
        <p:spPr>
          <a:xfrm xmlns:a="http://schemas.openxmlformats.org/drawingml/2006/main">
            <a:off x="502920" y="228600"/>
            <a:ext cx="81381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00" b="1">
                <a:solidFill>
                  <a:srgbClr val="15191D"/>
                </a:solidFill>
              </a:rPr>
              <a:t>Conclusion &amp; Future Enhancements</a:t>
            </a:r>
            <a:endParaRPr sz="24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E86593D-24A3-4A43-8B9C-794846C68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22960"/>
            <a:ext cx="6400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A35"/>
          </a:solidFill>
          <a:ln xmlns:a="http://schemas.openxmlformats.org/drawingml/2006/main" w="12700">
            <a:solidFill>
              <a:srgbClr val="FFDA3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3E48EEF-9BD5-45E6-A4DC-3CE228E68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51560"/>
            <a:ext cx="813816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5F81DA0-3F1A-4A35-9C3B-49708532E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143000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557FF"/>
                </a:solidFill>
              </a:rPr>
              <a:t>Conclusion</a:t>
            </a:r>
            <a:endParaRPr sz="1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9986DC8-9D86-437F-A01E-25B9CA4FF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63040"/>
            <a:ext cx="76809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5191D"/>
                </a:solidFill>
              </a:rPr>
              <a:t>Nearby brings exact-pincode service discovery, booking and provider management into one role-based web platform. The code includes payments, chat and dispute workflows. Production launch requires external service configuration and live validation.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2BCAB1B-F2CC-445D-B4D4-3AB04C0C8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1460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557FF"/>
                </a:solidFill>
              </a:rPr>
              <a:t>Future Enhancements</a:t>
            </a:r>
            <a:endParaRPr sz="14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27C11E6C-8C42-4C4A-B5EC-CB9A6E710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80360"/>
            <a:ext cx="1920240" cy="13716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0D6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15191D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E93A675-6273-49CA-A059-924C728E6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017520"/>
            <a:ext cx="1645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5191D"/>
                </a:solidFill>
              </a:rPr>
              <a:t>Mobile Access</a:t>
            </a:r>
            <a:endParaRPr sz="12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8F11502-A4BC-4825-997C-128B5FD1C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383280"/>
            <a:ext cx="164592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25F54"/>
                </a:solidFill>
              </a:rPr>
              <a:t>A dedicated mobile app for customers and providers</a:t>
            </a:r>
            <a:endParaRPr sz="11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8BD33FA-452C-4C8C-B4D8-079EA4A96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9464" y="2880360"/>
            <a:ext cx="1920240" cy="13716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0D6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15191D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9B1C2B9-A3B8-4D8D-9662-4A24D9C2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4056" y="3017520"/>
            <a:ext cx="1645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5191D"/>
                </a:solidFill>
              </a:rPr>
              <a:t>Notifications</a:t>
            </a:r>
            <a:endParaRPr sz="12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BCBA928-C8DA-45F0-88A4-34AEE94FC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4056" y="3383280"/>
            <a:ext cx="164592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25F54"/>
                </a:solidFill>
              </a:rPr>
              <a:t>Push notifications for booking and payment updates</a:t>
            </a:r>
            <a:endParaRPr sz="11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028D7BB2-F0F6-465F-89F1-B25C0FBD1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2880360"/>
            <a:ext cx="1920240" cy="13716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0D6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15191D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1E218B38-06B6-4992-8896-122DE2827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017520"/>
            <a:ext cx="1645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5191D"/>
                </a:solidFill>
              </a:rPr>
              <a:t>Recommendations</a:t>
            </a:r>
            <a:endParaRPr sz="125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F902B5B-51A6-4F8B-9846-22482C683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383280"/>
            <a:ext cx="164592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25F54"/>
                </a:solidFill>
              </a:rPr>
              <a:t>Personalized service suggestions based on user needs</a:t>
            </a:r>
            <a:endParaRPr sz="11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918E5816-BBF2-43FE-AFEE-F89B04493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2552" y="2880360"/>
            <a:ext cx="1920240" cy="13716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0D6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15191D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20871D5-74AC-4874-AA30-91BF0123B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144" y="3017520"/>
            <a:ext cx="1645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5191D"/>
                </a:solidFill>
              </a:rPr>
              <a:t>Analytics</a:t>
            </a:r>
            <a:endParaRPr sz="12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46B3256E-03C2-4C7C-9145-7849F19D2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144" y="3383280"/>
            <a:ext cx="164592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25F54"/>
                </a:solidFill>
              </a:rPr>
              <a:t>Expanded provider and marketplace performance reports</a:t>
            </a:r>
            <a:endParaRPr sz="11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6EDE2571-BD07-482C-A144-573BB830109C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21040" y="480060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625F54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4DB16885-0D3F-A391-B669-3211DB3B26E8}" type="slidenum">
              <a:rPr b="0"/>
              <a:t>12</a:t>
            </a:fld>
            <a:endParaRPr/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5825CE-9439-430F-9C85-4CD885213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5339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1557FF"/>
                </a:solidFill>
              </a:defRPr>
            </a:defPPr>
          </a:lstStyle>
          <a:p xmlns:a="http://schemas.openxmlformats.org/drawingml/2006/main">
            <a:pPr>
              <a:buNone/>
              <a:defRPr sz="1425" b="1">
                <a:solidFill>
                  <a:srgbClr val="1557FF"/>
                </a:solidFill>
              </a:defRPr>
            </a:pPr>
            <a:r>
              <a:rPr sz="1425" b="1">
                <a:solidFill>
                  <a:srgbClr val="1557FF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89465175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2026-10-14T23:07:48.9830000Z</dcterms:created>
  <dcterms:modified xsi:type="dcterms:W3CDTF">2026-10-14T23:07:48.9830000Z</dcterms:modified>
</coreProperties>
</file>